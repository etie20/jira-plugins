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80"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EC531-E91B-42F1-AB80-5457A68AE7AA}" type="datetimeFigureOut">
              <a:rPr lang="en-US" smtClean="0"/>
              <a:t>10/27/2026</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CA2844-41C6-4F73-8CE2-E5A99E201805}" type="slidenum">
              <a:rPr lang="en-US" smtClean="0"/>
              <a:t>‹N°›</a:t>
            </a:fld>
            <a:endParaRPr lang="en-US"/>
          </a:p>
        </p:txBody>
      </p:sp>
    </p:spTree>
    <p:extLst>
      <p:ext uri="{BB962C8B-B14F-4D97-AF65-F5344CB8AC3E}">
        <p14:creationId xmlns:p14="http://schemas.microsoft.com/office/powerpoint/2010/main" val="2521628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mtClean="0"/>
              <a:t>Objectif : expliquer de façon générale comment concevoir, développer, tester et déployer un plugin pour Jira Data Center.</a:t>
            </a:r>
            <a:endParaRPr lang="en-US"/>
          </a:p>
        </p:txBody>
      </p:sp>
      <p:sp>
        <p:nvSpPr>
          <p:cNvPr id="4" name="Espace réservé du numéro de diapositive 3"/>
          <p:cNvSpPr>
            <a:spLocks noGrp="1"/>
          </p:cNvSpPr>
          <p:nvPr>
            <p:ph type="sldNum" sz="quarter" idx="10"/>
          </p:nvPr>
        </p:nvSpPr>
        <p:spPr/>
        <p:txBody>
          <a:bodyPr/>
          <a:lstStyle/>
          <a:p>
            <a:fld id="{43CA2844-41C6-4F73-8CE2-E5A99E201805}" type="slidenum">
              <a:rPr lang="en-US" smtClean="0"/>
              <a:t>1</a:t>
            </a:fld>
            <a:endParaRPr lang="en-US"/>
          </a:p>
        </p:txBody>
      </p:sp>
    </p:spTree>
    <p:extLst>
      <p:ext uri="{BB962C8B-B14F-4D97-AF65-F5344CB8AC3E}">
        <p14:creationId xmlns:p14="http://schemas.microsoft.com/office/powerpoint/2010/main" val="3971553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mtClean="0"/>
              <a:t>Cinq parties : on part des concepts, on passe par les outils et le code, puis la livraison, et on termine par les bonnes pratiques.</a:t>
            </a:r>
            <a:endParaRPr lang="en-US"/>
          </a:p>
        </p:txBody>
      </p:sp>
      <p:sp>
        <p:nvSpPr>
          <p:cNvPr id="4" name="Espace réservé du numéro de diapositive 3"/>
          <p:cNvSpPr>
            <a:spLocks noGrp="1"/>
          </p:cNvSpPr>
          <p:nvPr>
            <p:ph type="sldNum" sz="quarter" idx="10"/>
          </p:nvPr>
        </p:nvSpPr>
        <p:spPr/>
        <p:txBody>
          <a:bodyPr/>
          <a:lstStyle/>
          <a:p>
            <a:fld id="{43CA2844-41C6-4F73-8CE2-E5A99E201805}" type="slidenum">
              <a:rPr lang="en-US" smtClean="0"/>
              <a:t>2</a:t>
            </a:fld>
            <a:endParaRPr lang="en-US"/>
          </a:p>
        </p:txBody>
      </p:sp>
    </p:spTree>
    <p:extLst>
      <p:ext uri="{BB962C8B-B14F-4D97-AF65-F5344CB8AC3E}">
        <p14:creationId xmlns:p14="http://schemas.microsoft.com/office/powerpoint/2010/main" val="22047896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mtClean="0"/>
              <a:t>Un plugin permet d'étendre Jira sans modifier le produit : on ajoute des fonctionnalités, des contrôles ou des intégrations, et on les installe sans interruption de service.</a:t>
            </a:r>
            <a:endParaRPr lang="en-US"/>
          </a:p>
        </p:txBody>
      </p:sp>
      <p:sp>
        <p:nvSpPr>
          <p:cNvPr id="4" name="Espace réservé du numéro de diapositive 3"/>
          <p:cNvSpPr>
            <a:spLocks noGrp="1"/>
          </p:cNvSpPr>
          <p:nvPr>
            <p:ph type="sldNum" sz="quarter" idx="10"/>
          </p:nvPr>
        </p:nvSpPr>
        <p:spPr/>
        <p:txBody>
          <a:bodyPr/>
          <a:lstStyle/>
          <a:p>
            <a:fld id="{43CA2844-41C6-4F73-8CE2-E5A99E201805}" type="slidenum">
              <a:rPr lang="en-US" smtClean="0"/>
              <a:t>3</a:t>
            </a:fld>
            <a:endParaRPr lang="en-US"/>
          </a:p>
        </p:txBody>
      </p:sp>
    </p:spTree>
    <p:extLst>
      <p:ext uri="{BB962C8B-B14F-4D97-AF65-F5344CB8AC3E}">
        <p14:creationId xmlns:p14="http://schemas.microsoft.com/office/powerpoint/2010/main" val="3107368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mtClean="0"/>
              <a:t>Lecture de haut en bas : l'utilisateur interagit avec le navigateur, Tomcat reçoit les requêtes, l'application Jira s'appuie sur Spring pour ses composants et sur OSGi pour les plugins. C'est dans OSGi que nos plugins sont installés.</a:t>
            </a:r>
            <a:endParaRPr lang="en-US"/>
          </a:p>
        </p:txBody>
      </p:sp>
      <p:sp>
        <p:nvSpPr>
          <p:cNvPr id="4" name="Espace réservé du numéro de diapositive 3"/>
          <p:cNvSpPr>
            <a:spLocks noGrp="1"/>
          </p:cNvSpPr>
          <p:nvPr>
            <p:ph type="sldNum" sz="quarter" idx="10"/>
          </p:nvPr>
        </p:nvSpPr>
        <p:spPr/>
        <p:txBody>
          <a:bodyPr/>
          <a:lstStyle/>
          <a:p>
            <a:fld id="{43CA2844-41C6-4F73-8CE2-E5A99E201805}" type="slidenum">
              <a:rPr lang="en-US" smtClean="0"/>
              <a:t>5</a:t>
            </a:fld>
            <a:endParaRPr lang="en-US"/>
          </a:p>
        </p:txBody>
      </p:sp>
    </p:spTree>
    <p:extLst>
      <p:ext uri="{BB962C8B-B14F-4D97-AF65-F5344CB8AC3E}">
        <p14:creationId xmlns:p14="http://schemas.microsoft.com/office/powerpoint/2010/main" val="1954555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mtClean="0"/>
              <a:t>En Data Center, Jira tourne sur plusieurs serveurs (ici 2 nœuds connectés chacun à la base de données et au shared home). Un plugin doit donc être pensé pour fonctionner en cluster.</a:t>
            </a:r>
            <a:endParaRPr lang="en-US"/>
          </a:p>
        </p:txBody>
      </p:sp>
      <p:sp>
        <p:nvSpPr>
          <p:cNvPr id="4" name="Espace réservé du numéro de diapositive 3"/>
          <p:cNvSpPr>
            <a:spLocks noGrp="1"/>
          </p:cNvSpPr>
          <p:nvPr>
            <p:ph type="sldNum" sz="quarter" idx="10"/>
          </p:nvPr>
        </p:nvSpPr>
        <p:spPr/>
        <p:txBody>
          <a:bodyPr/>
          <a:lstStyle/>
          <a:p>
            <a:fld id="{43CA2844-41C6-4F73-8CE2-E5A99E201805}" type="slidenum">
              <a:rPr lang="en-US" smtClean="0"/>
              <a:t>6</a:t>
            </a:fld>
            <a:endParaRPr lang="en-US"/>
          </a:p>
        </p:txBody>
      </p:sp>
    </p:spTree>
    <p:extLst>
      <p:ext uri="{BB962C8B-B14F-4D97-AF65-F5344CB8AC3E}">
        <p14:creationId xmlns:p14="http://schemas.microsoft.com/office/powerpoint/2010/main" val="133305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mtClean="0"/>
              <a:t>Un même plugin peut combiner plusieurs modules. Les workflows s'appuient typiquement sur des conditions, validateurs et post-fonctions.</a:t>
            </a:r>
            <a:endParaRPr lang="en-US"/>
          </a:p>
        </p:txBody>
      </p:sp>
      <p:sp>
        <p:nvSpPr>
          <p:cNvPr id="4" name="Espace réservé du numéro de diapositive 3"/>
          <p:cNvSpPr>
            <a:spLocks noGrp="1"/>
          </p:cNvSpPr>
          <p:nvPr>
            <p:ph type="sldNum" sz="quarter" idx="10"/>
          </p:nvPr>
        </p:nvSpPr>
        <p:spPr/>
        <p:txBody>
          <a:bodyPr/>
          <a:lstStyle/>
          <a:p>
            <a:fld id="{43CA2844-41C6-4F73-8CE2-E5A99E201805}" type="slidenum">
              <a:rPr lang="en-US" smtClean="0"/>
              <a:t>12</a:t>
            </a:fld>
            <a:endParaRPr lang="en-US"/>
          </a:p>
        </p:txBody>
      </p:sp>
    </p:spTree>
    <p:extLst>
      <p:ext uri="{BB962C8B-B14F-4D97-AF65-F5344CB8AC3E}">
        <p14:creationId xmlns:p14="http://schemas.microsoft.com/office/powerpoint/2010/main" val="4119968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mtClean="0"/>
              <a:t>C'est ici qu'interviennent Spring et les standards Java EE. Le plugin ne crée pas lui-même les services Jira : Spring les lui injecte via @ComponentImport et @Inject.</a:t>
            </a:r>
            <a:endParaRPr lang="en-US"/>
          </a:p>
        </p:txBody>
      </p:sp>
      <p:sp>
        <p:nvSpPr>
          <p:cNvPr id="4" name="Espace réservé du numéro de diapositive 3"/>
          <p:cNvSpPr>
            <a:spLocks noGrp="1"/>
          </p:cNvSpPr>
          <p:nvPr>
            <p:ph type="sldNum" sz="quarter" idx="10"/>
          </p:nvPr>
        </p:nvSpPr>
        <p:spPr/>
        <p:txBody>
          <a:bodyPr/>
          <a:lstStyle/>
          <a:p>
            <a:fld id="{43CA2844-41C6-4F73-8CE2-E5A99E201805}" type="slidenum">
              <a:rPr lang="en-US" smtClean="0"/>
              <a:t>13</a:t>
            </a:fld>
            <a:endParaRPr lang="en-US"/>
          </a:p>
        </p:txBody>
      </p:sp>
    </p:spTree>
    <p:extLst>
      <p:ext uri="{BB962C8B-B14F-4D97-AF65-F5344CB8AC3E}">
        <p14:creationId xmlns:p14="http://schemas.microsoft.com/office/powerpoint/2010/main" val="33426491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mtClean="0"/>
              <a:t>Avant de détailler la réalisation technique, rappelons le besoin : remplacer une mécanique lourde liée aux workflows par un composant transverse, simple et sécurisé.</a:t>
            </a:r>
            <a:endParaRPr lang="en-US"/>
          </a:p>
        </p:txBody>
      </p:sp>
      <p:sp>
        <p:nvSpPr>
          <p:cNvPr id="4" name="Espace réservé du numéro de diapositive 3"/>
          <p:cNvSpPr>
            <a:spLocks noGrp="1"/>
          </p:cNvSpPr>
          <p:nvPr>
            <p:ph type="sldNum" sz="quarter" idx="10"/>
          </p:nvPr>
        </p:nvSpPr>
        <p:spPr/>
        <p:txBody>
          <a:bodyPr/>
          <a:lstStyle/>
          <a:p>
            <a:fld id="{43CA2844-41C6-4F73-8CE2-E5A99E201805}" type="slidenum">
              <a:rPr lang="en-US" smtClean="0"/>
              <a:t>21</a:t>
            </a:fld>
            <a:endParaRPr lang="en-US"/>
          </a:p>
        </p:txBody>
      </p:sp>
    </p:spTree>
    <p:extLst>
      <p:ext uri="{BB962C8B-B14F-4D97-AF65-F5344CB8AC3E}">
        <p14:creationId xmlns:p14="http://schemas.microsoft.com/office/powerpoint/2010/main" val="32838791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mtClean="0"/>
              <a:t>Cette diapositive montre concrètement comment un administrateur importe le fichier .jar généré par Maven dans Jira Data Center.</a:t>
            </a:r>
            <a:endParaRPr lang="en-US"/>
          </a:p>
        </p:txBody>
      </p:sp>
      <p:sp>
        <p:nvSpPr>
          <p:cNvPr id="4" name="Espace réservé du numéro de diapositive 3"/>
          <p:cNvSpPr>
            <a:spLocks noGrp="1"/>
          </p:cNvSpPr>
          <p:nvPr>
            <p:ph type="sldNum" sz="quarter" idx="10"/>
          </p:nvPr>
        </p:nvSpPr>
        <p:spPr/>
        <p:txBody>
          <a:bodyPr/>
          <a:lstStyle/>
          <a:p>
            <a:fld id="{43CA2844-41C6-4F73-8CE2-E5A99E201805}" type="slidenum">
              <a:rPr lang="en-US" smtClean="0"/>
              <a:t>25</a:t>
            </a:fld>
            <a:endParaRPr lang="en-US"/>
          </a:p>
        </p:txBody>
      </p:sp>
    </p:spTree>
    <p:extLst>
      <p:ext uri="{BB962C8B-B14F-4D97-AF65-F5344CB8AC3E}">
        <p14:creationId xmlns:p14="http://schemas.microsoft.com/office/powerpoint/2010/main" val="1180152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mtClean="0"/>
              <a:t>Le panneau s'adapte dynamiquement aux permissions de l'utilisateur connecté.</a:t>
            </a:r>
            <a:endParaRPr lang="en-US"/>
          </a:p>
        </p:txBody>
      </p:sp>
      <p:sp>
        <p:nvSpPr>
          <p:cNvPr id="4" name="Espace réservé du numéro de diapositive 3"/>
          <p:cNvSpPr>
            <a:spLocks noGrp="1"/>
          </p:cNvSpPr>
          <p:nvPr>
            <p:ph type="sldNum" sz="quarter" idx="10"/>
          </p:nvPr>
        </p:nvSpPr>
        <p:spPr/>
        <p:txBody>
          <a:bodyPr/>
          <a:lstStyle/>
          <a:p>
            <a:fld id="{43CA2844-41C6-4F73-8CE2-E5A99E201805}" type="slidenum">
              <a:rPr lang="en-US" smtClean="0"/>
              <a:t>26</a:t>
            </a:fld>
            <a:endParaRPr lang="en-US"/>
          </a:p>
        </p:txBody>
      </p:sp>
    </p:spTree>
    <p:extLst>
      <p:ext uri="{BB962C8B-B14F-4D97-AF65-F5344CB8AC3E}">
        <p14:creationId xmlns:p14="http://schemas.microsoft.com/office/powerpoint/2010/main" val="7918843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mtClean="0"/>
              <a:t>Démonstration pas à pas de la création d'une demande de précision par l'assigné du ticket.</a:t>
            </a:r>
            <a:endParaRPr lang="en-US"/>
          </a:p>
        </p:txBody>
      </p:sp>
      <p:sp>
        <p:nvSpPr>
          <p:cNvPr id="4" name="Espace réservé du numéro de diapositive 3"/>
          <p:cNvSpPr>
            <a:spLocks noGrp="1"/>
          </p:cNvSpPr>
          <p:nvPr>
            <p:ph type="sldNum" sz="quarter" idx="10"/>
          </p:nvPr>
        </p:nvSpPr>
        <p:spPr/>
        <p:txBody>
          <a:bodyPr/>
          <a:lstStyle/>
          <a:p>
            <a:fld id="{43CA2844-41C6-4F73-8CE2-E5A99E201805}" type="slidenum">
              <a:rPr lang="en-US" smtClean="0"/>
              <a:t>27</a:t>
            </a:fld>
            <a:endParaRPr lang="en-US"/>
          </a:p>
        </p:txBody>
      </p:sp>
    </p:spTree>
    <p:extLst>
      <p:ext uri="{BB962C8B-B14F-4D97-AF65-F5344CB8AC3E}">
        <p14:creationId xmlns:p14="http://schemas.microsoft.com/office/powerpoint/2010/main" val="309719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mtClean="0"/>
              <a:t>Démonstration de la réponse par le destinataire et du retour automatique du ticket à l'assigné d'origine.</a:t>
            </a:r>
            <a:endParaRPr lang="en-US"/>
          </a:p>
        </p:txBody>
      </p:sp>
      <p:sp>
        <p:nvSpPr>
          <p:cNvPr id="4" name="Espace réservé du numéro de diapositive 3"/>
          <p:cNvSpPr>
            <a:spLocks noGrp="1"/>
          </p:cNvSpPr>
          <p:nvPr>
            <p:ph type="sldNum" sz="quarter" idx="10"/>
          </p:nvPr>
        </p:nvSpPr>
        <p:spPr/>
        <p:txBody>
          <a:bodyPr/>
          <a:lstStyle/>
          <a:p>
            <a:fld id="{43CA2844-41C6-4F73-8CE2-E5A99E201805}" type="slidenum">
              <a:rPr lang="en-US" smtClean="0"/>
              <a:t>28</a:t>
            </a:fld>
            <a:endParaRPr lang="en-US"/>
          </a:p>
        </p:txBody>
      </p:sp>
    </p:spTree>
    <p:extLst>
      <p:ext uri="{BB962C8B-B14F-4D97-AF65-F5344CB8AC3E}">
        <p14:creationId xmlns:p14="http://schemas.microsoft.com/office/powerpoint/2010/main" val="111965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en-US"/>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en-US"/>
          </a:p>
        </p:txBody>
      </p:sp>
      <p:sp>
        <p:nvSpPr>
          <p:cNvPr id="4" name="Espace réservé de la date 3"/>
          <p:cNvSpPr>
            <a:spLocks noGrp="1"/>
          </p:cNvSpPr>
          <p:nvPr>
            <p:ph type="dt" sz="half" idx="10"/>
          </p:nvPr>
        </p:nvSpPr>
        <p:spPr/>
        <p:txBody>
          <a:bodyPr/>
          <a:lstStyle/>
          <a:p>
            <a:fld id="{A1763678-8A38-4F5E-BAD5-561E39243491}" type="datetimeFigureOut">
              <a:rPr lang="en-US" smtClean="0"/>
              <a:t>10/27/2026</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CA70444B-4304-44DF-89D1-1795E5C3ECDC}" type="slidenum">
              <a:rPr lang="en-US" smtClean="0"/>
              <a:t>‹N°›</a:t>
            </a:fld>
            <a:endParaRPr lang="en-US"/>
          </a:p>
        </p:txBody>
      </p:sp>
    </p:spTree>
    <p:extLst>
      <p:ext uri="{BB962C8B-B14F-4D97-AF65-F5344CB8AC3E}">
        <p14:creationId xmlns:p14="http://schemas.microsoft.com/office/powerpoint/2010/main" val="4123374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US"/>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10"/>
          </p:nvPr>
        </p:nvSpPr>
        <p:spPr/>
        <p:txBody>
          <a:bodyPr/>
          <a:lstStyle/>
          <a:p>
            <a:fld id="{A1763678-8A38-4F5E-BAD5-561E39243491}" type="datetimeFigureOut">
              <a:rPr lang="en-US" smtClean="0"/>
              <a:t>10/27/2026</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CA70444B-4304-44DF-89D1-1795E5C3ECDC}" type="slidenum">
              <a:rPr lang="en-US" smtClean="0"/>
              <a:t>‹N°›</a:t>
            </a:fld>
            <a:endParaRPr lang="en-US"/>
          </a:p>
        </p:txBody>
      </p:sp>
    </p:spTree>
    <p:extLst>
      <p:ext uri="{BB962C8B-B14F-4D97-AF65-F5344CB8AC3E}">
        <p14:creationId xmlns:p14="http://schemas.microsoft.com/office/powerpoint/2010/main" val="2685767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en-US"/>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A1763678-8A38-4F5E-BAD5-561E39243491}" type="datetimeFigureOut">
              <a:rPr lang="en-US" smtClean="0"/>
              <a:t>10/27/2026</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CA70444B-4304-44DF-89D1-1795E5C3ECDC}" type="slidenum">
              <a:rPr lang="en-US" smtClean="0"/>
              <a:t>‹N°›</a:t>
            </a:fld>
            <a:endParaRPr lang="en-US"/>
          </a:p>
        </p:txBody>
      </p:sp>
    </p:spTree>
    <p:extLst>
      <p:ext uri="{BB962C8B-B14F-4D97-AF65-F5344CB8AC3E}">
        <p14:creationId xmlns:p14="http://schemas.microsoft.com/office/powerpoint/2010/main" val="2523814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US"/>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e la date 4"/>
          <p:cNvSpPr>
            <a:spLocks noGrp="1"/>
          </p:cNvSpPr>
          <p:nvPr>
            <p:ph type="dt" sz="half" idx="10"/>
          </p:nvPr>
        </p:nvSpPr>
        <p:spPr/>
        <p:txBody>
          <a:bodyPr/>
          <a:lstStyle/>
          <a:p>
            <a:fld id="{A1763678-8A38-4F5E-BAD5-561E39243491}" type="datetimeFigureOut">
              <a:rPr lang="en-US" smtClean="0"/>
              <a:t>10/27/2026</a:t>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CA70444B-4304-44DF-89D1-1795E5C3ECDC}" type="slidenum">
              <a:rPr lang="en-US" smtClean="0"/>
              <a:t>‹N°›</a:t>
            </a:fld>
            <a:endParaRPr lang="en-US"/>
          </a:p>
        </p:txBody>
      </p:sp>
    </p:spTree>
    <p:extLst>
      <p:ext uri="{BB962C8B-B14F-4D97-AF65-F5344CB8AC3E}">
        <p14:creationId xmlns:p14="http://schemas.microsoft.com/office/powerpoint/2010/main" val="2427776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en-US"/>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7" name="Espace réservé de la date 6"/>
          <p:cNvSpPr>
            <a:spLocks noGrp="1"/>
          </p:cNvSpPr>
          <p:nvPr>
            <p:ph type="dt" sz="half" idx="10"/>
          </p:nvPr>
        </p:nvSpPr>
        <p:spPr/>
        <p:txBody>
          <a:bodyPr/>
          <a:lstStyle/>
          <a:p>
            <a:fld id="{A1763678-8A38-4F5E-BAD5-561E39243491}" type="datetimeFigureOut">
              <a:rPr lang="en-US" smtClean="0"/>
              <a:t>10/27/2026</a:t>
            </a:fld>
            <a:endParaRPr lang="en-US"/>
          </a:p>
        </p:txBody>
      </p:sp>
      <p:sp>
        <p:nvSpPr>
          <p:cNvPr id="8" name="Espace réservé du pied de page 7"/>
          <p:cNvSpPr>
            <a:spLocks noGrp="1"/>
          </p:cNvSpPr>
          <p:nvPr>
            <p:ph type="ftr" sz="quarter" idx="11"/>
          </p:nvPr>
        </p:nvSpPr>
        <p:spPr/>
        <p:txBody>
          <a:bodyPr/>
          <a:lstStyle/>
          <a:p>
            <a:endParaRPr lang="en-US"/>
          </a:p>
        </p:txBody>
      </p:sp>
      <p:sp>
        <p:nvSpPr>
          <p:cNvPr id="9" name="Espace réservé du numéro de diapositive 8"/>
          <p:cNvSpPr>
            <a:spLocks noGrp="1"/>
          </p:cNvSpPr>
          <p:nvPr>
            <p:ph type="sldNum" sz="quarter" idx="12"/>
          </p:nvPr>
        </p:nvSpPr>
        <p:spPr/>
        <p:txBody>
          <a:bodyPr/>
          <a:lstStyle/>
          <a:p>
            <a:fld id="{CA70444B-4304-44DF-89D1-1795E5C3ECDC}" type="slidenum">
              <a:rPr lang="en-US" smtClean="0"/>
              <a:t>‹N°›</a:t>
            </a:fld>
            <a:endParaRPr lang="en-US"/>
          </a:p>
        </p:txBody>
      </p:sp>
    </p:spTree>
    <p:extLst>
      <p:ext uri="{BB962C8B-B14F-4D97-AF65-F5344CB8AC3E}">
        <p14:creationId xmlns:p14="http://schemas.microsoft.com/office/powerpoint/2010/main" val="37972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US"/>
          </a:p>
        </p:txBody>
      </p:sp>
      <p:sp>
        <p:nvSpPr>
          <p:cNvPr id="3" name="Espace réservé de la date 2"/>
          <p:cNvSpPr>
            <a:spLocks noGrp="1"/>
          </p:cNvSpPr>
          <p:nvPr>
            <p:ph type="dt" sz="half" idx="10"/>
          </p:nvPr>
        </p:nvSpPr>
        <p:spPr/>
        <p:txBody>
          <a:bodyPr/>
          <a:lstStyle/>
          <a:p>
            <a:fld id="{A1763678-8A38-4F5E-BAD5-561E39243491}" type="datetimeFigureOut">
              <a:rPr lang="en-US" smtClean="0"/>
              <a:t>10/27/2026</a:t>
            </a:fld>
            <a:endParaRPr lang="en-US"/>
          </a:p>
        </p:txBody>
      </p:sp>
      <p:sp>
        <p:nvSpPr>
          <p:cNvPr id="4" name="Espace réservé du pied de page 3"/>
          <p:cNvSpPr>
            <a:spLocks noGrp="1"/>
          </p:cNvSpPr>
          <p:nvPr>
            <p:ph type="ftr" sz="quarter" idx="11"/>
          </p:nvPr>
        </p:nvSpPr>
        <p:spPr/>
        <p:txBody>
          <a:bodyPr/>
          <a:lstStyle/>
          <a:p>
            <a:endParaRPr lang="en-US"/>
          </a:p>
        </p:txBody>
      </p:sp>
      <p:sp>
        <p:nvSpPr>
          <p:cNvPr id="5" name="Espace réservé du numéro de diapositive 4"/>
          <p:cNvSpPr>
            <a:spLocks noGrp="1"/>
          </p:cNvSpPr>
          <p:nvPr>
            <p:ph type="sldNum" sz="quarter" idx="12"/>
          </p:nvPr>
        </p:nvSpPr>
        <p:spPr/>
        <p:txBody>
          <a:bodyPr/>
          <a:lstStyle/>
          <a:p>
            <a:fld id="{CA70444B-4304-44DF-89D1-1795E5C3ECDC}" type="slidenum">
              <a:rPr lang="en-US" smtClean="0"/>
              <a:t>‹N°›</a:t>
            </a:fld>
            <a:endParaRPr lang="en-US"/>
          </a:p>
        </p:txBody>
      </p:sp>
    </p:spTree>
    <p:extLst>
      <p:ext uri="{BB962C8B-B14F-4D97-AF65-F5344CB8AC3E}">
        <p14:creationId xmlns:p14="http://schemas.microsoft.com/office/powerpoint/2010/main" val="1253988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A1763678-8A38-4F5E-BAD5-561E39243491}" type="datetimeFigureOut">
              <a:rPr lang="en-US" smtClean="0"/>
              <a:t>10/27/2026</a:t>
            </a:fld>
            <a:endParaRPr lang="en-US"/>
          </a:p>
        </p:txBody>
      </p:sp>
      <p:sp>
        <p:nvSpPr>
          <p:cNvPr id="3" name="Espace réservé du pied de page 2"/>
          <p:cNvSpPr>
            <a:spLocks noGrp="1"/>
          </p:cNvSpPr>
          <p:nvPr>
            <p:ph type="ftr" sz="quarter" idx="11"/>
          </p:nvPr>
        </p:nvSpPr>
        <p:spPr/>
        <p:txBody>
          <a:bodyPr/>
          <a:lstStyle/>
          <a:p>
            <a:endParaRPr lang="en-US"/>
          </a:p>
        </p:txBody>
      </p:sp>
      <p:sp>
        <p:nvSpPr>
          <p:cNvPr id="4" name="Espace réservé du numéro de diapositive 3"/>
          <p:cNvSpPr>
            <a:spLocks noGrp="1"/>
          </p:cNvSpPr>
          <p:nvPr>
            <p:ph type="sldNum" sz="quarter" idx="12"/>
          </p:nvPr>
        </p:nvSpPr>
        <p:spPr/>
        <p:txBody>
          <a:bodyPr/>
          <a:lstStyle/>
          <a:p>
            <a:fld id="{CA70444B-4304-44DF-89D1-1795E5C3ECDC}" type="slidenum">
              <a:rPr lang="en-US" smtClean="0"/>
              <a:t>‹N°›</a:t>
            </a:fld>
            <a:endParaRPr lang="en-US"/>
          </a:p>
        </p:txBody>
      </p:sp>
    </p:spTree>
    <p:extLst>
      <p:ext uri="{BB962C8B-B14F-4D97-AF65-F5344CB8AC3E}">
        <p14:creationId xmlns:p14="http://schemas.microsoft.com/office/powerpoint/2010/main" val="1770173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en-US"/>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A1763678-8A38-4F5E-BAD5-561E39243491}" type="datetimeFigureOut">
              <a:rPr lang="en-US" smtClean="0"/>
              <a:t>10/27/2026</a:t>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CA70444B-4304-44DF-89D1-1795E5C3ECDC}" type="slidenum">
              <a:rPr lang="en-US" smtClean="0"/>
              <a:t>‹N°›</a:t>
            </a:fld>
            <a:endParaRPr lang="en-US"/>
          </a:p>
        </p:txBody>
      </p:sp>
    </p:spTree>
    <p:extLst>
      <p:ext uri="{BB962C8B-B14F-4D97-AF65-F5344CB8AC3E}">
        <p14:creationId xmlns:p14="http://schemas.microsoft.com/office/powerpoint/2010/main" val="794841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en-US"/>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A1763678-8A38-4F5E-BAD5-561E39243491}" type="datetimeFigureOut">
              <a:rPr lang="en-US" smtClean="0"/>
              <a:t>10/27/2026</a:t>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CA70444B-4304-44DF-89D1-1795E5C3ECDC}" type="slidenum">
              <a:rPr lang="en-US" smtClean="0"/>
              <a:t>‹N°›</a:t>
            </a:fld>
            <a:endParaRPr lang="en-US"/>
          </a:p>
        </p:txBody>
      </p:sp>
    </p:spTree>
    <p:extLst>
      <p:ext uri="{BB962C8B-B14F-4D97-AF65-F5344CB8AC3E}">
        <p14:creationId xmlns:p14="http://schemas.microsoft.com/office/powerpoint/2010/main" val="19239215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US"/>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10"/>
          </p:nvPr>
        </p:nvSpPr>
        <p:spPr/>
        <p:txBody>
          <a:bodyPr/>
          <a:lstStyle/>
          <a:p>
            <a:fld id="{A1763678-8A38-4F5E-BAD5-561E39243491}" type="datetimeFigureOut">
              <a:rPr lang="en-US" smtClean="0"/>
              <a:t>10/27/2026</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CA70444B-4304-44DF-89D1-1795E5C3ECDC}" type="slidenum">
              <a:rPr lang="en-US" smtClean="0"/>
              <a:t>‹N°›</a:t>
            </a:fld>
            <a:endParaRPr lang="en-US"/>
          </a:p>
        </p:txBody>
      </p:sp>
    </p:spTree>
    <p:extLst>
      <p:ext uri="{BB962C8B-B14F-4D97-AF65-F5344CB8AC3E}">
        <p14:creationId xmlns:p14="http://schemas.microsoft.com/office/powerpoint/2010/main" val="4274534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en-US"/>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10"/>
          </p:nvPr>
        </p:nvSpPr>
        <p:spPr/>
        <p:txBody>
          <a:bodyPr/>
          <a:lstStyle/>
          <a:p>
            <a:fld id="{A1763678-8A38-4F5E-BAD5-561E39243491}" type="datetimeFigureOut">
              <a:rPr lang="en-US" smtClean="0"/>
              <a:t>10/27/2026</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CA70444B-4304-44DF-89D1-1795E5C3ECDC}" type="slidenum">
              <a:rPr lang="en-US" smtClean="0"/>
              <a:t>‹N°›</a:t>
            </a:fld>
            <a:endParaRPr lang="en-US"/>
          </a:p>
        </p:txBody>
      </p:sp>
    </p:spTree>
    <p:extLst>
      <p:ext uri="{BB962C8B-B14F-4D97-AF65-F5344CB8AC3E}">
        <p14:creationId xmlns:p14="http://schemas.microsoft.com/office/powerpoint/2010/main" val="4014496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en-US"/>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763678-8A38-4F5E-BAD5-561E39243491}" type="datetimeFigureOut">
              <a:rPr lang="en-US" smtClean="0"/>
              <a:t>10/27/2026</a:t>
            </a:fld>
            <a:endParaRPr lang="en-US"/>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70444B-4304-44DF-89D1-1795E5C3ECDC}" type="slidenum">
              <a:rPr lang="en-US" smtClean="0"/>
              <a:t>‹N°›</a:t>
            </a:fld>
            <a:endParaRPr lang="en-US"/>
          </a:p>
        </p:txBody>
      </p:sp>
    </p:spTree>
    <p:extLst>
      <p:ext uri="{BB962C8B-B14F-4D97-AF65-F5344CB8AC3E}">
        <p14:creationId xmlns:p14="http://schemas.microsoft.com/office/powerpoint/2010/main" val="33604660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Ellipse 1"/>
          <p:cNvSpPr/>
          <p:nvPr/>
        </p:nvSpPr>
        <p:spPr>
          <a:xfrm>
            <a:off x="7620000" y="-1397000"/>
            <a:ext cx="5842000" cy="5842000"/>
          </a:xfrm>
          <a:prstGeom prst="ellipse">
            <a:avLst/>
          </a:prstGeom>
          <a:solidFill>
            <a:srgbClr val="870A1E">
              <a:alpha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Ellipse 2"/>
          <p:cNvSpPr/>
          <p:nvPr/>
        </p:nvSpPr>
        <p:spPr>
          <a:xfrm>
            <a:off x="9906000" y="3810000"/>
            <a:ext cx="4064000" cy="4064000"/>
          </a:xfrm>
          <a:prstGeom prst="ellipse">
            <a:avLst/>
          </a:prstGeom>
          <a:solidFill>
            <a:srgbClr val="C8102E">
              <a:alpha val="7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4" name="Rectangle 3"/>
          <p:cNvSpPr/>
          <p:nvPr/>
        </p:nvSpPr>
        <p:spPr>
          <a:xfrm>
            <a:off x="762000" y="1778000"/>
            <a:ext cx="76200" cy="2159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5" name="ZoneTexte 4"/>
          <p:cNvSpPr txBox="1"/>
          <p:nvPr/>
        </p:nvSpPr>
        <p:spPr>
          <a:xfrm>
            <a:off x="1143000" y="1778000"/>
            <a:ext cx="7620000" cy="369332"/>
          </a:xfrm>
          <a:prstGeom prst="rect">
            <a:avLst/>
          </a:prstGeom>
          <a:noFill/>
        </p:spPr>
        <p:txBody>
          <a:bodyPr vert="horz" wrap="square" lIns="0" tIns="0" rIns="0" bIns="0" rtlCol="0">
            <a:noAutofit/>
          </a:bodyPr>
          <a:lstStyle/>
          <a:p>
            <a:r>
              <a:rPr lang="fr-FR" sz="1200" b="1" smtClean="0">
                <a:solidFill>
                  <a:srgbClr val="EB465A"/>
                </a:solidFill>
                <a:latin typeface="Segoe UI" panose="020B0502040204020203" pitchFamily="34" charset="0"/>
              </a:rPr>
              <a:t>JIRA DATA CENTER · GUIDE DE DÉVELOPPEMENT</a:t>
            </a:r>
            <a:endParaRPr lang="en-US" sz="1200" b="1">
              <a:solidFill>
                <a:srgbClr val="EB465A"/>
              </a:solidFill>
              <a:latin typeface="Segoe UI" panose="020B0502040204020203" pitchFamily="34" charset="0"/>
            </a:endParaRPr>
          </a:p>
        </p:txBody>
      </p:sp>
      <p:sp>
        <p:nvSpPr>
          <p:cNvPr id="6" name="ZoneTexte 5"/>
          <p:cNvSpPr txBox="1"/>
          <p:nvPr/>
        </p:nvSpPr>
        <p:spPr>
          <a:xfrm>
            <a:off x="1143000" y="2108200"/>
            <a:ext cx="7874000" cy="369332"/>
          </a:xfrm>
          <a:prstGeom prst="rect">
            <a:avLst/>
          </a:prstGeom>
          <a:noFill/>
        </p:spPr>
        <p:txBody>
          <a:bodyPr vert="horz" wrap="square" lIns="0" tIns="0" rIns="0" bIns="0" rtlCol="0">
            <a:noAutofit/>
          </a:bodyPr>
          <a:lstStyle/>
          <a:p>
            <a:r>
              <a:rPr lang="en-US" sz="4000" b="1" smtClean="0">
                <a:solidFill>
                  <a:srgbClr val="FFFFFF"/>
                </a:solidFill>
                <a:latin typeface="Segoe UI" panose="020B0502040204020203" pitchFamily="34" charset="0"/>
              </a:rPr>
              <a:t>Développer un plugin</a:t>
            </a:r>
          </a:p>
          <a:p>
            <a:r>
              <a:rPr lang="en-US" sz="4000" b="1" smtClean="0">
                <a:solidFill>
                  <a:srgbClr val="FFFFFF"/>
                </a:solidFill>
                <a:latin typeface="Segoe UI" panose="020B0502040204020203" pitchFamily="34" charset="0"/>
              </a:rPr>
              <a:t>Jira Data Center</a:t>
            </a:r>
            <a:endParaRPr lang="en-US" sz="4000" b="1">
              <a:solidFill>
                <a:srgbClr val="FFFFFF"/>
              </a:solidFill>
              <a:latin typeface="Segoe UI" panose="020B0502040204020203" pitchFamily="34" charset="0"/>
            </a:endParaRPr>
          </a:p>
        </p:txBody>
      </p:sp>
      <p:sp>
        <p:nvSpPr>
          <p:cNvPr id="7" name="ZoneTexte 6"/>
          <p:cNvSpPr txBox="1"/>
          <p:nvPr/>
        </p:nvSpPr>
        <p:spPr>
          <a:xfrm>
            <a:off x="1143000" y="3581400"/>
            <a:ext cx="7620000" cy="369332"/>
          </a:xfrm>
          <a:prstGeom prst="rect">
            <a:avLst/>
          </a:prstGeom>
          <a:noFill/>
        </p:spPr>
        <p:txBody>
          <a:bodyPr vert="horz" wrap="square" lIns="0" tIns="0" rIns="0" bIns="0" rtlCol="0">
            <a:noAutofit/>
          </a:bodyPr>
          <a:lstStyle/>
          <a:p>
            <a:r>
              <a:rPr lang="fr-FR" smtClean="0">
                <a:solidFill>
                  <a:srgbClr val="CDCDCD"/>
                </a:solidFill>
                <a:latin typeface="Segoe UI" panose="020B0502040204020203" pitchFamily="34" charset="0"/>
              </a:rPr>
              <a:t>Architecture, outillage, méthodologie et bonnes pratiques</a:t>
            </a:r>
            <a:endParaRPr lang="en-US">
              <a:solidFill>
                <a:srgbClr val="CDCDCD"/>
              </a:solidFill>
              <a:latin typeface="Segoe UI" panose="020B0502040204020203" pitchFamily="34" charset="0"/>
            </a:endParaRPr>
          </a:p>
        </p:txBody>
      </p:sp>
      <p:sp>
        <p:nvSpPr>
          <p:cNvPr id="8" name="ZoneTexte 7"/>
          <p:cNvSpPr txBox="1"/>
          <p:nvPr/>
        </p:nvSpPr>
        <p:spPr>
          <a:xfrm>
            <a:off x="1143000" y="5334000"/>
            <a:ext cx="7874000" cy="369332"/>
          </a:xfrm>
          <a:prstGeom prst="rect">
            <a:avLst/>
          </a:prstGeom>
          <a:noFill/>
        </p:spPr>
        <p:txBody>
          <a:bodyPr vert="horz" wrap="square" lIns="0" tIns="0" rIns="0" bIns="0" rtlCol="0">
            <a:noAutofit/>
          </a:bodyPr>
          <a:lstStyle/>
          <a:p>
            <a:r>
              <a:rPr lang="fr-FR" sz="1300" smtClean="0">
                <a:solidFill>
                  <a:srgbClr val="BEBEBE"/>
                </a:solidFill>
                <a:latin typeface="Segoe UI" panose="020B0502040204020203" pitchFamily="34" charset="0"/>
              </a:rPr>
              <a:t>Etienne FOYANG · DPI · Octobre 2026</a:t>
            </a:r>
            <a:endParaRPr lang="en-US" sz="1300">
              <a:solidFill>
                <a:srgbClr val="BEBEBE"/>
              </a:solidFill>
              <a:latin typeface="Segoe UI" panose="020B0502040204020203" pitchFamily="34" charset="0"/>
            </a:endParaRPr>
          </a:p>
        </p:txBody>
      </p:sp>
    </p:spTree>
    <p:extLst>
      <p:ext uri="{BB962C8B-B14F-4D97-AF65-F5344CB8AC3E}">
        <p14:creationId xmlns:p14="http://schemas.microsoft.com/office/powerpoint/2010/main" val="14586622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C8102E"/>
                </a:solidFill>
                <a:latin typeface="Segoe UI" panose="020B0502040204020203" pitchFamily="34" charset="0"/>
              </a:rPr>
              <a:t>PRÉSENTATION</a:t>
            </a:r>
            <a:endParaRPr lang="en-US" sz="1000" b="1">
              <a:solidFill>
                <a:srgbClr val="C8102E"/>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en-US" sz="2400" b="1" smtClean="0">
                <a:solidFill>
                  <a:srgbClr val="212121"/>
                </a:solidFill>
                <a:latin typeface="Segoe UI" panose="020B0502040204020203" pitchFamily="34" charset="0"/>
              </a:rPr>
              <a:t>Sommaire</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2</a:t>
            </a:r>
            <a:endParaRPr lang="en-US" sz="900">
              <a:solidFill>
                <a:srgbClr val="6E6E6E"/>
              </a:solidFill>
              <a:latin typeface="Segoe UI" panose="020B0502040204020203" pitchFamily="34" charset="0"/>
            </a:endParaRPr>
          </a:p>
        </p:txBody>
      </p:sp>
      <p:sp>
        <p:nvSpPr>
          <p:cNvPr id="9" name="Rectangle 8"/>
          <p:cNvSpPr/>
          <p:nvPr/>
        </p:nvSpPr>
        <p:spPr>
          <a:xfrm>
            <a:off x="762000" y="1270000"/>
            <a:ext cx="736600" cy="7366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2000" b="1" smtClean="0">
                <a:solidFill>
                  <a:srgbClr val="FFFFFF"/>
                </a:solidFill>
                <a:latin typeface="Segoe UI" panose="020B0502040204020203" pitchFamily="34" charset="0"/>
              </a:rPr>
              <a:t>01</a:t>
            </a:r>
            <a:endParaRPr lang="en-US" sz="2000" b="1">
              <a:solidFill>
                <a:srgbClr val="FFFFFF"/>
              </a:solidFill>
              <a:latin typeface="Segoe UI" panose="020B0502040204020203" pitchFamily="34" charset="0"/>
            </a:endParaRPr>
          </a:p>
        </p:txBody>
      </p:sp>
      <p:sp>
        <p:nvSpPr>
          <p:cNvPr id="10" name="ZoneTexte 9"/>
          <p:cNvSpPr txBox="1"/>
          <p:nvPr/>
        </p:nvSpPr>
        <p:spPr>
          <a:xfrm>
            <a:off x="1778000" y="1346200"/>
            <a:ext cx="8890000" cy="369332"/>
          </a:xfrm>
          <a:prstGeom prst="rect">
            <a:avLst/>
          </a:prstGeom>
          <a:noFill/>
        </p:spPr>
        <p:txBody>
          <a:bodyPr vert="horz" wrap="square" lIns="0" tIns="0" rIns="0" bIns="0" rtlCol="0">
            <a:noAutofit/>
          </a:bodyPr>
          <a:lstStyle/>
          <a:p>
            <a:r>
              <a:rPr lang="en-US" sz="2000" b="1" smtClean="0">
                <a:solidFill>
                  <a:srgbClr val="212121"/>
                </a:solidFill>
                <a:latin typeface="Segoe UI" panose="020B0502040204020203" pitchFamily="34" charset="0"/>
              </a:rPr>
              <a:t>Comprendre</a:t>
            </a:r>
            <a:endParaRPr lang="en-US" sz="2000" b="1">
              <a:solidFill>
                <a:srgbClr val="212121"/>
              </a:solidFill>
              <a:latin typeface="Segoe UI" panose="020B0502040204020203" pitchFamily="34" charset="0"/>
            </a:endParaRPr>
          </a:p>
        </p:txBody>
      </p:sp>
      <p:sp>
        <p:nvSpPr>
          <p:cNvPr id="11" name="ZoneTexte 10"/>
          <p:cNvSpPr txBox="1"/>
          <p:nvPr/>
        </p:nvSpPr>
        <p:spPr>
          <a:xfrm>
            <a:off x="1778000" y="1689100"/>
            <a:ext cx="9398000" cy="369332"/>
          </a:xfrm>
          <a:prstGeom prst="rect">
            <a:avLst/>
          </a:prstGeom>
          <a:noFill/>
        </p:spPr>
        <p:txBody>
          <a:bodyPr vert="horz" wrap="square" lIns="0" tIns="0" rIns="0" bIns="0" rtlCol="0">
            <a:noAutofit/>
          </a:bodyPr>
          <a:lstStyle/>
          <a:p>
            <a:r>
              <a:rPr lang="fr-FR" sz="1300" smtClean="0">
                <a:solidFill>
                  <a:srgbClr val="6E6E6E"/>
                </a:solidFill>
                <a:latin typeface="Segoe UI" panose="020B0502040204020203" pitchFamily="34" charset="0"/>
              </a:rPr>
              <a:t>Ce qu'est un plugin, architecture de Jira Data Center</a:t>
            </a:r>
            <a:endParaRPr lang="en-US" sz="1300">
              <a:solidFill>
                <a:srgbClr val="6E6E6E"/>
              </a:solidFill>
              <a:latin typeface="Segoe UI" panose="020B0502040204020203" pitchFamily="34" charset="0"/>
            </a:endParaRPr>
          </a:p>
        </p:txBody>
      </p:sp>
      <p:sp>
        <p:nvSpPr>
          <p:cNvPr id="12" name="Rectangle 11"/>
          <p:cNvSpPr/>
          <p:nvPr/>
        </p:nvSpPr>
        <p:spPr>
          <a:xfrm>
            <a:off x="762000" y="2260600"/>
            <a:ext cx="736600" cy="7366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2000" b="1" smtClean="0">
                <a:solidFill>
                  <a:srgbClr val="FFFFFF"/>
                </a:solidFill>
                <a:latin typeface="Segoe UI" panose="020B0502040204020203" pitchFamily="34" charset="0"/>
              </a:rPr>
              <a:t>02</a:t>
            </a:r>
            <a:endParaRPr lang="en-US" sz="2000" b="1">
              <a:solidFill>
                <a:srgbClr val="FFFFFF"/>
              </a:solidFill>
              <a:latin typeface="Segoe UI" panose="020B0502040204020203" pitchFamily="34" charset="0"/>
            </a:endParaRPr>
          </a:p>
        </p:txBody>
      </p:sp>
      <p:sp>
        <p:nvSpPr>
          <p:cNvPr id="13" name="ZoneTexte 12"/>
          <p:cNvSpPr txBox="1"/>
          <p:nvPr/>
        </p:nvSpPr>
        <p:spPr>
          <a:xfrm>
            <a:off x="1778000" y="2336800"/>
            <a:ext cx="8890000" cy="369332"/>
          </a:xfrm>
          <a:prstGeom prst="rect">
            <a:avLst/>
          </a:prstGeom>
          <a:noFill/>
        </p:spPr>
        <p:txBody>
          <a:bodyPr vert="horz" wrap="square" lIns="0" tIns="0" rIns="0" bIns="0" rtlCol="0">
            <a:noAutofit/>
          </a:bodyPr>
          <a:lstStyle/>
          <a:p>
            <a:r>
              <a:rPr lang="en-US" sz="2000" b="1" smtClean="0">
                <a:solidFill>
                  <a:srgbClr val="212121"/>
                </a:solidFill>
                <a:latin typeface="Segoe UI" panose="020B0502040204020203" pitchFamily="34" charset="0"/>
              </a:rPr>
              <a:t>Outiller</a:t>
            </a:r>
            <a:endParaRPr lang="en-US" sz="2000" b="1">
              <a:solidFill>
                <a:srgbClr val="212121"/>
              </a:solidFill>
              <a:latin typeface="Segoe UI" panose="020B0502040204020203" pitchFamily="34" charset="0"/>
            </a:endParaRPr>
          </a:p>
        </p:txBody>
      </p:sp>
      <p:sp>
        <p:nvSpPr>
          <p:cNvPr id="14" name="ZoneTexte 13"/>
          <p:cNvSpPr txBox="1"/>
          <p:nvPr/>
        </p:nvSpPr>
        <p:spPr>
          <a:xfrm>
            <a:off x="1778000" y="2679700"/>
            <a:ext cx="9398000" cy="369332"/>
          </a:xfrm>
          <a:prstGeom prst="rect">
            <a:avLst/>
          </a:prstGeom>
          <a:noFill/>
        </p:spPr>
        <p:txBody>
          <a:bodyPr vert="horz" wrap="square" lIns="0" tIns="0" rIns="0" bIns="0" rtlCol="0">
            <a:noAutofit/>
          </a:bodyPr>
          <a:lstStyle/>
          <a:p>
            <a:r>
              <a:rPr lang="fr-FR" sz="1300" smtClean="0">
                <a:solidFill>
                  <a:srgbClr val="6E6E6E"/>
                </a:solidFill>
                <a:latin typeface="Segoe UI" panose="020B0502040204020203" pitchFamily="34" charset="0"/>
              </a:rPr>
              <a:t>Environnement de développement et structure d'un projet</a:t>
            </a:r>
            <a:endParaRPr lang="en-US" sz="1300">
              <a:solidFill>
                <a:srgbClr val="6E6E6E"/>
              </a:solidFill>
              <a:latin typeface="Segoe UI" panose="020B0502040204020203" pitchFamily="34" charset="0"/>
            </a:endParaRPr>
          </a:p>
        </p:txBody>
      </p:sp>
      <p:sp>
        <p:nvSpPr>
          <p:cNvPr id="15" name="Rectangle 14"/>
          <p:cNvSpPr/>
          <p:nvPr/>
        </p:nvSpPr>
        <p:spPr>
          <a:xfrm>
            <a:off x="762000" y="3251200"/>
            <a:ext cx="736600" cy="7366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2000" b="1" smtClean="0">
                <a:solidFill>
                  <a:srgbClr val="FFFFFF"/>
                </a:solidFill>
                <a:latin typeface="Segoe UI" panose="020B0502040204020203" pitchFamily="34" charset="0"/>
              </a:rPr>
              <a:t>03</a:t>
            </a:r>
            <a:endParaRPr lang="en-US" sz="2000" b="1">
              <a:solidFill>
                <a:srgbClr val="FFFFFF"/>
              </a:solidFill>
              <a:latin typeface="Segoe UI" panose="020B0502040204020203" pitchFamily="34" charset="0"/>
            </a:endParaRPr>
          </a:p>
        </p:txBody>
      </p:sp>
      <p:sp>
        <p:nvSpPr>
          <p:cNvPr id="16" name="ZoneTexte 15"/>
          <p:cNvSpPr txBox="1"/>
          <p:nvPr/>
        </p:nvSpPr>
        <p:spPr>
          <a:xfrm>
            <a:off x="1778000" y="3327400"/>
            <a:ext cx="8890000" cy="369332"/>
          </a:xfrm>
          <a:prstGeom prst="rect">
            <a:avLst/>
          </a:prstGeom>
          <a:noFill/>
        </p:spPr>
        <p:txBody>
          <a:bodyPr vert="horz" wrap="square" lIns="0" tIns="0" rIns="0" bIns="0" rtlCol="0">
            <a:noAutofit/>
          </a:bodyPr>
          <a:lstStyle/>
          <a:p>
            <a:r>
              <a:rPr lang="en-US" sz="2000" b="1" smtClean="0">
                <a:solidFill>
                  <a:srgbClr val="212121"/>
                </a:solidFill>
                <a:latin typeface="Segoe UI" panose="020B0502040204020203" pitchFamily="34" charset="0"/>
              </a:rPr>
              <a:t>Développer</a:t>
            </a:r>
            <a:endParaRPr lang="en-US" sz="2000" b="1">
              <a:solidFill>
                <a:srgbClr val="212121"/>
              </a:solidFill>
              <a:latin typeface="Segoe UI" panose="020B0502040204020203" pitchFamily="34" charset="0"/>
            </a:endParaRPr>
          </a:p>
        </p:txBody>
      </p:sp>
      <p:sp>
        <p:nvSpPr>
          <p:cNvPr id="17" name="ZoneTexte 16"/>
          <p:cNvSpPr txBox="1"/>
          <p:nvPr/>
        </p:nvSpPr>
        <p:spPr>
          <a:xfrm>
            <a:off x="1778000" y="3670300"/>
            <a:ext cx="9398000" cy="369332"/>
          </a:xfrm>
          <a:prstGeom prst="rect">
            <a:avLst/>
          </a:prstGeom>
          <a:noFill/>
        </p:spPr>
        <p:txBody>
          <a:bodyPr vert="horz" wrap="square" lIns="0" tIns="0" rIns="0" bIns="0" rtlCol="0">
            <a:noAutofit/>
          </a:bodyPr>
          <a:lstStyle/>
          <a:p>
            <a:r>
              <a:rPr lang="en-US" sz="1300" smtClean="0">
                <a:solidFill>
                  <a:srgbClr val="6E6E6E"/>
                </a:solidFill>
                <a:latin typeface="Segoe UI" panose="020B0502040204020203" pitchFamily="34" charset="0"/>
              </a:rPr>
              <a:t>Descripteur, modules, back-end Java (Spring), front-end (AUI)</a:t>
            </a:r>
            <a:endParaRPr lang="en-US" sz="1300">
              <a:solidFill>
                <a:srgbClr val="6E6E6E"/>
              </a:solidFill>
              <a:latin typeface="Segoe UI" panose="020B0502040204020203" pitchFamily="34" charset="0"/>
            </a:endParaRPr>
          </a:p>
        </p:txBody>
      </p:sp>
      <p:sp>
        <p:nvSpPr>
          <p:cNvPr id="18" name="Rectangle 17"/>
          <p:cNvSpPr/>
          <p:nvPr/>
        </p:nvSpPr>
        <p:spPr>
          <a:xfrm>
            <a:off x="762000" y="4241800"/>
            <a:ext cx="736600" cy="7366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2000" b="1" smtClean="0">
                <a:solidFill>
                  <a:srgbClr val="FFFFFF"/>
                </a:solidFill>
                <a:latin typeface="Segoe UI" panose="020B0502040204020203" pitchFamily="34" charset="0"/>
              </a:rPr>
              <a:t>04</a:t>
            </a:r>
            <a:endParaRPr lang="en-US" sz="2000" b="1">
              <a:solidFill>
                <a:srgbClr val="FFFFFF"/>
              </a:solidFill>
              <a:latin typeface="Segoe UI" panose="020B0502040204020203" pitchFamily="34" charset="0"/>
            </a:endParaRPr>
          </a:p>
        </p:txBody>
      </p:sp>
      <p:sp>
        <p:nvSpPr>
          <p:cNvPr id="19" name="ZoneTexte 18"/>
          <p:cNvSpPr txBox="1"/>
          <p:nvPr/>
        </p:nvSpPr>
        <p:spPr>
          <a:xfrm>
            <a:off x="1778000" y="4318000"/>
            <a:ext cx="8890000" cy="369332"/>
          </a:xfrm>
          <a:prstGeom prst="rect">
            <a:avLst/>
          </a:prstGeom>
          <a:noFill/>
        </p:spPr>
        <p:txBody>
          <a:bodyPr vert="horz" wrap="square" lIns="0" tIns="0" rIns="0" bIns="0" rtlCol="0">
            <a:noAutofit/>
          </a:bodyPr>
          <a:lstStyle/>
          <a:p>
            <a:r>
              <a:rPr lang="en-US" sz="2000" b="1" smtClean="0">
                <a:solidFill>
                  <a:srgbClr val="212121"/>
                </a:solidFill>
                <a:latin typeface="Segoe UI" panose="020B0502040204020203" pitchFamily="34" charset="0"/>
              </a:rPr>
              <a:t>Livrer</a:t>
            </a:r>
            <a:endParaRPr lang="en-US" sz="2000" b="1">
              <a:solidFill>
                <a:srgbClr val="212121"/>
              </a:solidFill>
              <a:latin typeface="Segoe UI" panose="020B0502040204020203" pitchFamily="34" charset="0"/>
            </a:endParaRPr>
          </a:p>
        </p:txBody>
      </p:sp>
      <p:sp>
        <p:nvSpPr>
          <p:cNvPr id="20" name="ZoneTexte 19"/>
          <p:cNvSpPr txBox="1"/>
          <p:nvPr/>
        </p:nvSpPr>
        <p:spPr>
          <a:xfrm>
            <a:off x="1778000" y="4660900"/>
            <a:ext cx="9398000" cy="369332"/>
          </a:xfrm>
          <a:prstGeom prst="rect">
            <a:avLst/>
          </a:prstGeom>
          <a:noFill/>
        </p:spPr>
        <p:txBody>
          <a:bodyPr vert="horz" wrap="square" lIns="0" tIns="0" rIns="0" bIns="0" rtlCol="0">
            <a:noAutofit/>
          </a:bodyPr>
          <a:lstStyle/>
          <a:p>
            <a:r>
              <a:rPr lang="fr-FR" sz="1300" smtClean="0">
                <a:solidFill>
                  <a:srgbClr val="6E6E6E"/>
                </a:solidFill>
                <a:latin typeface="Segoe UI" panose="020B0502040204020203" pitchFamily="34" charset="0"/>
              </a:rPr>
              <a:t>Cycle de développement, tests, packaging et déploiement</a:t>
            </a:r>
            <a:endParaRPr lang="en-US" sz="1300">
              <a:solidFill>
                <a:srgbClr val="6E6E6E"/>
              </a:solidFill>
              <a:latin typeface="Segoe UI" panose="020B0502040204020203" pitchFamily="34" charset="0"/>
            </a:endParaRPr>
          </a:p>
        </p:txBody>
      </p:sp>
      <p:sp>
        <p:nvSpPr>
          <p:cNvPr id="21" name="Rectangle 20"/>
          <p:cNvSpPr/>
          <p:nvPr/>
        </p:nvSpPr>
        <p:spPr>
          <a:xfrm>
            <a:off x="762000" y="5232400"/>
            <a:ext cx="736600" cy="7366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2000" b="1" smtClean="0">
                <a:solidFill>
                  <a:srgbClr val="FFFFFF"/>
                </a:solidFill>
                <a:latin typeface="Segoe UI" panose="020B0502040204020203" pitchFamily="34" charset="0"/>
              </a:rPr>
              <a:t>05</a:t>
            </a:r>
            <a:endParaRPr lang="en-US" sz="2000" b="1">
              <a:solidFill>
                <a:srgbClr val="FFFFFF"/>
              </a:solidFill>
              <a:latin typeface="Segoe UI" panose="020B0502040204020203" pitchFamily="34" charset="0"/>
            </a:endParaRPr>
          </a:p>
        </p:txBody>
      </p:sp>
      <p:sp>
        <p:nvSpPr>
          <p:cNvPr id="22" name="ZoneTexte 21"/>
          <p:cNvSpPr txBox="1"/>
          <p:nvPr/>
        </p:nvSpPr>
        <p:spPr>
          <a:xfrm>
            <a:off x="1778000" y="5308600"/>
            <a:ext cx="8890000" cy="369332"/>
          </a:xfrm>
          <a:prstGeom prst="rect">
            <a:avLst/>
          </a:prstGeom>
          <a:noFill/>
        </p:spPr>
        <p:txBody>
          <a:bodyPr vert="horz" wrap="square" lIns="0" tIns="0" rIns="0" bIns="0" rtlCol="0">
            <a:noAutofit/>
          </a:bodyPr>
          <a:lstStyle/>
          <a:p>
            <a:r>
              <a:rPr lang="en-US" sz="2000" b="1" smtClean="0">
                <a:solidFill>
                  <a:srgbClr val="212121"/>
                </a:solidFill>
                <a:latin typeface="Segoe UI" panose="020B0502040204020203" pitchFamily="34" charset="0"/>
              </a:rPr>
              <a:t>Pérenniser</a:t>
            </a:r>
            <a:endParaRPr lang="en-US" sz="2000" b="1">
              <a:solidFill>
                <a:srgbClr val="212121"/>
              </a:solidFill>
              <a:latin typeface="Segoe UI" panose="020B0502040204020203" pitchFamily="34" charset="0"/>
            </a:endParaRPr>
          </a:p>
        </p:txBody>
      </p:sp>
      <p:sp>
        <p:nvSpPr>
          <p:cNvPr id="23" name="ZoneTexte 22"/>
          <p:cNvSpPr txBox="1"/>
          <p:nvPr/>
        </p:nvSpPr>
        <p:spPr>
          <a:xfrm>
            <a:off x="1778000" y="5651500"/>
            <a:ext cx="9398000" cy="369332"/>
          </a:xfrm>
          <a:prstGeom prst="rect">
            <a:avLst/>
          </a:prstGeom>
          <a:noFill/>
        </p:spPr>
        <p:txBody>
          <a:bodyPr vert="horz" wrap="square" lIns="0" tIns="0" rIns="0" bIns="0" rtlCol="0">
            <a:noAutofit/>
          </a:bodyPr>
          <a:lstStyle/>
          <a:p>
            <a:r>
              <a:rPr lang="fr-FR" sz="1300" smtClean="0">
                <a:solidFill>
                  <a:srgbClr val="6E6E6E"/>
                </a:solidFill>
                <a:latin typeface="Segoe UI" panose="020B0502040204020203" pitchFamily="34" charset="0"/>
              </a:rPr>
              <a:t>Bonnes pratiques, retour d'expérience et récapitulatif</a:t>
            </a:r>
            <a:endParaRPr lang="en-US" sz="1300">
              <a:solidFill>
                <a:srgbClr val="6E6E6E"/>
              </a:solidFill>
              <a:latin typeface="Segoe UI" panose="020B0502040204020203" pitchFamily="34" charset="0"/>
            </a:endParaRPr>
          </a:p>
        </p:txBody>
      </p:sp>
    </p:spTree>
    <p:extLst>
      <p:ext uri="{BB962C8B-B14F-4D97-AF65-F5344CB8AC3E}">
        <p14:creationId xmlns:p14="http://schemas.microsoft.com/office/powerpoint/2010/main" val="35069929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C8102E"/>
                </a:solidFill>
                <a:latin typeface="Segoe UI" panose="020B0502040204020203" pitchFamily="34" charset="0"/>
              </a:rPr>
              <a:t>01 · COMPRENDRE</a:t>
            </a:r>
            <a:endParaRPr lang="en-US" sz="1000" b="1">
              <a:solidFill>
                <a:srgbClr val="C8102E"/>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en-US" sz="2400" b="1" smtClean="0">
                <a:solidFill>
                  <a:srgbClr val="212121"/>
                </a:solidFill>
                <a:latin typeface="Segoe UI" panose="020B0502040204020203" pitchFamily="34" charset="0"/>
              </a:rPr>
              <a:t>Pourquoi développer un plugin ?</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3</a:t>
            </a:r>
            <a:endParaRPr lang="en-US" sz="900">
              <a:solidFill>
                <a:srgbClr val="6E6E6E"/>
              </a:solidFill>
              <a:latin typeface="Segoe UI" panose="020B0502040204020203" pitchFamily="34" charset="0"/>
            </a:endParaRPr>
          </a:p>
        </p:txBody>
      </p:sp>
      <p:sp>
        <p:nvSpPr>
          <p:cNvPr id="9" name="ZoneTexte 8"/>
          <p:cNvSpPr txBox="1"/>
          <p:nvPr/>
        </p:nvSpPr>
        <p:spPr>
          <a:xfrm>
            <a:off x="508000" y="1270000"/>
            <a:ext cx="6604000" cy="369332"/>
          </a:xfrm>
          <a:prstGeom prst="rect">
            <a:avLst/>
          </a:prstGeom>
          <a:noFill/>
        </p:spPr>
        <p:txBody>
          <a:bodyPr vert="horz" wrap="square" lIns="0" tIns="0" rIns="0" bIns="0" rtlCol="0">
            <a:noAutofit/>
          </a:bodyPr>
          <a:lstStyle/>
          <a:p>
            <a:pPr marL="482600" indent="-203200">
              <a:spcAft>
                <a:spcPts val="800"/>
              </a:spcAft>
              <a:buClr>
                <a:srgbClr val="C8102E"/>
              </a:buClr>
              <a:buSzPct val="70000"/>
              <a:buFont typeface="Arial" panose="020B0604020202020204" pitchFamily="34" charset="0"/>
              <a:buChar char="■"/>
            </a:pPr>
            <a:r>
              <a:rPr lang="fr-FR" sz="1600" b="1" smtClean="0">
                <a:solidFill>
                  <a:srgbClr val="212121"/>
                </a:solidFill>
                <a:latin typeface="Segoe UI" panose="020B0502040204020203" pitchFamily="34" charset="0"/>
              </a:rPr>
              <a:t>Adapter</a:t>
            </a:r>
            <a:r>
              <a:rPr lang="fr-FR" sz="1600" smtClean="0">
                <a:solidFill>
                  <a:srgbClr val="212121"/>
                </a:solidFill>
                <a:latin typeface="Segoe UI" panose="020B0502040204020203" pitchFamily="34" charset="0"/>
              </a:rPr>
              <a:t> : faire correspondre Jira à nos processus métier</a:t>
            </a:r>
          </a:p>
          <a:p>
            <a:pPr marL="482600" indent="-203200">
              <a:spcAft>
                <a:spcPts val="800"/>
              </a:spcAft>
              <a:buClr>
                <a:srgbClr val="C8102E"/>
              </a:buClr>
              <a:buSzPct val="70000"/>
              <a:buFont typeface="Arial" panose="020B0604020202020204" pitchFamily="34" charset="0"/>
              <a:buChar char="■"/>
            </a:pPr>
            <a:r>
              <a:rPr lang="fr-FR" sz="1600" b="1" smtClean="0">
                <a:solidFill>
                  <a:srgbClr val="212121"/>
                </a:solidFill>
                <a:latin typeface="Segoe UI" panose="020B0502040204020203" pitchFamily="34" charset="0"/>
              </a:rPr>
              <a:t>Automatiser</a:t>
            </a:r>
            <a:r>
              <a:rPr lang="fr-FR" sz="1600" smtClean="0">
                <a:solidFill>
                  <a:srgbClr val="212121"/>
                </a:solidFill>
                <a:latin typeface="Segoe UI" panose="020B0502040204020203" pitchFamily="34" charset="0"/>
              </a:rPr>
              <a:t> : déclencher des actions sur les tickets et les workflows</a:t>
            </a:r>
          </a:p>
          <a:p>
            <a:pPr marL="482600" indent="-203200">
              <a:spcAft>
                <a:spcPts val="800"/>
              </a:spcAft>
              <a:buClr>
                <a:srgbClr val="C8102E"/>
              </a:buClr>
              <a:buSzPct val="70000"/>
              <a:buFont typeface="Arial" panose="020B0604020202020204" pitchFamily="34" charset="0"/>
              <a:buChar char="■"/>
            </a:pPr>
            <a:r>
              <a:rPr lang="fr-FR" sz="1600" b="1" smtClean="0">
                <a:solidFill>
                  <a:srgbClr val="212121"/>
                </a:solidFill>
                <a:latin typeface="Segoe UI" panose="020B0502040204020203" pitchFamily="34" charset="0"/>
              </a:rPr>
              <a:t>Intégrer</a:t>
            </a:r>
            <a:r>
              <a:rPr lang="fr-FR" sz="1600" smtClean="0">
                <a:solidFill>
                  <a:srgbClr val="212121"/>
                </a:solidFill>
                <a:latin typeface="Segoe UI" panose="020B0502040204020203" pitchFamily="34" charset="0"/>
              </a:rPr>
              <a:t> : connecter Jira aux autres applications du SI (API REST)</a:t>
            </a:r>
          </a:p>
          <a:p>
            <a:pPr marL="482600" indent="-203200">
              <a:spcAft>
                <a:spcPts val="800"/>
              </a:spcAft>
              <a:buClr>
                <a:srgbClr val="C8102E"/>
              </a:buClr>
              <a:buSzPct val="70000"/>
              <a:buFont typeface="Arial" panose="020B0604020202020204" pitchFamily="34" charset="0"/>
              <a:buChar char="■"/>
            </a:pPr>
            <a:r>
              <a:rPr lang="fr-FR" sz="1600" b="1" smtClean="0">
                <a:solidFill>
                  <a:srgbClr val="212121"/>
                </a:solidFill>
                <a:latin typeface="Segoe UI" panose="020B0502040204020203" pitchFamily="34" charset="0"/>
              </a:rPr>
              <a:t>Contrôler</a:t>
            </a:r>
            <a:r>
              <a:rPr lang="fr-FR" sz="1600" smtClean="0">
                <a:solidFill>
                  <a:srgbClr val="212121"/>
                </a:solidFill>
                <a:latin typeface="Segoe UI" panose="020B0502040204020203" pitchFamily="34" charset="0"/>
              </a:rPr>
              <a:t> : ajouter des règles de validation, de conformité et de traçabilité</a:t>
            </a:r>
          </a:p>
          <a:p>
            <a:pPr marL="482600" indent="-203200">
              <a:spcAft>
                <a:spcPts val="800"/>
              </a:spcAft>
              <a:buClr>
                <a:srgbClr val="C8102E"/>
              </a:buClr>
              <a:buSzPct val="70000"/>
              <a:buFont typeface="Arial" panose="020B0604020202020204" pitchFamily="34" charset="0"/>
              <a:buChar char="■"/>
            </a:pPr>
            <a:r>
              <a:rPr lang="fr-FR" sz="1600" b="1" smtClean="0">
                <a:solidFill>
                  <a:srgbClr val="212121"/>
                </a:solidFill>
                <a:latin typeface="Segoe UI" panose="020B0502040204020203" pitchFamily="34" charset="0"/>
              </a:rPr>
              <a:t>Maîtriser</a:t>
            </a:r>
            <a:r>
              <a:rPr lang="fr-FR" sz="1600" smtClean="0">
                <a:solidFill>
                  <a:srgbClr val="212121"/>
                </a:solidFill>
                <a:latin typeface="Segoe UI" panose="020B0502040204020203" pitchFamily="34" charset="0"/>
              </a:rPr>
              <a:t> : disposer du code source, sans dépendre d'une app du Marketplace</a:t>
            </a:r>
            <a:endParaRPr lang="en-US" sz="1600">
              <a:solidFill>
                <a:srgbClr val="212121"/>
              </a:solidFill>
              <a:latin typeface="Segoe UI" panose="020B0502040204020203" pitchFamily="34" charset="0"/>
            </a:endParaRPr>
          </a:p>
        </p:txBody>
      </p:sp>
      <p:sp>
        <p:nvSpPr>
          <p:cNvPr id="10" name="Rectangle 9"/>
          <p:cNvSpPr/>
          <p:nvPr/>
        </p:nvSpPr>
        <p:spPr>
          <a:xfrm>
            <a:off x="7620000" y="1270000"/>
            <a:ext cx="4064000" cy="14605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1" name="Rectangle 10"/>
          <p:cNvSpPr/>
          <p:nvPr/>
        </p:nvSpPr>
        <p:spPr>
          <a:xfrm>
            <a:off x="7620000" y="1270000"/>
            <a:ext cx="63500" cy="14605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2" name="ZoneTexte 11"/>
          <p:cNvSpPr txBox="1"/>
          <p:nvPr/>
        </p:nvSpPr>
        <p:spPr>
          <a:xfrm>
            <a:off x="7937500" y="1422400"/>
            <a:ext cx="3556000" cy="369332"/>
          </a:xfrm>
          <a:prstGeom prst="rect">
            <a:avLst/>
          </a:prstGeom>
          <a:noFill/>
        </p:spPr>
        <p:txBody>
          <a:bodyPr vert="horz" wrap="square" lIns="0" tIns="0" rIns="0" bIns="0" rtlCol="0">
            <a:noAutofit/>
          </a:bodyPr>
          <a:lstStyle/>
          <a:p>
            <a:r>
              <a:rPr lang="en-US" sz="3600" b="1" smtClean="0">
                <a:solidFill>
                  <a:srgbClr val="C8102E"/>
                </a:solidFill>
                <a:latin typeface="Segoe UI" panose="020B0502040204020203" pitchFamily="34" charset="0"/>
              </a:rPr>
              <a:t>0</a:t>
            </a:r>
            <a:endParaRPr lang="en-US" sz="3600" b="1">
              <a:solidFill>
                <a:srgbClr val="C8102E"/>
              </a:solidFill>
              <a:latin typeface="Segoe UI" panose="020B0502040204020203" pitchFamily="34" charset="0"/>
            </a:endParaRPr>
          </a:p>
        </p:txBody>
      </p:sp>
      <p:sp>
        <p:nvSpPr>
          <p:cNvPr id="13" name="ZoneTexte 12"/>
          <p:cNvSpPr txBox="1"/>
          <p:nvPr/>
        </p:nvSpPr>
        <p:spPr>
          <a:xfrm>
            <a:off x="7937500" y="2133600"/>
            <a:ext cx="3556000" cy="369332"/>
          </a:xfrm>
          <a:prstGeom prst="rect">
            <a:avLst/>
          </a:prstGeom>
          <a:noFill/>
        </p:spPr>
        <p:txBody>
          <a:bodyPr vert="horz" wrap="square" lIns="0" tIns="0" rIns="0" bIns="0" rtlCol="0">
            <a:noAutofit/>
          </a:bodyPr>
          <a:lstStyle/>
          <a:p>
            <a:r>
              <a:rPr lang="fr-FR" sz="1300" smtClean="0">
                <a:solidFill>
                  <a:srgbClr val="212121"/>
                </a:solidFill>
                <a:latin typeface="Segoe UI" panose="020B0502040204020203" pitchFamily="34" charset="0"/>
              </a:rPr>
              <a:t>redémarrage de Jira pour installer un plugin</a:t>
            </a:r>
            <a:endParaRPr lang="en-US" sz="1300">
              <a:solidFill>
                <a:srgbClr val="212121"/>
              </a:solidFill>
              <a:latin typeface="Segoe UI" panose="020B0502040204020203" pitchFamily="34" charset="0"/>
            </a:endParaRPr>
          </a:p>
        </p:txBody>
      </p:sp>
      <p:sp>
        <p:nvSpPr>
          <p:cNvPr id="14" name="Rectangle 13"/>
          <p:cNvSpPr/>
          <p:nvPr/>
        </p:nvSpPr>
        <p:spPr>
          <a:xfrm>
            <a:off x="7620000" y="2921000"/>
            <a:ext cx="4064000" cy="14605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5" name="Rectangle 14"/>
          <p:cNvSpPr/>
          <p:nvPr/>
        </p:nvSpPr>
        <p:spPr>
          <a:xfrm>
            <a:off x="7620000" y="2921000"/>
            <a:ext cx="63500" cy="14605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6" name="ZoneTexte 15"/>
          <p:cNvSpPr txBox="1"/>
          <p:nvPr/>
        </p:nvSpPr>
        <p:spPr>
          <a:xfrm>
            <a:off x="7937500" y="3073400"/>
            <a:ext cx="3556000" cy="369332"/>
          </a:xfrm>
          <a:prstGeom prst="rect">
            <a:avLst/>
          </a:prstGeom>
          <a:noFill/>
        </p:spPr>
        <p:txBody>
          <a:bodyPr vert="horz" wrap="square" lIns="0" tIns="0" rIns="0" bIns="0" rtlCol="0">
            <a:noAutofit/>
          </a:bodyPr>
          <a:lstStyle/>
          <a:p>
            <a:r>
              <a:rPr lang="en-US" sz="3600" b="1" smtClean="0">
                <a:solidFill>
                  <a:srgbClr val="1C1C1C"/>
                </a:solidFill>
                <a:latin typeface="Segoe UI" panose="020B0502040204020203" pitchFamily="34" charset="0"/>
              </a:rPr>
              <a:t>1</a:t>
            </a:r>
            <a:endParaRPr lang="en-US" sz="3600" b="1">
              <a:solidFill>
                <a:srgbClr val="1C1C1C"/>
              </a:solidFill>
              <a:latin typeface="Segoe UI" panose="020B0502040204020203" pitchFamily="34" charset="0"/>
            </a:endParaRPr>
          </a:p>
        </p:txBody>
      </p:sp>
      <p:sp>
        <p:nvSpPr>
          <p:cNvPr id="17" name="ZoneTexte 16"/>
          <p:cNvSpPr txBox="1"/>
          <p:nvPr/>
        </p:nvSpPr>
        <p:spPr>
          <a:xfrm>
            <a:off x="7937500" y="3784600"/>
            <a:ext cx="3556000" cy="369332"/>
          </a:xfrm>
          <a:prstGeom prst="rect">
            <a:avLst/>
          </a:prstGeom>
          <a:noFill/>
        </p:spPr>
        <p:txBody>
          <a:bodyPr vert="horz" wrap="square" lIns="0" tIns="0" rIns="0" bIns="0" rtlCol="0">
            <a:noAutofit/>
          </a:bodyPr>
          <a:lstStyle/>
          <a:p>
            <a:r>
              <a:rPr lang="fr-FR" sz="1300" smtClean="0">
                <a:solidFill>
                  <a:srgbClr val="212121"/>
                </a:solidFill>
                <a:latin typeface="Segoe UI" panose="020B0502040204020203" pitchFamily="34" charset="0"/>
              </a:rPr>
              <a:t>seul fichier .jar à livrer</a:t>
            </a:r>
            <a:endParaRPr lang="en-US" sz="1300">
              <a:solidFill>
                <a:srgbClr val="212121"/>
              </a:solidFill>
              <a:latin typeface="Segoe UI" panose="020B0502040204020203" pitchFamily="34" charset="0"/>
            </a:endParaRPr>
          </a:p>
        </p:txBody>
      </p:sp>
      <p:sp>
        <p:nvSpPr>
          <p:cNvPr id="18" name="Rectangle 17"/>
          <p:cNvSpPr/>
          <p:nvPr/>
        </p:nvSpPr>
        <p:spPr>
          <a:xfrm>
            <a:off x="7620000" y="4572000"/>
            <a:ext cx="4064000" cy="14605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9" name="Rectangle 18"/>
          <p:cNvSpPr/>
          <p:nvPr/>
        </p:nvSpPr>
        <p:spPr>
          <a:xfrm>
            <a:off x="7620000" y="4572000"/>
            <a:ext cx="63500" cy="14605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0" name="ZoneTexte 19"/>
          <p:cNvSpPr txBox="1"/>
          <p:nvPr/>
        </p:nvSpPr>
        <p:spPr>
          <a:xfrm>
            <a:off x="7937500" y="4724400"/>
            <a:ext cx="3556000" cy="369332"/>
          </a:xfrm>
          <a:prstGeom prst="rect">
            <a:avLst/>
          </a:prstGeom>
          <a:noFill/>
        </p:spPr>
        <p:txBody>
          <a:bodyPr vert="horz" wrap="square" lIns="0" tIns="0" rIns="0" bIns="0" rtlCol="0">
            <a:noAutofit/>
          </a:bodyPr>
          <a:lstStyle/>
          <a:p>
            <a:r>
              <a:rPr lang="en-US" sz="3600" b="1" smtClean="0">
                <a:solidFill>
                  <a:srgbClr val="C8102E"/>
                </a:solidFill>
                <a:latin typeface="Segoe UI" panose="020B0502040204020203" pitchFamily="34" charset="0"/>
              </a:rPr>
              <a:t>100 %</a:t>
            </a:r>
            <a:endParaRPr lang="en-US" sz="3600" b="1">
              <a:solidFill>
                <a:srgbClr val="C8102E"/>
              </a:solidFill>
              <a:latin typeface="Segoe UI" panose="020B0502040204020203" pitchFamily="34" charset="0"/>
            </a:endParaRPr>
          </a:p>
        </p:txBody>
      </p:sp>
      <p:sp>
        <p:nvSpPr>
          <p:cNvPr id="21" name="ZoneTexte 20"/>
          <p:cNvSpPr txBox="1"/>
          <p:nvPr/>
        </p:nvSpPr>
        <p:spPr>
          <a:xfrm>
            <a:off x="7937500" y="5435600"/>
            <a:ext cx="3556000" cy="369332"/>
          </a:xfrm>
          <a:prstGeom prst="rect">
            <a:avLst/>
          </a:prstGeom>
          <a:noFill/>
        </p:spPr>
        <p:txBody>
          <a:bodyPr vert="horz" wrap="square" lIns="0" tIns="0" rIns="0" bIns="0" rtlCol="0">
            <a:noAutofit/>
          </a:bodyPr>
          <a:lstStyle/>
          <a:p>
            <a:r>
              <a:rPr lang="fr-FR" sz="1300" smtClean="0">
                <a:solidFill>
                  <a:srgbClr val="212121"/>
                </a:solidFill>
                <a:latin typeface="Segoe UI" panose="020B0502040204020203" pitchFamily="34" charset="0"/>
              </a:rPr>
              <a:t>des nœuds du cluster mis à jour automatiquement</a:t>
            </a:r>
            <a:endParaRPr lang="en-US" sz="1300">
              <a:solidFill>
                <a:srgbClr val="212121"/>
              </a:solidFill>
              <a:latin typeface="Segoe UI" panose="020B0502040204020203" pitchFamily="34" charset="0"/>
            </a:endParaRPr>
          </a:p>
        </p:txBody>
      </p:sp>
    </p:spTree>
    <p:extLst>
      <p:ext uri="{BB962C8B-B14F-4D97-AF65-F5344CB8AC3E}">
        <p14:creationId xmlns:p14="http://schemas.microsoft.com/office/powerpoint/2010/main" val="4520477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C8102E"/>
                </a:solidFill>
                <a:latin typeface="Segoe UI" panose="020B0502040204020203" pitchFamily="34" charset="0"/>
              </a:rPr>
              <a:t>01 · COMPRENDRE</a:t>
            </a:r>
            <a:endParaRPr lang="en-US" sz="1000" b="1">
              <a:solidFill>
                <a:srgbClr val="C8102E"/>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en-US" sz="2400" b="1" smtClean="0">
                <a:solidFill>
                  <a:srgbClr val="212121"/>
                </a:solidFill>
                <a:latin typeface="Segoe UI" panose="020B0502040204020203" pitchFamily="34" charset="0"/>
              </a:rPr>
              <a:t>Qu'est-ce qu'un plugin Jira ?</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4</a:t>
            </a:r>
            <a:endParaRPr lang="en-US" sz="900">
              <a:solidFill>
                <a:srgbClr val="6E6E6E"/>
              </a:solidFill>
              <a:latin typeface="Segoe UI" panose="020B0502040204020203" pitchFamily="34" charset="0"/>
            </a:endParaRPr>
          </a:p>
        </p:txBody>
      </p:sp>
      <p:sp>
        <p:nvSpPr>
          <p:cNvPr id="9" name="ZoneTexte 8"/>
          <p:cNvSpPr txBox="1"/>
          <p:nvPr/>
        </p:nvSpPr>
        <p:spPr>
          <a:xfrm>
            <a:off x="508000" y="1270000"/>
            <a:ext cx="5461000" cy="369332"/>
          </a:xfrm>
          <a:prstGeom prst="rect">
            <a:avLst/>
          </a:prstGeom>
          <a:noFill/>
        </p:spPr>
        <p:txBody>
          <a:bodyPr vert="horz" wrap="square" lIns="0" tIns="0" rIns="0" bIns="0" rtlCol="0">
            <a:noAutofit/>
          </a:bodyPr>
          <a:lstStyle/>
          <a:p>
            <a:pPr marL="482600" indent="-203200">
              <a:spcAft>
                <a:spcPts val="800"/>
              </a:spcAft>
              <a:buClr>
                <a:srgbClr val="C8102E"/>
              </a:buClr>
              <a:buSzPct val="70000"/>
              <a:buFont typeface="Arial" panose="020B0604020202020204" pitchFamily="34" charset="0"/>
              <a:buChar char="■"/>
            </a:pPr>
            <a:r>
              <a:rPr lang="en-US" sz="1500" b="1" smtClean="0">
                <a:solidFill>
                  <a:srgbClr val="212121"/>
                </a:solidFill>
                <a:latin typeface="Segoe UI" panose="020B0502040204020203" pitchFamily="34" charset="0"/>
              </a:rPr>
              <a:t>Plugin (ou « app »)</a:t>
            </a:r>
            <a:r>
              <a:rPr lang="en-US" sz="1500" smtClean="0">
                <a:solidFill>
                  <a:srgbClr val="212121"/>
                </a:solidFill>
                <a:latin typeface="Segoe UI" panose="020B0502040204020203" pitchFamily="34" charset="0"/>
              </a:rPr>
              <a:t> : archive .jar qui étend Jira sans modifier son code source</a:t>
            </a:r>
          </a:p>
          <a:p>
            <a:pPr marL="482600" indent="-203200">
              <a:spcAft>
                <a:spcPts val="800"/>
              </a:spcAft>
              <a:buClr>
                <a:srgbClr val="C8102E"/>
              </a:buClr>
              <a:buSzPct val="70000"/>
              <a:buFont typeface="Arial" panose="020B0604020202020204" pitchFamily="34" charset="0"/>
              <a:buChar char="■"/>
            </a:pPr>
            <a:r>
              <a:rPr lang="en-US" sz="1500" b="1" smtClean="0">
                <a:solidFill>
                  <a:srgbClr val="212121"/>
                </a:solidFill>
                <a:latin typeface="Segoe UI" panose="020B0502040204020203" pitchFamily="34" charset="0"/>
              </a:rPr>
              <a:t>Technologies</a:t>
            </a:r>
            <a:r>
              <a:rPr lang="en-US" sz="1500" smtClean="0">
                <a:solidFill>
                  <a:srgbClr val="212121"/>
                </a:solidFill>
                <a:latin typeface="Segoe UI" panose="020B0502040204020203" pitchFamily="34" charset="0"/>
              </a:rPr>
              <a:t> : Java côté serveur, JavaScript / CSS côté navigateur</a:t>
            </a:r>
          </a:p>
          <a:p>
            <a:pPr marL="482600" indent="-203200">
              <a:spcAft>
                <a:spcPts val="800"/>
              </a:spcAft>
              <a:buClr>
                <a:srgbClr val="C8102E"/>
              </a:buClr>
              <a:buSzPct val="70000"/>
              <a:buFont typeface="Arial" panose="020B0604020202020204" pitchFamily="34" charset="0"/>
              <a:buChar char="■"/>
            </a:pPr>
            <a:r>
              <a:rPr lang="en-US" sz="1500" b="1" smtClean="0">
                <a:solidFill>
                  <a:srgbClr val="212121"/>
                </a:solidFill>
                <a:latin typeface="Segoe UI" panose="020B0502040204020203" pitchFamily="34" charset="0"/>
              </a:rPr>
              <a:t>Framework</a:t>
            </a:r>
            <a:r>
              <a:rPr lang="en-US" sz="1500" smtClean="0">
                <a:solidFill>
                  <a:srgbClr val="212121"/>
                </a:solidFill>
                <a:latin typeface="Segoe UI" panose="020B0502040204020203" pitchFamily="34" charset="0"/>
              </a:rPr>
              <a:t> : Atlassian Plugins 2 (bundle OSGi + Spring)</a:t>
            </a:r>
          </a:p>
          <a:p>
            <a:pPr marL="482600" indent="-203200">
              <a:spcAft>
                <a:spcPts val="800"/>
              </a:spcAft>
              <a:buClr>
                <a:srgbClr val="C8102E"/>
              </a:buClr>
              <a:buSzPct val="70000"/>
              <a:buFont typeface="Arial" panose="020B0604020202020204" pitchFamily="34" charset="0"/>
              <a:buChar char="■"/>
            </a:pPr>
            <a:r>
              <a:rPr lang="en-US" sz="1500" b="1" smtClean="0">
                <a:solidFill>
                  <a:srgbClr val="212121"/>
                </a:solidFill>
                <a:latin typeface="Segoe UI" panose="020B0502040204020203" pitchFamily="34" charset="0"/>
              </a:rPr>
              <a:t>Installation</a:t>
            </a:r>
            <a:r>
              <a:rPr lang="en-US" sz="1500" smtClean="0">
                <a:solidFill>
                  <a:srgbClr val="212121"/>
                </a:solidFill>
                <a:latin typeface="Segoe UI" panose="020B0502040204020203" pitchFamily="34" charset="0"/>
              </a:rPr>
              <a:t> : via l'UPM, menu « Gérer les applications »</a:t>
            </a:r>
          </a:p>
          <a:p>
            <a:pPr marL="482600" indent="-203200">
              <a:spcAft>
                <a:spcPts val="800"/>
              </a:spcAft>
              <a:buClr>
                <a:srgbClr val="C8102E"/>
              </a:buClr>
              <a:buSzPct val="70000"/>
              <a:buFont typeface="Arial" panose="020B0604020202020204" pitchFamily="34" charset="0"/>
              <a:buChar char="■"/>
            </a:pPr>
            <a:r>
              <a:rPr lang="en-US" sz="1500" b="1" smtClean="0">
                <a:solidFill>
                  <a:srgbClr val="212121"/>
                </a:solidFill>
                <a:latin typeface="Segoe UI" panose="020B0502040204020203" pitchFamily="34" charset="0"/>
              </a:rPr>
              <a:t>Cycle de vie</a:t>
            </a:r>
            <a:r>
              <a:rPr lang="en-US" sz="1500" smtClean="0">
                <a:solidFill>
                  <a:srgbClr val="212121"/>
                </a:solidFill>
                <a:latin typeface="Segoe UI" panose="020B0502040204020203" pitchFamily="34" charset="0"/>
              </a:rPr>
              <a:t> : activation, désactivation et mise à jour à chaud</a:t>
            </a:r>
            <a:endParaRPr lang="en-US" sz="1500">
              <a:solidFill>
                <a:srgbClr val="212121"/>
              </a:solidFill>
              <a:latin typeface="Segoe UI" panose="020B0502040204020203" pitchFamily="34" charset="0"/>
            </a:endParaRPr>
          </a:p>
        </p:txBody>
      </p:sp>
      <p:sp>
        <p:nvSpPr>
          <p:cNvPr id="10" name="ZoneTexte 9"/>
          <p:cNvSpPr txBox="1"/>
          <p:nvPr/>
        </p:nvSpPr>
        <p:spPr>
          <a:xfrm>
            <a:off x="6350000" y="1041400"/>
            <a:ext cx="5334000" cy="369332"/>
          </a:xfrm>
          <a:prstGeom prst="rect">
            <a:avLst/>
          </a:prstGeom>
          <a:noFill/>
        </p:spPr>
        <p:txBody>
          <a:bodyPr vert="horz" wrap="square" lIns="0" tIns="0" rIns="0" bIns="0" rtlCol="0">
            <a:noAutofit/>
          </a:bodyPr>
          <a:lstStyle/>
          <a:p>
            <a:r>
              <a:rPr lang="fr-FR" sz="1100" b="1" smtClean="0">
                <a:solidFill>
                  <a:srgbClr val="6E6E6E"/>
                </a:solidFill>
                <a:latin typeface="Segoe UI" panose="020B0502040204020203" pitchFamily="34" charset="0"/>
              </a:rPr>
              <a:t>Ce qu'un plugin peut apporter</a:t>
            </a:r>
            <a:endParaRPr lang="en-US" sz="1100" b="1">
              <a:solidFill>
                <a:srgbClr val="6E6E6E"/>
              </a:solidFill>
              <a:latin typeface="Segoe UI" panose="020B0502040204020203" pitchFamily="34" charset="0"/>
            </a:endParaRPr>
          </a:p>
        </p:txBody>
      </p:sp>
      <p:sp>
        <p:nvSpPr>
          <p:cNvPr id="11" name="Rectangle 10"/>
          <p:cNvSpPr/>
          <p:nvPr/>
        </p:nvSpPr>
        <p:spPr>
          <a:xfrm>
            <a:off x="6350000" y="1346200"/>
            <a:ext cx="2603500" cy="22860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2" name="Rectangle 11"/>
          <p:cNvSpPr/>
          <p:nvPr/>
        </p:nvSpPr>
        <p:spPr>
          <a:xfrm>
            <a:off x="6350000" y="1346200"/>
            <a:ext cx="2603500" cy="762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3" name="ZoneTexte 12"/>
          <p:cNvSpPr txBox="1"/>
          <p:nvPr/>
        </p:nvSpPr>
        <p:spPr>
          <a:xfrm>
            <a:off x="6553200" y="1625600"/>
            <a:ext cx="2222500" cy="369332"/>
          </a:xfrm>
          <a:prstGeom prst="rect">
            <a:avLst/>
          </a:prstGeom>
          <a:noFill/>
        </p:spPr>
        <p:txBody>
          <a:bodyPr vert="horz" wrap="square" lIns="0" tIns="0" rIns="0" bIns="0" rtlCol="0">
            <a:noAutofit/>
          </a:bodyPr>
          <a:lstStyle/>
          <a:p>
            <a:r>
              <a:rPr lang="en-US" sz="1700" b="1" smtClean="0">
                <a:solidFill>
                  <a:srgbClr val="C8102E"/>
                </a:solidFill>
                <a:latin typeface="Segoe UI" panose="020B0502040204020203" pitchFamily="34" charset="0"/>
              </a:rPr>
              <a:t>Interface</a:t>
            </a:r>
            <a:endParaRPr lang="en-US" sz="1700" b="1">
              <a:solidFill>
                <a:srgbClr val="C8102E"/>
              </a:solidFill>
              <a:latin typeface="Segoe UI" panose="020B0502040204020203" pitchFamily="34" charset="0"/>
            </a:endParaRPr>
          </a:p>
        </p:txBody>
      </p:sp>
      <p:sp>
        <p:nvSpPr>
          <p:cNvPr id="14" name="ZoneTexte 13"/>
          <p:cNvSpPr txBox="1"/>
          <p:nvPr/>
        </p:nvSpPr>
        <p:spPr>
          <a:xfrm>
            <a:off x="6553200" y="2057400"/>
            <a:ext cx="2222500" cy="369332"/>
          </a:xfrm>
          <a:prstGeom prst="rect">
            <a:avLst/>
          </a:prstGeom>
          <a:noFill/>
        </p:spPr>
        <p:txBody>
          <a:bodyPr vert="horz" wrap="square" lIns="0" tIns="0" rIns="0" bIns="0" rtlCol="0">
            <a:noAutofit/>
          </a:bodyPr>
          <a:lstStyle/>
          <a:p>
            <a:r>
              <a:rPr lang="fr-FR" sz="1300" smtClean="0">
                <a:solidFill>
                  <a:srgbClr val="212121"/>
                </a:solidFill>
                <a:latin typeface="Segoe UI" panose="020B0502040204020203" pitchFamily="34" charset="0"/>
              </a:rPr>
              <a:t>Boutons, menus, panneaux sur les tickets, pages dédiées.</a:t>
            </a:r>
            <a:endParaRPr lang="en-US" sz="1300">
              <a:solidFill>
                <a:srgbClr val="212121"/>
              </a:solidFill>
              <a:latin typeface="Segoe UI" panose="020B0502040204020203" pitchFamily="34" charset="0"/>
            </a:endParaRPr>
          </a:p>
        </p:txBody>
      </p:sp>
      <p:sp>
        <p:nvSpPr>
          <p:cNvPr id="15" name="Rectangle 14"/>
          <p:cNvSpPr/>
          <p:nvPr/>
        </p:nvSpPr>
        <p:spPr>
          <a:xfrm>
            <a:off x="9080500" y="1346200"/>
            <a:ext cx="2603500" cy="22860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6" name="Rectangle 15"/>
          <p:cNvSpPr/>
          <p:nvPr/>
        </p:nvSpPr>
        <p:spPr>
          <a:xfrm>
            <a:off x="9080500" y="1346200"/>
            <a:ext cx="2603500" cy="762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7" name="ZoneTexte 16"/>
          <p:cNvSpPr txBox="1"/>
          <p:nvPr/>
        </p:nvSpPr>
        <p:spPr>
          <a:xfrm>
            <a:off x="9283700" y="1625600"/>
            <a:ext cx="2222500" cy="369332"/>
          </a:xfrm>
          <a:prstGeom prst="rect">
            <a:avLst/>
          </a:prstGeom>
          <a:noFill/>
        </p:spPr>
        <p:txBody>
          <a:bodyPr vert="horz" wrap="square" lIns="0" tIns="0" rIns="0" bIns="0" rtlCol="0">
            <a:noAutofit/>
          </a:bodyPr>
          <a:lstStyle/>
          <a:p>
            <a:r>
              <a:rPr lang="en-US" sz="1700" b="1" smtClean="0">
                <a:solidFill>
                  <a:srgbClr val="1C1C1C"/>
                </a:solidFill>
                <a:latin typeface="Segoe UI" panose="020B0502040204020203" pitchFamily="34" charset="0"/>
              </a:rPr>
              <a:t>Workflows</a:t>
            </a:r>
            <a:endParaRPr lang="en-US" sz="1700" b="1">
              <a:solidFill>
                <a:srgbClr val="1C1C1C"/>
              </a:solidFill>
              <a:latin typeface="Segoe UI" panose="020B0502040204020203" pitchFamily="34" charset="0"/>
            </a:endParaRPr>
          </a:p>
        </p:txBody>
      </p:sp>
      <p:sp>
        <p:nvSpPr>
          <p:cNvPr id="18" name="ZoneTexte 17"/>
          <p:cNvSpPr txBox="1"/>
          <p:nvPr/>
        </p:nvSpPr>
        <p:spPr>
          <a:xfrm>
            <a:off x="9283700" y="2057400"/>
            <a:ext cx="2222500" cy="369332"/>
          </a:xfrm>
          <a:prstGeom prst="rect">
            <a:avLst/>
          </a:prstGeom>
          <a:noFill/>
        </p:spPr>
        <p:txBody>
          <a:bodyPr vert="horz" wrap="square" lIns="0" tIns="0" rIns="0" bIns="0" rtlCol="0">
            <a:noAutofit/>
          </a:bodyPr>
          <a:lstStyle/>
          <a:p>
            <a:r>
              <a:rPr lang="fr-FR" sz="1300" smtClean="0">
                <a:solidFill>
                  <a:srgbClr val="212121"/>
                </a:solidFill>
                <a:latin typeface="Segoe UI" panose="020B0502040204020203" pitchFamily="34" charset="0"/>
              </a:rPr>
              <a:t>Conditions, validateurs et post-fonctions sur les transitions.</a:t>
            </a:r>
            <a:endParaRPr lang="en-US" sz="1300">
              <a:solidFill>
                <a:srgbClr val="212121"/>
              </a:solidFill>
              <a:latin typeface="Segoe UI" panose="020B0502040204020203" pitchFamily="34" charset="0"/>
            </a:endParaRPr>
          </a:p>
        </p:txBody>
      </p:sp>
      <p:sp>
        <p:nvSpPr>
          <p:cNvPr id="19" name="Rectangle 18"/>
          <p:cNvSpPr/>
          <p:nvPr/>
        </p:nvSpPr>
        <p:spPr>
          <a:xfrm>
            <a:off x="6350000" y="3822700"/>
            <a:ext cx="2603500" cy="22860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0" name="Rectangle 19"/>
          <p:cNvSpPr/>
          <p:nvPr/>
        </p:nvSpPr>
        <p:spPr>
          <a:xfrm>
            <a:off x="6350000" y="3822700"/>
            <a:ext cx="2603500" cy="762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1" name="ZoneTexte 20"/>
          <p:cNvSpPr txBox="1"/>
          <p:nvPr/>
        </p:nvSpPr>
        <p:spPr>
          <a:xfrm>
            <a:off x="6553200" y="4102100"/>
            <a:ext cx="2222500" cy="369332"/>
          </a:xfrm>
          <a:prstGeom prst="rect">
            <a:avLst/>
          </a:prstGeom>
          <a:noFill/>
        </p:spPr>
        <p:txBody>
          <a:bodyPr vert="horz" wrap="square" lIns="0" tIns="0" rIns="0" bIns="0" rtlCol="0">
            <a:noAutofit/>
          </a:bodyPr>
          <a:lstStyle/>
          <a:p>
            <a:r>
              <a:rPr lang="en-US" sz="1700" b="1" smtClean="0">
                <a:solidFill>
                  <a:srgbClr val="1C1C1C"/>
                </a:solidFill>
                <a:latin typeface="Segoe UI" panose="020B0502040204020203" pitchFamily="34" charset="0"/>
              </a:rPr>
              <a:t>Données</a:t>
            </a:r>
            <a:endParaRPr lang="en-US" sz="1700" b="1">
              <a:solidFill>
                <a:srgbClr val="1C1C1C"/>
              </a:solidFill>
              <a:latin typeface="Segoe UI" panose="020B0502040204020203" pitchFamily="34" charset="0"/>
            </a:endParaRPr>
          </a:p>
        </p:txBody>
      </p:sp>
      <p:sp>
        <p:nvSpPr>
          <p:cNvPr id="22" name="ZoneTexte 21"/>
          <p:cNvSpPr txBox="1"/>
          <p:nvPr/>
        </p:nvSpPr>
        <p:spPr>
          <a:xfrm>
            <a:off x="6553200" y="4533900"/>
            <a:ext cx="2222500" cy="369332"/>
          </a:xfrm>
          <a:prstGeom prst="rect">
            <a:avLst/>
          </a:prstGeom>
          <a:noFill/>
        </p:spPr>
        <p:txBody>
          <a:bodyPr vert="horz" wrap="square" lIns="0" tIns="0" rIns="0" bIns="0" rtlCol="0">
            <a:noAutofit/>
          </a:bodyPr>
          <a:lstStyle/>
          <a:p>
            <a:r>
              <a:rPr lang="fr-FR" sz="1300" smtClean="0">
                <a:solidFill>
                  <a:srgbClr val="212121"/>
                </a:solidFill>
                <a:latin typeface="Segoe UI" panose="020B0502040204020203" pitchFamily="34" charset="0"/>
              </a:rPr>
              <a:t>Champs personnalisés, stockage dédié (Active Objects).</a:t>
            </a:r>
            <a:endParaRPr lang="en-US" sz="1300">
              <a:solidFill>
                <a:srgbClr val="212121"/>
              </a:solidFill>
              <a:latin typeface="Segoe UI" panose="020B0502040204020203" pitchFamily="34" charset="0"/>
            </a:endParaRPr>
          </a:p>
        </p:txBody>
      </p:sp>
      <p:sp>
        <p:nvSpPr>
          <p:cNvPr id="23" name="Rectangle 22"/>
          <p:cNvSpPr/>
          <p:nvPr/>
        </p:nvSpPr>
        <p:spPr>
          <a:xfrm>
            <a:off x="9080500" y="3822700"/>
            <a:ext cx="2603500" cy="22860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4" name="Rectangle 23"/>
          <p:cNvSpPr/>
          <p:nvPr/>
        </p:nvSpPr>
        <p:spPr>
          <a:xfrm>
            <a:off x="9080500" y="3822700"/>
            <a:ext cx="2603500" cy="762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5" name="ZoneTexte 24"/>
          <p:cNvSpPr txBox="1"/>
          <p:nvPr/>
        </p:nvSpPr>
        <p:spPr>
          <a:xfrm>
            <a:off x="9283700" y="4102100"/>
            <a:ext cx="2222500" cy="369332"/>
          </a:xfrm>
          <a:prstGeom prst="rect">
            <a:avLst/>
          </a:prstGeom>
          <a:noFill/>
        </p:spPr>
        <p:txBody>
          <a:bodyPr vert="horz" wrap="square" lIns="0" tIns="0" rIns="0" bIns="0" rtlCol="0">
            <a:noAutofit/>
          </a:bodyPr>
          <a:lstStyle/>
          <a:p>
            <a:r>
              <a:rPr lang="en-US" sz="1700" b="1" smtClean="0">
                <a:solidFill>
                  <a:srgbClr val="C8102E"/>
                </a:solidFill>
                <a:latin typeface="Segoe UI" panose="020B0502040204020203" pitchFamily="34" charset="0"/>
              </a:rPr>
              <a:t>Intégration</a:t>
            </a:r>
            <a:endParaRPr lang="en-US" sz="1700" b="1">
              <a:solidFill>
                <a:srgbClr val="C8102E"/>
              </a:solidFill>
              <a:latin typeface="Segoe UI" panose="020B0502040204020203" pitchFamily="34" charset="0"/>
            </a:endParaRPr>
          </a:p>
        </p:txBody>
      </p:sp>
      <p:sp>
        <p:nvSpPr>
          <p:cNvPr id="26" name="ZoneTexte 25"/>
          <p:cNvSpPr txBox="1"/>
          <p:nvPr/>
        </p:nvSpPr>
        <p:spPr>
          <a:xfrm>
            <a:off x="9283700" y="4533900"/>
            <a:ext cx="2222500" cy="369332"/>
          </a:xfrm>
          <a:prstGeom prst="rect">
            <a:avLst/>
          </a:prstGeom>
          <a:noFill/>
        </p:spPr>
        <p:txBody>
          <a:bodyPr vert="horz" wrap="square" lIns="0" tIns="0" rIns="0" bIns="0" rtlCol="0">
            <a:noAutofit/>
          </a:bodyPr>
          <a:lstStyle/>
          <a:p>
            <a:r>
              <a:rPr lang="fr-FR" sz="1300" smtClean="0">
                <a:solidFill>
                  <a:srgbClr val="212121"/>
                </a:solidFill>
                <a:latin typeface="Segoe UI" panose="020B0502040204020203" pitchFamily="34" charset="0"/>
              </a:rPr>
              <a:t>API REST, écoute d'événements, tâches planifiées, systèmes tiers.</a:t>
            </a:r>
            <a:endParaRPr lang="en-US" sz="1300">
              <a:solidFill>
                <a:srgbClr val="212121"/>
              </a:solidFill>
              <a:latin typeface="Segoe UI" panose="020B0502040204020203" pitchFamily="34" charset="0"/>
            </a:endParaRPr>
          </a:p>
        </p:txBody>
      </p:sp>
    </p:spTree>
    <p:extLst>
      <p:ext uri="{BB962C8B-B14F-4D97-AF65-F5344CB8AC3E}">
        <p14:creationId xmlns:p14="http://schemas.microsoft.com/office/powerpoint/2010/main" val="11047753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C8102E"/>
                </a:solidFill>
                <a:latin typeface="Segoe UI" panose="020B0502040204020203" pitchFamily="34" charset="0"/>
              </a:rPr>
              <a:t>01 · COMPRENDRE</a:t>
            </a:r>
            <a:endParaRPr lang="en-US" sz="1000" b="1">
              <a:solidFill>
                <a:srgbClr val="C8102E"/>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en-US" sz="2400" b="1" smtClean="0">
                <a:solidFill>
                  <a:srgbClr val="212121"/>
                </a:solidFill>
                <a:latin typeface="Segoe UI" panose="020B0502040204020203" pitchFamily="34" charset="0"/>
              </a:rPr>
              <a:t>Architecture de Jira Data Center</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5</a:t>
            </a:r>
            <a:endParaRPr lang="en-US" sz="900">
              <a:solidFill>
                <a:srgbClr val="6E6E6E"/>
              </a:solidFill>
              <a:latin typeface="Segoe UI" panose="020B0502040204020203" pitchFamily="34" charset="0"/>
            </a:endParaRPr>
          </a:p>
        </p:txBody>
      </p:sp>
      <p:sp>
        <p:nvSpPr>
          <p:cNvPr id="9" name="Rectangle 8"/>
          <p:cNvSpPr/>
          <p:nvPr/>
        </p:nvSpPr>
        <p:spPr>
          <a:xfrm>
            <a:off x="508000" y="1219200"/>
            <a:ext cx="6096000" cy="533400"/>
          </a:xfrm>
          <a:prstGeom prst="rect">
            <a:avLst/>
          </a:prstGeom>
          <a:solidFill>
            <a:srgbClr val="F2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212121"/>
                </a:solidFill>
                <a:latin typeface="Segoe UI" panose="020B0502040204020203" pitchFamily="34" charset="0"/>
              </a:rPr>
              <a:t>Navigateur : HTML · JavaScript · AUI</a:t>
            </a:r>
            <a:endParaRPr lang="en-US" sz="1300" b="1">
              <a:solidFill>
                <a:srgbClr val="212121"/>
              </a:solidFill>
              <a:latin typeface="Segoe UI" panose="020B0502040204020203" pitchFamily="34" charset="0"/>
            </a:endParaRPr>
          </a:p>
        </p:txBody>
      </p:sp>
      <p:sp>
        <p:nvSpPr>
          <p:cNvPr id="10" name="Rectangle 9"/>
          <p:cNvSpPr/>
          <p:nvPr/>
        </p:nvSpPr>
        <p:spPr>
          <a:xfrm>
            <a:off x="508000" y="1854200"/>
            <a:ext cx="6096000" cy="533400"/>
          </a:xfrm>
          <a:prstGeom prst="rect">
            <a:avLst/>
          </a:prstGeom>
          <a:solidFill>
            <a:srgbClr val="D7D7D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fr-FR" sz="1300" b="1" smtClean="0">
                <a:solidFill>
                  <a:srgbClr val="212121"/>
                </a:solidFill>
                <a:latin typeface="Segoe UI" panose="020B0502040204020203" pitchFamily="34" charset="0"/>
              </a:rPr>
              <a:t>Apache Tomcat : serveur d'applications Java (Servlets)</a:t>
            </a:r>
            <a:endParaRPr lang="en-US" sz="1300" b="1">
              <a:solidFill>
                <a:srgbClr val="212121"/>
              </a:solidFill>
              <a:latin typeface="Segoe UI" panose="020B0502040204020203" pitchFamily="34" charset="0"/>
            </a:endParaRPr>
          </a:p>
        </p:txBody>
      </p:sp>
      <p:sp>
        <p:nvSpPr>
          <p:cNvPr id="11" name="Rectangle 10"/>
          <p:cNvSpPr/>
          <p:nvPr/>
        </p:nvSpPr>
        <p:spPr>
          <a:xfrm>
            <a:off x="508000" y="2489200"/>
            <a:ext cx="6096000" cy="20066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2" name="ZoneTexte 11"/>
          <p:cNvSpPr txBox="1"/>
          <p:nvPr/>
        </p:nvSpPr>
        <p:spPr>
          <a:xfrm>
            <a:off x="711200" y="2578100"/>
            <a:ext cx="3810000" cy="369332"/>
          </a:xfrm>
          <a:prstGeom prst="rect">
            <a:avLst/>
          </a:prstGeom>
          <a:noFill/>
        </p:spPr>
        <p:txBody>
          <a:bodyPr vert="horz" wrap="square" lIns="0" tIns="0" rIns="0" bIns="0" rtlCol="0">
            <a:noAutofit/>
          </a:bodyPr>
          <a:lstStyle/>
          <a:p>
            <a:r>
              <a:rPr lang="en-US" sz="1200" b="1" smtClean="0">
                <a:solidFill>
                  <a:srgbClr val="FFFFFF"/>
                </a:solidFill>
                <a:latin typeface="Segoe UI" panose="020B0502040204020203" pitchFamily="34" charset="0"/>
              </a:rPr>
              <a:t>Application Jira (Java)</a:t>
            </a:r>
            <a:endParaRPr lang="en-US" sz="1200" b="1">
              <a:solidFill>
                <a:srgbClr val="FFFFFF"/>
              </a:solidFill>
              <a:latin typeface="Segoe UI" panose="020B0502040204020203" pitchFamily="34" charset="0"/>
            </a:endParaRPr>
          </a:p>
        </p:txBody>
      </p:sp>
      <p:sp>
        <p:nvSpPr>
          <p:cNvPr id="13" name="Rectangle 12"/>
          <p:cNvSpPr/>
          <p:nvPr/>
        </p:nvSpPr>
        <p:spPr>
          <a:xfrm>
            <a:off x="711200" y="2895600"/>
            <a:ext cx="2743200" cy="711200"/>
          </a:xfrm>
          <a:prstGeom prst="rect">
            <a:avLst/>
          </a:prstGeom>
          <a:solidFill>
            <a:srgbClr val="870A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250" b="1" smtClean="0">
                <a:solidFill>
                  <a:srgbClr val="FFFFFF"/>
                </a:solidFill>
                <a:latin typeface="Segoe UI" panose="020B0502040204020203" pitchFamily="34" charset="0"/>
              </a:rPr>
              <a:t>Spring</a:t>
            </a:r>
          </a:p>
          <a:p>
            <a:pPr algn="ctr"/>
            <a:r>
              <a:rPr lang="en-US" sz="1250" b="1" smtClean="0">
                <a:solidFill>
                  <a:srgbClr val="FFFFFF"/>
                </a:solidFill>
                <a:latin typeface="Segoe UI" panose="020B0502040204020203" pitchFamily="34" charset="0"/>
              </a:rPr>
              <a:t>composants &amp; injection</a:t>
            </a:r>
            <a:endParaRPr lang="en-US" sz="1250" b="1">
              <a:solidFill>
                <a:srgbClr val="FFFFFF"/>
              </a:solidFill>
              <a:latin typeface="Segoe UI" panose="020B0502040204020203" pitchFamily="34" charset="0"/>
            </a:endParaRPr>
          </a:p>
        </p:txBody>
      </p:sp>
      <p:sp>
        <p:nvSpPr>
          <p:cNvPr id="14" name="Rectangle 13"/>
          <p:cNvSpPr/>
          <p:nvPr/>
        </p:nvSpPr>
        <p:spPr>
          <a:xfrm>
            <a:off x="3657600" y="2895600"/>
            <a:ext cx="2743200" cy="711200"/>
          </a:xfrm>
          <a:prstGeom prst="rect">
            <a:avLst/>
          </a:prstGeom>
          <a:solidFill>
            <a:srgbClr val="870A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250" b="1" smtClean="0">
                <a:solidFill>
                  <a:srgbClr val="FFFFFF"/>
                </a:solidFill>
                <a:latin typeface="Segoe UI" panose="020B0502040204020203" pitchFamily="34" charset="0"/>
              </a:rPr>
              <a:t>OSGi (Apache Felix)</a:t>
            </a:r>
          </a:p>
          <a:p>
            <a:pPr algn="ctr"/>
            <a:r>
              <a:rPr lang="en-US" sz="1250" b="1" smtClean="0">
                <a:solidFill>
                  <a:srgbClr val="FFFFFF"/>
                </a:solidFill>
                <a:latin typeface="Segoe UI" panose="020B0502040204020203" pitchFamily="34" charset="0"/>
              </a:rPr>
              <a:t>conteneur de NOS plugins</a:t>
            </a:r>
            <a:endParaRPr lang="en-US" sz="1250" b="1">
              <a:solidFill>
                <a:srgbClr val="FFFFFF"/>
              </a:solidFill>
              <a:latin typeface="Segoe UI" panose="020B0502040204020203" pitchFamily="34" charset="0"/>
            </a:endParaRPr>
          </a:p>
        </p:txBody>
      </p:sp>
      <p:sp>
        <p:nvSpPr>
          <p:cNvPr id="15" name="Rectangle 14"/>
          <p:cNvSpPr/>
          <p:nvPr/>
        </p:nvSpPr>
        <p:spPr>
          <a:xfrm>
            <a:off x="711200" y="3708400"/>
            <a:ext cx="5689600" cy="635000"/>
          </a:xfrm>
          <a:prstGeom prst="rect">
            <a:avLst/>
          </a:prstGeom>
          <a:solidFill>
            <a:srgbClr val="870A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fr-FR" sz="1250" b="1" smtClean="0">
                <a:solidFill>
                  <a:srgbClr val="FFFFFF"/>
                </a:solidFill>
                <a:latin typeface="Segoe UI" panose="020B0502040204020203" pitchFamily="34" charset="0"/>
              </a:rPr>
              <a:t>API Jira : tickets, workflows, utilisateurs, événements</a:t>
            </a:r>
            <a:endParaRPr lang="en-US" sz="1250" b="1">
              <a:solidFill>
                <a:srgbClr val="FFFFFF"/>
              </a:solidFill>
              <a:latin typeface="Segoe UI" panose="020B0502040204020203" pitchFamily="34" charset="0"/>
            </a:endParaRPr>
          </a:p>
        </p:txBody>
      </p:sp>
      <p:sp>
        <p:nvSpPr>
          <p:cNvPr id="16" name="Rectangle 15"/>
          <p:cNvSpPr/>
          <p:nvPr/>
        </p:nvSpPr>
        <p:spPr>
          <a:xfrm>
            <a:off x="508000" y="4597400"/>
            <a:ext cx="6096000" cy="5334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fr-FR" sz="1300" b="1" smtClean="0">
                <a:solidFill>
                  <a:srgbClr val="FFFFFF"/>
                </a:solidFill>
                <a:latin typeface="Segoe UI" panose="020B0502040204020203" pitchFamily="34" charset="0"/>
              </a:rPr>
              <a:t>Base de données : PostgreSQL · Oracle · SQL Server</a:t>
            </a:r>
            <a:endParaRPr lang="en-US" sz="1300" b="1">
              <a:solidFill>
                <a:srgbClr val="FFFFFF"/>
              </a:solidFill>
              <a:latin typeface="Segoe UI" panose="020B0502040204020203" pitchFamily="34" charset="0"/>
            </a:endParaRPr>
          </a:p>
        </p:txBody>
      </p:sp>
      <p:sp>
        <p:nvSpPr>
          <p:cNvPr id="17" name="Rectangle 16"/>
          <p:cNvSpPr/>
          <p:nvPr/>
        </p:nvSpPr>
        <p:spPr>
          <a:xfrm>
            <a:off x="508000" y="5232400"/>
            <a:ext cx="6096000" cy="533400"/>
          </a:xfrm>
          <a:prstGeom prst="rect">
            <a:avLst/>
          </a:prstGeom>
          <a:solidFill>
            <a:srgbClr val="4B4B4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fr-FR" sz="1300" b="1" smtClean="0">
                <a:solidFill>
                  <a:srgbClr val="FFFFFF"/>
                </a:solidFill>
                <a:latin typeface="Segoe UI" panose="020B0502040204020203" pitchFamily="34" charset="0"/>
              </a:rPr>
              <a:t>Shared home : pièces jointes, plugins, fichiers partagés</a:t>
            </a:r>
            <a:endParaRPr lang="en-US" sz="1300" b="1">
              <a:solidFill>
                <a:srgbClr val="FFFFFF"/>
              </a:solidFill>
              <a:latin typeface="Segoe UI" panose="020B0502040204020203" pitchFamily="34" charset="0"/>
            </a:endParaRPr>
          </a:p>
        </p:txBody>
      </p:sp>
      <p:sp>
        <p:nvSpPr>
          <p:cNvPr id="18" name="ZoneTexte 17"/>
          <p:cNvSpPr txBox="1"/>
          <p:nvPr/>
        </p:nvSpPr>
        <p:spPr>
          <a:xfrm>
            <a:off x="6985000" y="1270000"/>
            <a:ext cx="4699000" cy="369332"/>
          </a:xfrm>
          <a:prstGeom prst="rect">
            <a:avLst/>
          </a:prstGeom>
          <a:noFill/>
        </p:spPr>
        <p:txBody>
          <a:bodyPr vert="horz" wrap="square" lIns="0" tIns="0" rIns="0" bIns="0" rtlCol="0">
            <a:noAutofit/>
          </a:bodyPr>
          <a:lstStyle/>
          <a:p>
            <a:pPr marL="482600" indent="-203200">
              <a:spcAft>
                <a:spcPts val="800"/>
              </a:spcAft>
              <a:buClr>
                <a:srgbClr val="C8102E"/>
              </a:buClr>
              <a:buSzPct val="70000"/>
              <a:buFont typeface="Arial" panose="020B0604020202020204" pitchFamily="34" charset="0"/>
              <a:buChar char="■"/>
            </a:pPr>
            <a:r>
              <a:rPr lang="fr-FR" sz="1300" b="1" smtClean="0">
                <a:solidFill>
                  <a:srgbClr val="212121"/>
                </a:solidFill>
                <a:latin typeface="Segoe UI" panose="020B0502040204020203" pitchFamily="34" charset="0"/>
              </a:rPr>
              <a:t>Tomcat</a:t>
            </a:r>
            <a:r>
              <a:rPr lang="fr-FR" sz="1300" smtClean="0">
                <a:solidFill>
                  <a:srgbClr val="212121"/>
                </a:solidFill>
                <a:latin typeface="Segoe UI" panose="020B0502040204020203" pitchFamily="34" charset="0"/>
              </a:rPr>
              <a:t> : reçoit les requêtes HTTP et exécute l'application</a:t>
            </a:r>
          </a:p>
          <a:p>
            <a:pPr marL="482600" indent="-203200">
              <a:spcAft>
                <a:spcPts val="800"/>
              </a:spcAft>
              <a:buClr>
                <a:srgbClr val="C8102E"/>
              </a:buClr>
              <a:buSzPct val="70000"/>
              <a:buFont typeface="Arial" panose="020B0604020202020204" pitchFamily="34" charset="0"/>
              <a:buChar char="■"/>
            </a:pPr>
            <a:r>
              <a:rPr lang="fr-FR" sz="1300" b="1" smtClean="0">
                <a:solidFill>
                  <a:srgbClr val="212121"/>
                </a:solidFill>
                <a:latin typeface="Segoe UI" panose="020B0502040204020203" pitchFamily="34" charset="0"/>
              </a:rPr>
              <a:t>Spring</a:t>
            </a:r>
            <a:r>
              <a:rPr lang="fr-FR" sz="1300" smtClean="0">
                <a:solidFill>
                  <a:srgbClr val="212121"/>
                </a:solidFill>
                <a:latin typeface="Segoe UI" panose="020B0502040204020203" pitchFamily="34" charset="0"/>
              </a:rPr>
              <a:t> : instancie et relie les composants Java (injection de dépendances)</a:t>
            </a:r>
          </a:p>
          <a:p>
            <a:pPr marL="482600" indent="-203200">
              <a:spcAft>
                <a:spcPts val="800"/>
              </a:spcAft>
              <a:buClr>
                <a:srgbClr val="C8102E"/>
              </a:buClr>
              <a:buSzPct val="70000"/>
              <a:buFont typeface="Arial" panose="020B0604020202020204" pitchFamily="34" charset="0"/>
              <a:buChar char="■"/>
            </a:pPr>
            <a:r>
              <a:rPr lang="fr-FR" sz="1300" b="1" smtClean="0">
                <a:solidFill>
                  <a:srgbClr val="212121"/>
                </a:solidFill>
                <a:latin typeface="Segoe UI" panose="020B0502040204020203" pitchFamily="34" charset="0"/>
              </a:rPr>
              <a:t>OSGi</a:t>
            </a:r>
            <a:r>
              <a:rPr lang="fr-FR" sz="1300" smtClean="0">
                <a:solidFill>
                  <a:srgbClr val="212121"/>
                </a:solidFill>
                <a:latin typeface="Segoe UI" panose="020B0502040204020203" pitchFamily="34" charset="0"/>
              </a:rPr>
              <a:t> : charge, isole et démarre les plugins à chaud</a:t>
            </a:r>
          </a:p>
          <a:p>
            <a:pPr marL="482600" indent="-203200">
              <a:spcAft>
                <a:spcPts val="800"/>
              </a:spcAft>
              <a:buClr>
                <a:srgbClr val="C8102E"/>
              </a:buClr>
              <a:buSzPct val="70000"/>
              <a:buFont typeface="Arial" panose="020B0604020202020204" pitchFamily="34" charset="0"/>
              <a:buChar char="■"/>
            </a:pPr>
            <a:r>
              <a:rPr lang="fr-FR" sz="1300" b="1" smtClean="0">
                <a:solidFill>
                  <a:srgbClr val="212121"/>
                </a:solidFill>
                <a:latin typeface="Segoe UI" panose="020B0502040204020203" pitchFamily="34" charset="0"/>
              </a:rPr>
              <a:t>API Jira</a:t>
            </a:r>
            <a:r>
              <a:rPr lang="fr-FR" sz="1300" smtClean="0">
                <a:solidFill>
                  <a:srgbClr val="212121"/>
                </a:solidFill>
                <a:latin typeface="Segoe UI" panose="020B0502040204020203" pitchFamily="34" charset="0"/>
              </a:rPr>
              <a:t> : services métier mis à disposition des plugins</a:t>
            </a:r>
          </a:p>
          <a:p>
            <a:pPr marL="482600" indent="-203200">
              <a:spcAft>
                <a:spcPts val="800"/>
              </a:spcAft>
              <a:buClr>
                <a:srgbClr val="C8102E"/>
              </a:buClr>
              <a:buSzPct val="70000"/>
              <a:buFont typeface="Arial" panose="020B0604020202020204" pitchFamily="34" charset="0"/>
              <a:buChar char="■"/>
            </a:pPr>
            <a:r>
              <a:rPr lang="fr-FR" sz="1300" b="1" smtClean="0">
                <a:solidFill>
                  <a:srgbClr val="212121"/>
                </a:solidFill>
                <a:latin typeface="Segoe UI" panose="020B0502040204020203" pitchFamily="34" charset="0"/>
              </a:rPr>
              <a:t>Base de données &amp; shared home</a:t>
            </a:r>
            <a:r>
              <a:rPr lang="fr-FR" sz="1300" smtClean="0">
                <a:solidFill>
                  <a:srgbClr val="212121"/>
                </a:solidFill>
                <a:latin typeface="Segoe UI" panose="020B0502040204020203" pitchFamily="34" charset="0"/>
              </a:rPr>
              <a:t> : persistance commune à tous les nœuds</a:t>
            </a:r>
          </a:p>
          <a:p>
            <a:pPr marL="482600" indent="-203200">
              <a:spcAft>
                <a:spcPts val="800"/>
              </a:spcAft>
              <a:buClr>
                <a:srgbClr val="C8102E"/>
              </a:buClr>
              <a:buSzPct val="70000"/>
              <a:buFont typeface="Arial" panose="020B0604020202020204" pitchFamily="34" charset="0"/>
              <a:buChar char="■"/>
            </a:pPr>
            <a:r>
              <a:rPr lang="fr-FR" sz="1300" smtClean="0">
                <a:solidFill>
                  <a:srgbClr val="212121"/>
                </a:solidFill>
                <a:latin typeface="Segoe UI" panose="020B0502040204020203" pitchFamily="34" charset="0"/>
              </a:rPr>
              <a:t>Un plugin se « branche » sur l'API Jira via OSGi, sans toucher au cœur du produit</a:t>
            </a:r>
            <a:endParaRPr lang="en-US" sz="1300">
              <a:solidFill>
                <a:srgbClr val="212121"/>
              </a:solidFill>
              <a:latin typeface="Segoe UI" panose="020B0502040204020203" pitchFamily="34" charset="0"/>
            </a:endParaRPr>
          </a:p>
        </p:txBody>
      </p:sp>
    </p:spTree>
    <p:extLst>
      <p:ext uri="{BB962C8B-B14F-4D97-AF65-F5344CB8AC3E}">
        <p14:creationId xmlns:p14="http://schemas.microsoft.com/office/powerpoint/2010/main" val="12926748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C8102E"/>
                </a:solidFill>
                <a:latin typeface="Segoe UI" panose="020B0502040204020203" pitchFamily="34" charset="0"/>
              </a:rPr>
              <a:t>01 · COMPRENDRE</a:t>
            </a:r>
            <a:endParaRPr lang="en-US" sz="1000" b="1">
              <a:solidFill>
                <a:srgbClr val="C8102E"/>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fr-FR" sz="2400" b="1" smtClean="0">
                <a:solidFill>
                  <a:srgbClr val="212121"/>
                </a:solidFill>
                <a:latin typeface="Segoe UI" panose="020B0502040204020203" pitchFamily="34" charset="0"/>
              </a:rPr>
              <a:t>Spécificités Data Center : le cluster</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6</a:t>
            </a:r>
            <a:endParaRPr lang="en-US" sz="900">
              <a:solidFill>
                <a:srgbClr val="6E6E6E"/>
              </a:solidFill>
              <a:latin typeface="Segoe UI" panose="020B0502040204020203" pitchFamily="34" charset="0"/>
            </a:endParaRPr>
          </a:p>
        </p:txBody>
      </p:sp>
      <p:sp>
        <p:nvSpPr>
          <p:cNvPr id="9" name="Rectangle 8"/>
          <p:cNvSpPr/>
          <p:nvPr/>
        </p:nvSpPr>
        <p:spPr>
          <a:xfrm>
            <a:off x="1968500" y="1270000"/>
            <a:ext cx="3048000" cy="508000"/>
          </a:xfrm>
          <a:prstGeom prst="rect">
            <a:avLst/>
          </a:prstGeom>
          <a:solidFill>
            <a:srgbClr val="4B4B4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Répartiteur de charge</a:t>
            </a:r>
            <a:endParaRPr lang="en-US" sz="1300" b="1">
              <a:solidFill>
                <a:srgbClr val="FFFFFF"/>
              </a:solidFill>
              <a:latin typeface="Segoe UI" panose="020B0502040204020203" pitchFamily="34" charset="0"/>
            </a:endParaRPr>
          </a:p>
        </p:txBody>
      </p:sp>
      <p:sp>
        <p:nvSpPr>
          <p:cNvPr id="10" name="Rectangle 9"/>
          <p:cNvSpPr/>
          <p:nvPr/>
        </p:nvSpPr>
        <p:spPr>
          <a:xfrm>
            <a:off x="635000" y="2286000"/>
            <a:ext cx="2540000" cy="10922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Nœud 1</a:t>
            </a:r>
          </a:p>
          <a:p>
            <a:pPr algn="ctr"/>
            <a:r>
              <a:rPr lang="en-US" sz="1300" b="1" smtClean="0">
                <a:solidFill>
                  <a:srgbClr val="FFFFFF"/>
                </a:solidFill>
                <a:latin typeface="Segoe UI" panose="020B0502040204020203" pitchFamily="34" charset="0"/>
              </a:rPr>
              <a:t>Jira + plugins</a:t>
            </a:r>
            <a:endParaRPr lang="en-US" sz="1300" b="1">
              <a:solidFill>
                <a:srgbClr val="FFFFFF"/>
              </a:solidFill>
              <a:latin typeface="Segoe UI" panose="020B0502040204020203" pitchFamily="34" charset="0"/>
            </a:endParaRPr>
          </a:p>
        </p:txBody>
      </p:sp>
      <p:sp>
        <p:nvSpPr>
          <p:cNvPr id="11" name="Rectangle 10"/>
          <p:cNvSpPr/>
          <p:nvPr/>
        </p:nvSpPr>
        <p:spPr>
          <a:xfrm>
            <a:off x="3810000" y="2286000"/>
            <a:ext cx="2540000" cy="10922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Nœud 2</a:t>
            </a:r>
          </a:p>
          <a:p>
            <a:pPr algn="ctr"/>
            <a:r>
              <a:rPr lang="en-US" sz="1300" b="1" smtClean="0">
                <a:solidFill>
                  <a:srgbClr val="FFFFFF"/>
                </a:solidFill>
                <a:latin typeface="Segoe UI" panose="020B0502040204020203" pitchFamily="34" charset="0"/>
              </a:rPr>
              <a:t>Jira + plugins</a:t>
            </a:r>
            <a:endParaRPr lang="en-US" sz="1300" b="1">
              <a:solidFill>
                <a:srgbClr val="FFFFFF"/>
              </a:solidFill>
              <a:latin typeface="Segoe UI" panose="020B0502040204020203" pitchFamily="34" charset="0"/>
            </a:endParaRPr>
          </a:p>
        </p:txBody>
      </p:sp>
      <p:cxnSp>
        <p:nvCxnSpPr>
          <p:cNvPr id="12" name="Connecteur droit 11"/>
          <p:cNvCxnSpPr/>
          <p:nvPr/>
        </p:nvCxnSpPr>
        <p:spPr>
          <a:xfrm flipH="1">
            <a:off x="1905000" y="1778000"/>
            <a:ext cx="1079500" cy="508000"/>
          </a:xfrm>
          <a:prstGeom prst="line">
            <a:avLst/>
          </a:prstGeom>
          <a:ln w="22225">
            <a:solidFill>
              <a:srgbClr val="6E6E6E"/>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cteur droit 12"/>
          <p:cNvCxnSpPr/>
          <p:nvPr/>
        </p:nvCxnSpPr>
        <p:spPr>
          <a:xfrm>
            <a:off x="4000500" y="1778000"/>
            <a:ext cx="1079500" cy="508000"/>
          </a:xfrm>
          <a:prstGeom prst="line">
            <a:avLst/>
          </a:prstGeom>
          <a:ln w="22225">
            <a:solidFill>
              <a:srgbClr val="6E6E6E"/>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508000" y="4114800"/>
            <a:ext cx="2857500" cy="6350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Base de données</a:t>
            </a:r>
            <a:endParaRPr lang="en-US" sz="1300" b="1">
              <a:solidFill>
                <a:srgbClr val="FFFFFF"/>
              </a:solidFill>
              <a:latin typeface="Segoe UI" panose="020B0502040204020203" pitchFamily="34" charset="0"/>
            </a:endParaRPr>
          </a:p>
        </p:txBody>
      </p:sp>
      <p:sp>
        <p:nvSpPr>
          <p:cNvPr id="15" name="Rectangle 14"/>
          <p:cNvSpPr/>
          <p:nvPr/>
        </p:nvSpPr>
        <p:spPr>
          <a:xfrm>
            <a:off x="3619500" y="4114800"/>
            <a:ext cx="2857500" cy="6350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Shared home</a:t>
            </a:r>
            <a:endParaRPr lang="en-US" sz="1300" b="1">
              <a:solidFill>
                <a:srgbClr val="FFFFFF"/>
              </a:solidFill>
              <a:latin typeface="Segoe UI" panose="020B0502040204020203" pitchFamily="34" charset="0"/>
            </a:endParaRPr>
          </a:p>
        </p:txBody>
      </p:sp>
      <p:cxnSp>
        <p:nvCxnSpPr>
          <p:cNvPr id="16" name="Connecteur droit 15"/>
          <p:cNvCxnSpPr/>
          <p:nvPr/>
        </p:nvCxnSpPr>
        <p:spPr>
          <a:xfrm>
            <a:off x="1587500" y="3378200"/>
            <a:ext cx="0" cy="736600"/>
          </a:xfrm>
          <a:prstGeom prst="line">
            <a:avLst/>
          </a:prstGeom>
          <a:ln w="22225">
            <a:solidFill>
              <a:srgbClr val="6E6E6E"/>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necteur droit 16"/>
          <p:cNvCxnSpPr/>
          <p:nvPr/>
        </p:nvCxnSpPr>
        <p:spPr>
          <a:xfrm>
            <a:off x="2349500" y="3378200"/>
            <a:ext cx="2159000" cy="736600"/>
          </a:xfrm>
          <a:prstGeom prst="line">
            <a:avLst/>
          </a:prstGeom>
          <a:ln w="22225">
            <a:solidFill>
              <a:srgbClr val="6E6E6E"/>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cteur droit 17"/>
          <p:cNvCxnSpPr/>
          <p:nvPr/>
        </p:nvCxnSpPr>
        <p:spPr>
          <a:xfrm flipH="1">
            <a:off x="2476500" y="3378200"/>
            <a:ext cx="2159000" cy="736600"/>
          </a:xfrm>
          <a:prstGeom prst="line">
            <a:avLst/>
          </a:prstGeom>
          <a:ln w="22225">
            <a:solidFill>
              <a:srgbClr val="6E6E6E"/>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eur droit 18"/>
          <p:cNvCxnSpPr/>
          <p:nvPr/>
        </p:nvCxnSpPr>
        <p:spPr>
          <a:xfrm>
            <a:off x="5397500" y="3378200"/>
            <a:ext cx="0" cy="736600"/>
          </a:xfrm>
          <a:prstGeom prst="line">
            <a:avLst/>
          </a:prstGeom>
          <a:ln w="22225">
            <a:solidFill>
              <a:srgbClr val="6E6E6E"/>
            </a:solidFill>
            <a:tailEnd type="triangle"/>
          </a:ln>
        </p:spPr>
        <p:style>
          <a:lnRef idx="1">
            <a:schemeClr val="accent1"/>
          </a:lnRef>
          <a:fillRef idx="0">
            <a:schemeClr val="accent1"/>
          </a:fillRef>
          <a:effectRef idx="0">
            <a:schemeClr val="accent1"/>
          </a:effectRef>
          <a:fontRef idx="minor">
            <a:schemeClr val="tx1"/>
          </a:fontRef>
        </p:style>
      </p:cxnSp>
      <p:sp>
        <p:nvSpPr>
          <p:cNvPr id="20" name="ZoneTexte 19"/>
          <p:cNvSpPr txBox="1"/>
          <p:nvPr/>
        </p:nvSpPr>
        <p:spPr>
          <a:xfrm>
            <a:off x="508000" y="4953000"/>
            <a:ext cx="5969000" cy="369332"/>
          </a:xfrm>
          <a:prstGeom prst="rect">
            <a:avLst/>
          </a:prstGeom>
          <a:noFill/>
        </p:spPr>
        <p:txBody>
          <a:bodyPr vert="horz" wrap="square" lIns="0" tIns="0" rIns="0" bIns="0" rtlCol="0">
            <a:noAutofit/>
          </a:bodyPr>
          <a:lstStyle/>
          <a:p>
            <a:r>
              <a:rPr lang="fr-FR" sz="1200" i="1" smtClean="0">
                <a:solidFill>
                  <a:srgbClr val="6E6E6E"/>
                </a:solidFill>
                <a:latin typeface="Segoe UI" panose="020B0502040204020203" pitchFamily="34" charset="0"/>
              </a:rPr>
              <a:t>Le plugin est installé une seule fois : il est automatiquement déployé sur tous les nœuds du cluster.</a:t>
            </a:r>
            <a:endParaRPr lang="en-US" sz="1200" i="1">
              <a:solidFill>
                <a:srgbClr val="6E6E6E"/>
              </a:solidFill>
              <a:latin typeface="Segoe UI" panose="020B0502040204020203" pitchFamily="34" charset="0"/>
            </a:endParaRPr>
          </a:p>
        </p:txBody>
      </p:sp>
      <p:sp>
        <p:nvSpPr>
          <p:cNvPr id="21" name="ZoneTexte 20"/>
          <p:cNvSpPr txBox="1"/>
          <p:nvPr/>
        </p:nvSpPr>
        <p:spPr>
          <a:xfrm>
            <a:off x="6985000" y="1270000"/>
            <a:ext cx="4699000" cy="369332"/>
          </a:xfrm>
          <a:prstGeom prst="rect">
            <a:avLst/>
          </a:prstGeom>
          <a:noFill/>
        </p:spPr>
        <p:txBody>
          <a:bodyPr vert="horz" wrap="square" lIns="0" tIns="0" rIns="0" bIns="0" rtlCol="0">
            <a:noAutofit/>
          </a:bodyPr>
          <a:lstStyle/>
          <a:p>
            <a:r>
              <a:rPr lang="fr-FR" sz="1500" b="1" smtClean="0">
                <a:solidFill>
                  <a:srgbClr val="C8102E"/>
                </a:solidFill>
                <a:latin typeface="Segoe UI" panose="020B0502040204020203" pitchFamily="34" charset="0"/>
              </a:rPr>
              <a:t>Ce que cela implique pour le code</a:t>
            </a:r>
            <a:endParaRPr lang="en-US" sz="1500" b="1">
              <a:solidFill>
                <a:srgbClr val="C8102E"/>
              </a:solidFill>
              <a:latin typeface="Segoe UI" panose="020B0502040204020203" pitchFamily="34" charset="0"/>
            </a:endParaRPr>
          </a:p>
        </p:txBody>
      </p:sp>
      <p:sp>
        <p:nvSpPr>
          <p:cNvPr id="22" name="ZoneTexte 21"/>
          <p:cNvSpPr txBox="1"/>
          <p:nvPr/>
        </p:nvSpPr>
        <p:spPr>
          <a:xfrm>
            <a:off x="6985000" y="1676400"/>
            <a:ext cx="4699000" cy="369332"/>
          </a:xfrm>
          <a:prstGeom prst="rect">
            <a:avLst/>
          </a:prstGeom>
          <a:noFill/>
        </p:spPr>
        <p:txBody>
          <a:bodyPr vert="horz" wrap="square" lIns="0" tIns="0" rIns="0" bIns="0" rtlCol="0">
            <a:noAutofit/>
          </a:bodyPr>
          <a:lstStyle/>
          <a:p>
            <a:pPr marL="482600" indent="-203200">
              <a:spcAft>
                <a:spcPts val="800"/>
              </a:spcAft>
              <a:buClr>
                <a:srgbClr val="C8102E"/>
              </a:buClr>
              <a:buSzPct val="70000"/>
              <a:buFont typeface="Arial" panose="020B0604020202020204" pitchFamily="34" charset="0"/>
              <a:buChar char="■"/>
            </a:pPr>
            <a:r>
              <a:rPr lang="fr-FR" sz="1300" b="1" smtClean="0">
                <a:solidFill>
                  <a:srgbClr val="212121"/>
                </a:solidFill>
                <a:latin typeface="Segoe UI" panose="020B0502040204020203" pitchFamily="34" charset="0"/>
              </a:rPr>
              <a:t>Cluster-safe</a:t>
            </a:r>
            <a:r>
              <a:rPr lang="fr-FR" sz="1300" smtClean="0">
                <a:solidFill>
                  <a:srgbClr val="212121"/>
                </a:solidFill>
                <a:latin typeface="Segoe UI" panose="020B0502040204020203" pitchFamily="34" charset="0"/>
              </a:rPr>
              <a:t> : aucun état conservé uniquement en mémoire locale</a:t>
            </a:r>
          </a:p>
          <a:p>
            <a:pPr marL="482600" indent="-203200">
              <a:spcAft>
                <a:spcPts val="800"/>
              </a:spcAft>
              <a:buClr>
                <a:srgbClr val="C8102E"/>
              </a:buClr>
              <a:buSzPct val="70000"/>
              <a:buFont typeface="Arial" panose="020B0604020202020204" pitchFamily="34" charset="0"/>
              <a:buChar char="■"/>
            </a:pPr>
            <a:r>
              <a:rPr lang="fr-FR" sz="1300" b="1" smtClean="0">
                <a:solidFill>
                  <a:srgbClr val="212121"/>
                </a:solidFill>
                <a:latin typeface="Segoe UI" panose="020B0502040204020203" pitchFamily="34" charset="0"/>
              </a:rPr>
              <a:t>Cache</a:t>
            </a:r>
            <a:r>
              <a:rPr lang="fr-FR" sz="1300" smtClean="0">
                <a:solidFill>
                  <a:srgbClr val="212121"/>
                </a:solidFill>
                <a:latin typeface="Segoe UI" panose="020B0502040204020203" pitchFamily="34" charset="0"/>
              </a:rPr>
              <a:t> : utiliser Atlassian Cache (caches répliqués)</a:t>
            </a:r>
          </a:p>
          <a:p>
            <a:pPr marL="482600" indent="-203200">
              <a:spcAft>
                <a:spcPts val="800"/>
              </a:spcAft>
              <a:buClr>
                <a:srgbClr val="C8102E"/>
              </a:buClr>
              <a:buSzPct val="70000"/>
              <a:buFont typeface="Arial" panose="020B0604020202020204" pitchFamily="34" charset="0"/>
              <a:buChar char="■"/>
            </a:pPr>
            <a:r>
              <a:rPr lang="fr-FR" sz="1300" b="1" smtClean="0">
                <a:solidFill>
                  <a:srgbClr val="212121"/>
                </a:solidFill>
                <a:latin typeface="Segoe UI" panose="020B0502040204020203" pitchFamily="34" charset="0"/>
              </a:rPr>
              <a:t>Verrous</a:t>
            </a:r>
            <a:r>
              <a:rPr lang="fr-FR" sz="1300" smtClean="0">
                <a:solidFill>
                  <a:srgbClr val="212121"/>
                </a:solidFill>
                <a:latin typeface="Segoe UI" panose="020B0502040204020203" pitchFamily="34" charset="0"/>
              </a:rPr>
              <a:t> : ClusterLockService pour les traitements exclusifs</a:t>
            </a:r>
          </a:p>
          <a:p>
            <a:pPr marL="482600" indent="-203200">
              <a:spcAft>
                <a:spcPts val="800"/>
              </a:spcAft>
              <a:buClr>
                <a:srgbClr val="C8102E"/>
              </a:buClr>
              <a:buSzPct val="70000"/>
              <a:buFont typeface="Arial" panose="020B0604020202020204" pitchFamily="34" charset="0"/>
              <a:buChar char="■"/>
            </a:pPr>
            <a:r>
              <a:rPr lang="fr-FR" sz="1300" b="1" smtClean="0">
                <a:solidFill>
                  <a:srgbClr val="212121"/>
                </a:solidFill>
                <a:latin typeface="Segoe UI" panose="020B0502040204020203" pitchFamily="34" charset="0"/>
              </a:rPr>
              <a:t>Tâches planifiées</a:t>
            </a:r>
            <a:r>
              <a:rPr lang="fr-FR" sz="1300" smtClean="0">
                <a:solidFill>
                  <a:srgbClr val="212121"/>
                </a:solidFill>
                <a:latin typeface="Segoe UI" panose="020B0502040204020203" pitchFamily="34" charset="0"/>
              </a:rPr>
              <a:t> : Atlassian Scheduler (exécution unique dans le cluster)</a:t>
            </a:r>
          </a:p>
          <a:p>
            <a:pPr marL="482600" indent="-203200">
              <a:spcAft>
                <a:spcPts val="800"/>
              </a:spcAft>
              <a:buClr>
                <a:srgbClr val="C8102E"/>
              </a:buClr>
              <a:buSzPct val="70000"/>
              <a:buFont typeface="Arial" panose="020B0604020202020204" pitchFamily="34" charset="0"/>
              <a:buChar char="■"/>
            </a:pPr>
            <a:r>
              <a:rPr lang="fr-FR" sz="1300" b="1" smtClean="0">
                <a:solidFill>
                  <a:srgbClr val="212121"/>
                </a:solidFill>
                <a:latin typeface="Segoe UI" panose="020B0502040204020203" pitchFamily="34" charset="0"/>
              </a:rPr>
              <a:t>Fichiers</a:t>
            </a:r>
            <a:r>
              <a:rPr lang="fr-FR" sz="1300" smtClean="0">
                <a:solidFill>
                  <a:srgbClr val="212121"/>
                </a:solidFill>
                <a:latin typeface="Segoe UI" panose="020B0502040204020203" pitchFamily="34" charset="0"/>
              </a:rPr>
              <a:t> : stockés dans le shared home, jamais sur le disque local</a:t>
            </a:r>
          </a:p>
          <a:p>
            <a:pPr marL="482600" indent="-203200">
              <a:spcAft>
                <a:spcPts val="800"/>
              </a:spcAft>
              <a:buClr>
                <a:srgbClr val="C8102E"/>
              </a:buClr>
              <a:buSzPct val="70000"/>
              <a:buFont typeface="Arial" panose="020B0604020202020204" pitchFamily="34" charset="0"/>
              <a:buChar char="■"/>
            </a:pPr>
            <a:r>
              <a:rPr lang="fr-FR" sz="1300" b="1" smtClean="0">
                <a:solidFill>
                  <a:srgbClr val="212121"/>
                </a:solidFill>
                <a:latin typeface="Segoe UI" panose="020B0502040204020203" pitchFamily="34" charset="0"/>
              </a:rPr>
              <a:t>Déclaration</a:t>
            </a:r>
            <a:r>
              <a:rPr lang="fr-FR" sz="1300" smtClean="0">
                <a:solidFill>
                  <a:srgbClr val="212121"/>
                </a:solidFill>
                <a:latin typeface="Segoe UI" panose="020B0502040204020203" pitchFamily="34" charset="0"/>
              </a:rPr>
              <a:t> : plugin marqué « Data Center compatible » dans son descripteur</a:t>
            </a:r>
            <a:endParaRPr lang="en-US" sz="1300">
              <a:solidFill>
                <a:srgbClr val="212121"/>
              </a:solidFill>
              <a:latin typeface="Segoe UI" panose="020B0502040204020203" pitchFamily="34" charset="0"/>
            </a:endParaRPr>
          </a:p>
        </p:txBody>
      </p:sp>
    </p:spTree>
    <p:extLst>
      <p:ext uri="{BB962C8B-B14F-4D97-AF65-F5344CB8AC3E}">
        <p14:creationId xmlns:p14="http://schemas.microsoft.com/office/powerpoint/2010/main" val="33853228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C8102E"/>
                </a:solidFill>
                <a:latin typeface="Segoe UI" panose="020B0502040204020203" pitchFamily="34" charset="0"/>
              </a:rPr>
              <a:t>01 · COMPRENDRE</a:t>
            </a:r>
            <a:endParaRPr lang="en-US" sz="1000" b="1">
              <a:solidFill>
                <a:srgbClr val="C8102E"/>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fr-FR" sz="2400" b="1" smtClean="0">
                <a:solidFill>
                  <a:srgbClr val="212121"/>
                </a:solidFill>
                <a:latin typeface="Segoe UI" panose="020B0502040204020203" pitchFamily="34" charset="0"/>
              </a:rPr>
              <a:t>Cycle de vie d'un plugin dans Jira</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7</a:t>
            </a:r>
            <a:endParaRPr lang="en-US" sz="900">
              <a:solidFill>
                <a:srgbClr val="6E6E6E"/>
              </a:solidFill>
              <a:latin typeface="Segoe UI" panose="020B0502040204020203" pitchFamily="34" charset="0"/>
            </a:endParaRPr>
          </a:p>
        </p:txBody>
      </p:sp>
      <p:sp>
        <p:nvSpPr>
          <p:cNvPr id="9" name="Rectangle 8"/>
          <p:cNvSpPr/>
          <p:nvPr/>
        </p:nvSpPr>
        <p:spPr>
          <a:xfrm>
            <a:off x="508000" y="1524000"/>
            <a:ext cx="1905000" cy="1143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Import du .jar</a:t>
            </a:r>
          </a:p>
          <a:p>
            <a:pPr algn="ctr"/>
            <a:r>
              <a:rPr lang="en-US" sz="1300" b="1" smtClean="0">
                <a:solidFill>
                  <a:srgbClr val="FFFFFF"/>
                </a:solidFill>
                <a:latin typeface="Segoe UI" panose="020B0502040204020203" pitchFamily="34" charset="0"/>
              </a:rPr>
              <a:t>(UPM)</a:t>
            </a:r>
            <a:endParaRPr lang="en-US" sz="1300" b="1">
              <a:solidFill>
                <a:srgbClr val="FFFFFF"/>
              </a:solidFill>
              <a:latin typeface="Segoe UI" panose="020B0502040204020203" pitchFamily="34" charset="0"/>
            </a:endParaRPr>
          </a:p>
        </p:txBody>
      </p:sp>
      <p:sp>
        <p:nvSpPr>
          <p:cNvPr id="10" name="Ellipse 9"/>
          <p:cNvSpPr/>
          <p:nvPr/>
        </p:nvSpPr>
        <p:spPr>
          <a:xfrm>
            <a:off x="635000" y="1346200"/>
            <a:ext cx="355600" cy="35560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200" b="1" smtClean="0">
                <a:solidFill>
                  <a:srgbClr val="C8102E"/>
                </a:solidFill>
                <a:latin typeface="Segoe UI" panose="020B0502040204020203" pitchFamily="34" charset="0"/>
              </a:rPr>
              <a:t>1</a:t>
            </a:r>
            <a:endParaRPr lang="en-US" sz="1200" b="1">
              <a:solidFill>
                <a:srgbClr val="C8102E"/>
              </a:solidFill>
              <a:latin typeface="Segoe UI" panose="020B0502040204020203" pitchFamily="34" charset="0"/>
            </a:endParaRPr>
          </a:p>
        </p:txBody>
      </p:sp>
      <p:sp>
        <p:nvSpPr>
          <p:cNvPr id="11" name="Flèche droite 10"/>
          <p:cNvSpPr/>
          <p:nvPr/>
        </p:nvSpPr>
        <p:spPr>
          <a:xfrm>
            <a:off x="2463800" y="1968500"/>
            <a:ext cx="279400" cy="254000"/>
          </a:xfrm>
          <a:prstGeom prst="rightArrow">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2" name="Rectangle 11"/>
          <p:cNvSpPr/>
          <p:nvPr/>
        </p:nvSpPr>
        <p:spPr>
          <a:xfrm>
            <a:off x="2794000" y="1524000"/>
            <a:ext cx="1905000" cy="1143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Lecture du</a:t>
            </a:r>
          </a:p>
          <a:p>
            <a:pPr algn="ctr"/>
            <a:r>
              <a:rPr lang="en-US" sz="1300" b="1" smtClean="0">
                <a:solidFill>
                  <a:srgbClr val="FFFFFF"/>
                </a:solidFill>
                <a:latin typeface="Segoe UI" panose="020B0502040204020203" pitchFamily="34" charset="0"/>
              </a:rPr>
              <a:t>descripteur XML</a:t>
            </a:r>
            <a:endParaRPr lang="en-US" sz="1300" b="1">
              <a:solidFill>
                <a:srgbClr val="FFFFFF"/>
              </a:solidFill>
              <a:latin typeface="Segoe UI" panose="020B0502040204020203" pitchFamily="34" charset="0"/>
            </a:endParaRPr>
          </a:p>
        </p:txBody>
      </p:sp>
      <p:sp>
        <p:nvSpPr>
          <p:cNvPr id="13" name="Ellipse 12"/>
          <p:cNvSpPr/>
          <p:nvPr/>
        </p:nvSpPr>
        <p:spPr>
          <a:xfrm>
            <a:off x="2921000" y="1346200"/>
            <a:ext cx="355600" cy="35560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200" b="1" smtClean="0">
                <a:solidFill>
                  <a:srgbClr val="C8102E"/>
                </a:solidFill>
                <a:latin typeface="Segoe UI" panose="020B0502040204020203" pitchFamily="34" charset="0"/>
              </a:rPr>
              <a:t>2</a:t>
            </a:r>
            <a:endParaRPr lang="en-US" sz="1200" b="1">
              <a:solidFill>
                <a:srgbClr val="C8102E"/>
              </a:solidFill>
              <a:latin typeface="Segoe UI" panose="020B0502040204020203" pitchFamily="34" charset="0"/>
            </a:endParaRPr>
          </a:p>
        </p:txBody>
      </p:sp>
      <p:sp>
        <p:nvSpPr>
          <p:cNvPr id="14" name="Flèche droite 13"/>
          <p:cNvSpPr/>
          <p:nvPr/>
        </p:nvSpPr>
        <p:spPr>
          <a:xfrm>
            <a:off x="4749800" y="1968500"/>
            <a:ext cx="279400" cy="254000"/>
          </a:xfrm>
          <a:prstGeom prst="rightArrow">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5" name="Rectangle 14"/>
          <p:cNvSpPr/>
          <p:nvPr/>
        </p:nvSpPr>
        <p:spPr>
          <a:xfrm>
            <a:off x="5080000" y="1524000"/>
            <a:ext cx="1905000" cy="1143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Résolution des</a:t>
            </a:r>
          </a:p>
          <a:p>
            <a:pPr algn="ctr"/>
            <a:r>
              <a:rPr lang="en-US" sz="1300" b="1" smtClean="0">
                <a:solidFill>
                  <a:srgbClr val="FFFFFF"/>
                </a:solidFill>
                <a:latin typeface="Segoe UI" panose="020B0502040204020203" pitchFamily="34" charset="0"/>
              </a:rPr>
              <a:t>dépendances OSGi</a:t>
            </a:r>
            <a:endParaRPr lang="en-US" sz="1300" b="1">
              <a:solidFill>
                <a:srgbClr val="FFFFFF"/>
              </a:solidFill>
              <a:latin typeface="Segoe UI" panose="020B0502040204020203" pitchFamily="34" charset="0"/>
            </a:endParaRPr>
          </a:p>
        </p:txBody>
      </p:sp>
      <p:sp>
        <p:nvSpPr>
          <p:cNvPr id="16" name="Ellipse 15"/>
          <p:cNvSpPr/>
          <p:nvPr/>
        </p:nvSpPr>
        <p:spPr>
          <a:xfrm>
            <a:off x="5207000" y="1346200"/>
            <a:ext cx="355600" cy="35560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200" b="1" smtClean="0">
                <a:solidFill>
                  <a:srgbClr val="C8102E"/>
                </a:solidFill>
                <a:latin typeface="Segoe UI" panose="020B0502040204020203" pitchFamily="34" charset="0"/>
              </a:rPr>
              <a:t>3</a:t>
            </a:r>
            <a:endParaRPr lang="en-US" sz="1200" b="1">
              <a:solidFill>
                <a:srgbClr val="C8102E"/>
              </a:solidFill>
              <a:latin typeface="Segoe UI" panose="020B0502040204020203" pitchFamily="34" charset="0"/>
            </a:endParaRPr>
          </a:p>
        </p:txBody>
      </p:sp>
      <p:sp>
        <p:nvSpPr>
          <p:cNvPr id="17" name="Flèche droite 16"/>
          <p:cNvSpPr/>
          <p:nvPr/>
        </p:nvSpPr>
        <p:spPr>
          <a:xfrm>
            <a:off x="7035800" y="1968500"/>
            <a:ext cx="279400" cy="254000"/>
          </a:xfrm>
          <a:prstGeom prst="rightArrow">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8" name="Rectangle 17"/>
          <p:cNvSpPr/>
          <p:nvPr/>
        </p:nvSpPr>
        <p:spPr>
          <a:xfrm>
            <a:off x="7366000" y="1524000"/>
            <a:ext cx="1905000" cy="1143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Démarrage du</a:t>
            </a:r>
          </a:p>
          <a:p>
            <a:pPr algn="ctr"/>
            <a:r>
              <a:rPr lang="en-US" sz="1300" b="1" smtClean="0">
                <a:solidFill>
                  <a:srgbClr val="FFFFFF"/>
                </a:solidFill>
                <a:latin typeface="Segoe UI" panose="020B0502040204020203" pitchFamily="34" charset="0"/>
              </a:rPr>
              <a:t>contexte Spring</a:t>
            </a:r>
            <a:endParaRPr lang="en-US" sz="1300" b="1">
              <a:solidFill>
                <a:srgbClr val="FFFFFF"/>
              </a:solidFill>
              <a:latin typeface="Segoe UI" panose="020B0502040204020203" pitchFamily="34" charset="0"/>
            </a:endParaRPr>
          </a:p>
        </p:txBody>
      </p:sp>
      <p:sp>
        <p:nvSpPr>
          <p:cNvPr id="19" name="Ellipse 18"/>
          <p:cNvSpPr/>
          <p:nvPr/>
        </p:nvSpPr>
        <p:spPr>
          <a:xfrm>
            <a:off x="7493000" y="1346200"/>
            <a:ext cx="355600" cy="35560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200" b="1" smtClean="0">
                <a:solidFill>
                  <a:srgbClr val="C8102E"/>
                </a:solidFill>
                <a:latin typeface="Segoe UI" panose="020B0502040204020203" pitchFamily="34" charset="0"/>
              </a:rPr>
              <a:t>4</a:t>
            </a:r>
            <a:endParaRPr lang="en-US" sz="1200" b="1">
              <a:solidFill>
                <a:srgbClr val="C8102E"/>
              </a:solidFill>
              <a:latin typeface="Segoe UI" panose="020B0502040204020203" pitchFamily="34" charset="0"/>
            </a:endParaRPr>
          </a:p>
        </p:txBody>
      </p:sp>
      <p:sp>
        <p:nvSpPr>
          <p:cNvPr id="20" name="Flèche droite 19"/>
          <p:cNvSpPr/>
          <p:nvPr/>
        </p:nvSpPr>
        <p:spPr>
          <a:xfrm>
            <a:off x="9321800" y="1968500"/>
            <a:ext cx="279400" cy="254000"/>
          </a:xfrm>
          <a:prstGeom prst="rightArrow">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1" name="Rectangle 20"/>
          <p:cNvSpPr/>
          <p:nvPr/>
        </p:nvSpPr>
        <p:spPr>
          <a:xfrm>
            <a:off x="9652000" y="1524000"/>
            <a:ext cx="1905000" cy="11430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Modules actifs</a:t>
            </a:r>
          </a:p>
          <a:p>
            <a:pPr algn="ctr"/>
            <a:r>
              <a:rPr lang="en-US" sz="1300" b="1" smtClean="0">
                <a:solidFill>
                  <a:srgbClr val="FFFFFF"/>
                </a:solidFill>
                <a:latin typeface="Segoe UI" panose="020B0502040204020203" pitchFamily="34" charset="0"/>
              </a:rPr>
              <a:t>dans Jira</a:t>
            </a:r>
            <a:endParaRPr lang="en-US" sz="1300" b="1">
              <a:solidFill>
                <a:srgbClr val="FFFFFF"/>
              </a:solidFill>
              <a:latin typeface="Segoe UI" panose="020B0502040204020203" pitchFamily="34" charset="0"/>
            </a:endParaRPr>
          </a:p>
        </p:txBody>
      </p:sp>
      <p:sp>
        <p:nvSpPr>
          <p:cNvPr id="22" name="Ellipse 21"/>
          <p:cNvSpPr/>
          <p:nvPr/>
        </p:nvSpPr>
        <p:spPr>
          <a:xfrm>
            <a:off x="9779000" y="1346200"/>
            <a:ext cx="355600" cy="35560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200" b="1" smtClean="0">
                <a:solidFill>
                  <a:srgbClr val="1C1C1C"/>
                </a:solidFill>
                <a:latin typeface="Segoe UI" panose="020B0502040204020203" pitchFamily="34" charset="0"/>
              </a:rPr>
              <a:t>5</a:t>
            </a:r>
            <a:endParaRPr lang="en-US" sz="1200" b="1">
              <a:solidFill>
                <a:srgbClr val="1C1C1C"/>
              </a:solidFill>
              <a:latin typeface="Segoe UI" panose="020B0502040204020203" pitchFamily="34" charset="0"/>
            </a:endParaRPr>
          </a:p>
        </p:txBody>
      </p:sp>
      <p:sp>
        <p:nvSpPr>
          <p:cNvPr id="23" name="Rectangle 22"/>
          <p:cNvSpPr/>
          <p:nvPr/>
        </p:nvSpPr>
        <p:spPr>
          <a:xfrm>
            <a:off x="508000" y="3302000"/>
            <a:ext cx="3556000" cy="19050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4" name="Rectangle 23"/>
          <p:cNvSpPr/>
          <p:nvPr/>
        </p:nvSpPr>
        <p:spPr>
          <a:xfrm>
            <a:off x="508000" y="3302000"/>
            <a:ext cx="63500" cy="1905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5" name="ZoneTexte 24"/>
          <p:cNvSpPr txBox="1"/>
          <p:nvPr/>
        </p:nvSpPr>
        <p:spPr>
          <a:xfrm>
            <a:off x="762000" y="3454400"/>
            <a:ext cx="3124200" cy="369332"/>
          </a:xfrm>
          <a:prstGeom prst="rect">
            <a:avLst/>
          </a:prstGeom>
          <a:noFill/>
        </p:spPr>
        <p:txBody>
          <a:bodyPr vert="horz" wrap="square" lIns="0" tIns="0" rIns="0" bIns="0" rtlCol="0">
            <a:noAutofit/>
          </a:bodyPr>
          <a:lstStyle/>
          <a:p>
            <a:r>
              <a:rPr lang="en-US" sz="1500" b="1" smtClean="0">
                <a:solidFill>
                  <a:srgbClr val="C8102E"/>
                </a:solidFill>
                <a:latin typeface="Segoe UI" panose="020B0502040204020203" pitchFamily="34" charset="0"/>
              </a:rPr>
              <a:t>Installation à chaud</a:t>
            </a:r>
            <a:endParaRPr lang="en-US" sz="1500" b="1">
              <a:solidFill>
                <a:srgbClr val="C8102E"/>
              </a:solidFill>
              <a:latin typeface="Segoe UI" panose="020B0502040204020203" pitchFamily="34" charset="0"/>
            </a:endParaRPr>
          </a:p>
        </p:txBody>
      </p:sp>
      <p:sp>
        <p:nvSpPr>
          <p:cNvPr id="26" name="ZoneTexte 25"/>
          <p:cNvSpPr txBox="1"/>
          <p:nvPr/>
        </p:nvSpPr>
        <p:spPr>
          <a:xfrm>
            <a:off x="762000" y="3784600"/>
            <a:ext cx="3124200" cy="369332"/>
          </a:xfrm>
          <a:prstGeom prst="rect">
            <a:avLst/>
          </a:prstGeom>
          <a:noFill/>
        </p:spPr>
        <p:txBody>
          <a:bodyPr vert="horz" wrap="square" lIns="0" tIns="0" rIns="0" bIns="0" rtlCol="0">
            <a:noAutofit/>
          </a:bodyPr>
          <a:lstStyle/>
          <a:p>
            <a:r>
              <a:rPr lang="fr-FR" sz="1300" smtClean="0">
                <a:solidFill>
                  <a:srgbClr val="212121"/>
                </a:solidFill>
                <a:latin typeface="Segoe UI" panose="020B0502040204020203" pitchFamily="34" charset="0"/>
              </a:rPr>
              <a:t>Aucun redémarrage de Jira, aucune interruption de service pour les utilisateurs.</a:t>
            </a:r>
            <a:endParaRPr lang="en-US" sz="1300">
              <a:solidFill>
                <a:srgbClr val="212121"/>
              </a:solidFill>
              <a:latin typeface="Segoe UI" panose="020B0502040204020203" pitchFamily="34" charset="0"/>
            </a:endParaRPr>
          </a:p>
        </p:txBody>
      </p:sp>
      <p:sp>
        <p:nvSpPr>
          <p:cNvPr id="27" name="Rectangle 26"/>
          <p:cNvSpPr/>
          <p:nvPr/>
        </p:nvSpPr>
        <p:spPr>
          <a:xfrm>
            <a:off x="4318000" y="3302000"/>
            <a:ext cx="3556000" cy="19050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8" name="Rectangle 27"/>
          <p:cNvSpPr/>
          <p:nvPr/>
        </p:nvSpPr>
        <p:spPr>
          <a:xfrm>
            <a:off x="4318000" y="3302000"/>
            <a:ext cx="63500" cy="19050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9" name="ZoneTexte 28"/>
          <p:cNvSpPr txBox="1"/>
          <p:nvPr/>
        </p:nvSpPr>
        <p:spPr>
          <a:xfrm>
            <a:off x="4572000" y="3454400"/>
            <a:ext cx="3124200" cy="369332"/>
          </a:xfrm>
          <a:prstGeom prst="rect">
            <a:avLst/>
          </a:prstGeom>
          <a:noFill/>
        </p:spPr>
        <p:txBody>
          <a:bodyPr vert="horz" wrap="square" lIns="0" tIns="0" rIns="0" bIns="0" rtlCol="0">
            <a:noAutofit/>
          </a:bodyPr>
          <a:lstStyle/>
          <a:p>
            <a:r>
              <a:rPr lang="en-US" sz="1500" b="1" smtClean="0">
                <a:solidFill>
                  <a:srgbClr val="1C1C1C"/>
                </a:solidFill>
                <a:latin typeface="Segoe UI" panose="020B0502040204020203" pitchFamily="34" charset="0"/>
              </a:rPr>
              <a:t>Isolation</a:t>
            </a:r>
            <a:endParaRPr lang="en-US" sz="1500" b="1">
              <a:solidFill>
                <a:srgbClr val="1C1C1C"/>
              </a:solidFill>
              <a:latin typeface="Segoe UI" panose="020B0502040204020203" pitchFamily="34" charset="0"/>
            </a:endParaRPr>
          </a:p>
        </p:txBody>
      </p:sp>
      <p:sp>
        <p:nvSpPr>
          <p:cNvPr id="30" name="ZoneTexte 29"/>
          <p:cNvSpPr txBox="1"/>
          <p:nvPr/>
        </p:nvSpPr>
        <p:spPr>
          <a:xfrm>
            <a:off x="4572000" y="3784600"/>
            <a:ext cx="3124200" cy="369332"/>
          </a:xfrm>
          <a:prstGeom prst="rect">
            <a:avLst/>
          </a:prstGeom>
          <a:noFill/>
        </p:spPr>
        <p:txBody>
          <a:bodyPr vert="horz" wrap="square" lIns="0" tIns="0" rIns="0" bIns="0" rtlCol="0">
            <a:noAutofit/>
          </a:bodyPr>
          <a:lstStyle/>
          <a:p>
            <a:r>
              <a:rPr lang="fr-FR" sz="1300" smtClean="0">
                <a:solidFill>
                  <a:srgbClr val="212121"/>
                </a:solidFill>
                <a:latin typeface="Segoe UI" panose="020B0502040204020203" pitchFamily="34" charset="0"/>
              </a:rPr>
              <a:t>Chaque plugin dispose de son propre classloader : ses dépendances n'interfèrent pas avec celles des autres plugins.</a:t>
            </a:r>
            <a:endParaRPr lang="en-US" sz="1300">
              <a:solidFill>
                <a:srgbClr val="212121"/>
              </a:solidFill>
              <a:latin typeface="Segoe UI" panose="020B0502040204020203" pitchFamily="34" charset="0"/>
            </a:endParaRPr>
          </a:p>
        </p:txBody>
      </p:sp>
      <p:sp>
        <p:nvSpPr>
          <p:cNvPr id="31" name="Rectangle 30"/>
          <p:cNvSpPr/>
          <p:nvPr/>
        </p:nvSpPr>
        <p:spPr>
          <a:xfrm>
            <a:off x="8128000" y="3302000"/>
            <a:ext cx="3556000" cy="19050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2" name="Rectangle 31"/>
          <p:cNvSpPr/>
          <p:nvPr/>
        </p:nvSpPr>
        <p:spPr>
          <a:xfrm>
            <a:off x="8128000" y="3302000"/>
            <a:ext cx="63500" cy="1905000"/>
          </a:xfrm>
          <a:prstGeom prst="rect">
            <a:avLst/>
          </a:prstGeom>
          <a:solidFill>
            <a:srgbClr val="0087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3" name="ZoneTexte 32"/>
          <p:cNvSpPr txBox="1"/>
          <p:nvPr/>
        </p:nvSpPr>
        <p:spPr>
          <a:xfrm>
            <a:off x="8382000" y="3454400"/>
            <a:ext cx="3124200" cy="369332"/>
          </a:xfrm>
          <a:prstGeom prst="rect">
            <a:avLst/>
          </a:prstGeom>
          <a:noFill/>
        </p:spPr>
        <p:txBody>
          <a:bodyPr vert="horz" wrap="square" lIns="0" tIns="0" rIns="0" bIns="0" rtlCol="0">
            <a:noAutofit/>
          </a:bodyPr>
          <a:lstStyle/>
          <a:p>
            <a:r>
              <a:rPr lang="en-US" sz="1500" b="1" smtClean="0">
                <a:solidFill>
                  <a:srgbClr val="00875A"/>
                </a:solidFill>
                <a:latin typeface="Segoe UI" panose="020B0502040204020203" pitchFamily="34" charset="0"/>
              </a:rPr>
              <a:t>Réversibilité</a:t>
            </a:r>
            <a:endParaRPr lang="en-US" sz="1500" b="1">
              <a:solidFill>
                <a:srgbClr val="00875A"/>
              </a:solidFill>
              <a:latin typeface="Segoe UI" panose="020B0502040204020203" pitchFamily="34" charset="0"/>
            </a:endParaRPr>
          </a:p>
        </p:txBody>
      </p:sp>
      <p:sp>
        <p:nvSpPr>
          <p:cNvPr id="34" name="ZoneTexte 33"/>
          <p:cNvSpPr txBox="1"/>
          <p:nvPr/>
        </p:nvSpPr>
        <p:spPr>
          <a:xfrm>
            <a:off x="8382000" y="3784600"/>
            <a:ext cx="3124200" cy="369332"/>
          </a:xfrm>
          <a:prstGeom prst="rect">
            <a:avLst/>
          </a:prstGeom>
          <a:noFill/>
        </p:spPr>
        <p:txBody>
          <a:bodyPr vert="horz" wrap="square" lIns="0" tIns="0" rIns="0" bIns="0" rtlCol="0">
            <a:noAutofit/>
          </a:bodyPr>
          <a:lstStyle/>
          <a:p>
            <a:r>
              <a:rPr lang="fr-FR" sz="1300" smtClean="0">
                <a:solidFill>
                  <a:srgbClr val="212121"/>
                </a:solidFill>
                <a:latin typeface="Segoe UI" panose="020B0502040204020203" pitchFamily="34" charset="0"/>
              </a:rPr>
              <a:t>Désactivation ou désinstallation instantanée depuis l'administration en cas de problème.</a:t>
            </a:r>
            <a:endParaRPr lang="en-US" sz="1300">
              <a:solidFill>
                <a:srgbClr val="212121"/>
              </a:solidFill>
              <a:latin typeface="Segoe UI" panose="020B0502040204020203" pitchFamily="34" charset="0"/>
            </a:endParaRPr>
          </a:p>
        </p:txBody>
      </p:sp>
    </p:spTree>
    <p:extLst>
      <p:ext uri="{BB962C8B-B14F-4D97-AF65-F5344CB8AC3E}">
        <p14:creationId xmlns:p14="http://schemas.microsoft.com/office/powerpoint/2010/main" val="2145341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1C1C1C"/>
                </a:solidFill>
                <a:latin typeface="Segoe UI" panose="020B0502040204020203" pitchFamily="34" charset="0"/>
              </a:rPr>
              <a:t>02 · OUTILLER</a:t>
            </a:r>
            <a:endParaRPr lang="en-US" sz="1000" b="1">
              <a:solidFill>
                <a:srgbClr val="1C1C1C"/>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en-US" sz="2400" b="1" smtClean="0">
                <a:solidFill>
                  <a:srgbClr val="212121"/>
                </a:solidFill>
                <a:latin typeface="Segoe UI" panose="020B0502040204020203" pitchFamily="34" charset="0"/>
              </a:rPr>
              <a:t>Prérequis et outillage</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8</a:t>
            </a:r>
            <a:endParaRPr lang="en-US" sz="900">
              <a:solidFill>
                <a:srgbClr val="6E6E6E"/>
              </a:solidFill>
              <a:latin typeface="Segoe UI" panose="020B0502040204020203" pitchFamily="34" charset="0"/>
            </a:endParaRPr>
          </a:p>
        </p:txBody>
      </p:sp>
      <p:sp>
        <p:nvSpPr>
          <p:cNvPr id="9" name="Rectangle 8"/>
          <p:cNvSpPr/>
          <p:nvPr/>
        </p:nvSpPr>
        <p:spPr>
          <a:xfrm>
            <a:off x="508000" y="1244600"/>
            <a:ext cx="3556000" cy="16510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0" name="Rectangle 9"/>
          <p:cNvSpPr/>
          <p:nvPr/>
        </p:nvSpPr>
        <p:spPr>
          <a:xfrm>
            <a:off x="508000" y="1244600"/>
            <a:ext cx="63500" cy="1651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1" name="ZoneTexte 10"/>
          <p:cNvSpPr txBox="1"/>
          <p:nvPr/>
        </p:nvSpPr>
        <p:spPr>
          <a:xfrm>
            <a:off x="762000" y="1397000"/>
            <a:ext cx="3124200" cy="369332"/>
          </a:xfrm>
          <a:prstGeom prst="rect">
            <a:avLst/>
          </a:prstGeom>
          <a:noFill/>
        </p:spPr>
        <p:txBody>
          <a:bodyPr vert="horz" wrap="square" lIns="0" tIns="0" rIns="0" bIns="0" rtlCol="0">
            <a:noAutofit/>
          </a:bodyPr>
          <a:lstStyle/>
          <a:p>
            <a:r>
              <a:rPr lang="en-US" sz="1600" b="1" smtClean="0">
                <a:solidFill>
                  <a:srgbClr val="C8102E"/>
                </a:solidFill>
                <a:latin typeface="Segoe UI" panose="020B0502040204020203" pitchFamily="34" charset="0"/>
              </a:rPr>
              <a:t>JDK 17+</a:t>
            </a:r>
            <a:endParaRPr lang="en-US" sz="1600" b="1">
              <a:solidFill>
                <a:srgbClr val="C8102E"/>
              </a:solidFill>
              <a:latin typeface="Segoe UI" panose="020B0502040204020203" pitchFamily="34" charset="0"/>
            </a:endParaRPr>
          </a:p>
        </p:txBody>
      </p:sp>
      <p:sp>
        <p:nvSpPr>
          <p:cNvPr id="12" name="ZoneTexte 11"/>
          <p:cNvSpPr txBox="1"/>
          <p:nvPr/>
        </p:nvSpPr>
        <p:spPr>
          <a:xfrm>
            <a:off x="762000" y="1727200"/>
            <a:ext cx="3124200" cy="369332"/>
          </a:xfrm>
          <a:prstGeom prst="rect">
            <a:avLst/>
          </a:prstGeom>
          <a:noFill/>
        </p:spPr>
        <p:txBody>
          <a:bodyPr vert="horz" wrap="square" lIns="0" tIns="0" rIns="0" bIns="0" rtlCol="0">
            <a:noAutofit/>
          </a:bodyPr>
          <a:lstStyle/>
          <a:p>
            <a:r>
              <a:rPr lang="fr-FR" sz="1250" smtClean="0">
                <a:solidFill>
                  <a:srgbClr val="212121"/>
                </a:solidFill>
                <a:latin typeface="Segoe UI" panose="020B0502040204020203" pitchFamily="34" charset="0"/>
              </a:rPr>
              <a:t>Version de Java supportée par la version de Jira ciblée (voir matrice de compatibilité Atlassian).</a:t>
            </a:r>
            <a:endParaRPr lang="en-US" sz="1250">
              <a:solidFill>
                <a:srgbClr val="212121"/>
              </a:solidFill>
              <a:latin typeface="Segoe UI" panose="020B0502040204020203" pitchFamily="34" charset="0"/>
            </a:endParaRPr>
          </a:p>
        </p:txBody>
      </p:sp>
      <p:sp>
        <p:nvSpPr>
          <p:cNvPr id="13" name="Rectangle 12"/>
          <p:cNvSpPr/>
          <p:nvPr/>
        </p:nvSpPr>
        <p:spPr>
          <a:xfrm>
            <a:off x="4318000" y="1244600"/>
            <a:ext cx="3556000" cy="16510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4" name="Rectangle 13"/>
          <p:cNvSpPr/>
          <p:nvPr/>
        </p:nvSpPr>
        <p:spPr>
          <a:xfrm>
            <a:off x="4318000" y="1244600"/>
            <a:ext cx="63500" cy="16510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5" name="ZoneTexte 14"/>
          <p:cNvSpPr txBox="1"/>
          <p:nvPr/>
        </p:nvSpPr>
        <p:spPr>
          <a:xfrm>
            <a:off x="4572000" y="1397000"/>
            <a:ext cx="3124200" cy="369332"/>
          </a:xfrm>
          <a:prstGeom prst="rect">
            <a:avLst/>
          </a:prstGeom>
          <a:noFill/>
        </p:spPr>
        <p:txBody>
          <a:bodyPr vert="horz" wrap="square" lIns="0" tIns="0" rIns="0" bIns="0" rtlCol="0">
            <a:noAutofit/>
          </a:bodyPr>
          <a:lstStyle/>
          <a:p>
            <a:r>
              <a:rPr lang="en-US" sz="1600" b="1" smtClean="0">
                <a:solidFill>
                  <a:srgbClr val="1C1C1C"/>
                </a:solidFill>
                <a:latin typeface="Segoe UI" panose="020B0502040204020203" pitchFamily="34" charset="0"/>
              </a:rPr>
              <a:t>Atlassian Plugin SDK</a:t>
            </a:r>
            <a:endParaRPr lang="en-US" sz="1600" b="1">
              <a:solidFill>
                <a:srgbClr val="1C1C1C"/>
              </a:solidFill>
              <a:latin typeface="Segoe UI" panose="020B0502040204020203" pitchFamily="34" charset="0"/>
            </a:endParaRPr>
          </a:p>
        </p:txBody>
      </p:sp>
      <p:sp>
        <p:nvSpPr>
          <p:cNvPr id="16" name="ZoneTexte 15"/>
          <p:cNvSpPr txBox="1"/>
          <p:nvPr/>
        </p:nvSpPr>
        <p:spPr>
          <a:xfrm>
            <a:off x="4572000" y="1727200"/>
            <a:ext cx="3124200" cy="369332"/>
          </a:xfrm>
          <a:prstGeom prst="rect">
            <a:avLst/>
          </a:prstGeom>
          <a:noFill/>
        </p:spPr>
        <p:txBody>
          <a:bodyPr vert="horz" wrap="square" lIns="0" tIns="0" rIns="0" bIns="0" rtlCol="0">
            <a:noAutofit/>
          </a:bodyPr>
          <a:lstStyle/>
          <a:p>
            <a:r>
              <a:rPr lang="fr-FR" sz="1250" smtClean="0">
                <a:solidFill>
                  <a:srgbClr val="212121"/>
                </a:solidFill>
                <a:latin typeface="Segoe UI" panose="020B0502040204020203" pitchFamily="34" charset="0"/>
              </a:rPr>
              <a:t>Commandes atlas-*, Maven préconfiguré et instance Jira de test locale.</a:t>
            </a:r>
            <a:endParaRPr lang="en-US" sz="1250">
              <a:solidFill>
                <a:srgbClr val="212121"/>
              </a:solidFill>
              <a:latin typeface="Segoe UI" panose="020B0502040204020203" pitchFamily="34" charset="0"/>
            </a:endParaRPr>
          </a:p>
        </p:txBody>
      </p:sp>
      <p:sp>
        <p:nvSpPr>
          <p:cNvPr id="17" name="Rectangle 16"/>
          <p:cNvSpPr/>
          <p:nvPr/>
        </p:nvSpPr>
        <p:spPr>
          <a:xfrm>
            <a:off x="8128000" y="1244600"/>
            <a:ext cx="3556000" cy="16510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8" name="Rectangle 17"/>
          <p:cNvSpPr/>
          <p:nvPr/>
        </p:nvSpPr>
        <p:spPr>
          <a:xfrm>
            <a:off x="8128000" y="1244600"/>
            <a:ext cx="63500" cy="1651000"/>
          </a:xfrm>
          <a:prstGeom prst="rect">
            <a:avLst/>
          </a:prstGeom>
          <a:solidFill>
            <a:srgbClr val="870A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9" name="ZoneTexte 18"/>
          <p:cNvSpPr txBox="1"/>
          <p:nvPr/>
        </p:nvSpPr>
        <p:spPr>
          <a:xfrm>
            <a:off x="8382000" y="1397000"/>
            <a:ext cx="3124200" cy="369332"/>
          </a:xfrm>
          <a:prstGeom prst="rect">
            <a:avLst/>
          </a:prstGeom>
          <a:noFill/>
        </p:spPr>
        <p:txBody>
          <a:bodyPr vert="horz" wrap="square" lIns="0" tIns="0" rIns="0" bIns="0" rtlCol="0">
            <a:noAutofit/>
          </a:bodyPr>
          <a:lstStyle/>
          <a:p>
            <a:r>
              <a:rPr lang="en-US" sz="1600" b="1" smtClean="0">
                <a:solidFill>
                  <a:srgbClr val="870A1E"/>
                </a:solidFill>
                <a:latin typeface="Segoe UI" panose="020B0502040204020203" pitchFamily="34" charset="0"/>
              </a:rPr>
              <a:t>Maven</a:t>
            </a:r>
            <a:endParaRPr lang="en-US" sz="1600" b="1">
              <a:solidFill>
                <a:srgbClr val="870A1E"/>
              </a:solidFill>
              <a:latin typeface="Segoe UI" panose="020B0502040204020203" pitchFamily="34" charset="0"/>
            </a:endParaRPr>
          </a:p>
        </p:txBody>
      </p:sp>
      <p:sp>
        <p:nvSpPr>
          <p:cNvPr id="20" name="ZoneTexte 19"/>
          <p:cNvSpPr txBox="1"/>
          <p:nvPr/>
        </p:nvSpPr>
        <p:spPr>
          <a:xfrm>
            <a:off x="8382000" y="1727200"/>
            <a:ext cx="3124200" cy="369332"/>
          </a:xfrm>
          <a:prstGeom prst="rect">
            <a:avLst/>
          </a:prstGeom>
          <a:noFill/>
        </p:spPr>
        <p:txBody>
          <a:bodyPr vert="horz" wrap="square" lIns="0" tIns="0" rIns="0" bIns="0" rtlCol="0">
            <a:noAutofit/>
          </a:bodyPr>
          <a:lstStyle/>
          <a:p>
            <a:r>
              <a:rPr lang="fr-FR" sz="1250" smtClean="0">
                <a:solidFill>
                  <a:srgbClr val="212121"/>
                </a:solidFill>
                <a:latin typeface="Segoe UI" panose="020B0502040204020203" pitchFamily="34" charset="0"/>
              </a:rPr>
              <a:t>Build, gestion des dépendances et packaging via le fichier pom.xml.</a:t>
            </a:r>
            <a:endParaRPr lang="en-US" sz="1250">
              <a:solidFill>
                <a:srgbClr val="212121"/>
              </a:solidFill>
              <a:latin typeface="Segoe UI" panose="020B0502040204020203" pitchFamily="34" charset="0"/>
            </a:endParaRPr>
          </a:p>
        </p:txBody>
      </p:sp>
      <p:sp>
        <p:nvSpPr>
          <p:cNvPr id="21" name="Rectangle 20"/>
          <p:cNvSpPr/>
          <p:nvPr/>
        </p:nvSpPr>
        <p:spPr>
          <a:xfrm>
            <a:off x="508000" y="3086100"/>
            <a:ext cx="3556000" cy="16510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2" name="Rectangle 21"/>
          <p:cNvSpPr/>
          <p:nvPr/>
        </p:nvSpPr>
        <p:spPr>
          <a:xfrm>
            <a:off x="508000" y="3086100"/>
            <a:ext cx="63500" cy="1651000"/>
          </a:xfrm>
          <a:prstGeom prst="rect">
            <a:avLst/>
          </a:prstGeom>
          <a:solidFill>
            <a:srgbClr val="4B4B4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3" name="ZoneTexte 22"/>
          <p:cNvSpPr txBox="1"/>
          <p:nvPr/>
        </p:nvSpPr>
        <p:spPr>
          <a:xfrm>
            <a:off x="762000" y="3238500"/>
            <a:ext cx="3124200" cy="369332"/>
          </a:xfrm>
          <a:prstGeom prst="rect">
            <a:avLst/>
          </a:prstGeom>
          <a:noFill/>
        </p:spPr>
        <p:txBody>
          <a:bodyPr vert="horz" wrap="square" lIns="0" tIns="0" rIns="0" bIns="0" rtlCol="0">
            <a:noAutofit/>
          </a:bodyPr>
          <a:lstStyle/>
          <a:p>
            <a:r>
              <a:rPr lang="en-US" sz="1600" b="1" smtClean="0">
                <a:solidFill>
                  <a:srgbClr val="4B4B4B"/>
                </a:solidFill>
                <a:latin typeface="Segoe UI" panose="020B0502040204020203" pitchFamily="34" charset="0"/>
              </a:rPr>
              <a:t>IDE Java</a:t>
            </a:r>
            <a:endParaRPr lang="en-US" sz="1600" b="1">
              <a:solidFill>
                <a:srgbClr val="4B4B4B"/>
              </a:solidFill>
              <a:latin typeface="Segoe UI" panose="020B0502040204020203" pitchFamily="34" charset="0"/>
            </a:endParaRPr>
          </a:p>
        </p:txBody>
      </p:sp>
      <p:sp>
        <p:nvSpPr>
          <p:cNvPr id="24" name="ZoneTexte 23"/>
          <p:cNvSpPr txBox="1"/>
          <p:nvPr/>
        </p:nvSpPr>
        <p:spPr>
          <a:xfrm>
            <a:off x="762000" y="3568700"/>
            <a:ext cx="3124200" cy="369332"/>
          </a:xfrm>
          <a:prstGeom prst="rect">
            <a:avLst/>
          </a:prstGeom>
          <a:noFill/>
        </p:spPr>
        <p:txBody>
          <a:bodyPr vert="horz" wrap="square" lIns="0" tIns="0" rIns="0" bIns="0" rtlCol="0">
            <a:noAutofit/>
          </a:bodyPr>
          <a:lstStyle/>
          <a:p>
            <a:r>
              <a:rPr lang="fr-FR" sz="1250" smtClean="0">
                <a:solidFill>
                  <a:srgbClr val="212121"/>
                </a:solidFill>
                <a:latin typeface="Segoe UI" panose="020B0502040204020203" pitchFamily="34" charset="0"/>
              </a:rPr>
              <a:t>IntelliJ IDEA (recommandé), Eclipse ou VS Code avec extensions Java.</a:t>
            </a:r>
            <a:endParaRPr lang="en-US" sz="1250">
              <a:solidFill>
                <a:srgbClr val="212121"/>
              </a:solidFill>
              <a:latin typeface="Segoe UI" panose="020B0502040204020203" pitchFamily="34" charset="0"/>
            </a:endParaRPr>
          </a:p>
        </p:txBody>
      </p:sp>
      <p:sp>
        <p:nvSpPr>
          <p:cNvPr id="25" name="Rectangle 24"/>
          <p:cNvSpPr/>
          <p:nvPr/>
        </p:nvSpPr>
        <p:spPr>
          <a:xfrm>
            <a:off x="4318000" y="3086100"/>
            <a:ext cx="3556000" cy="16510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6" name="Rectangle 25"/>
          <p:cNvSpPr/>
          <p:nvPr/>
        </p:nvSpPr>
        <p:spPr>
          <a:xfrm>
            <a:off x="4318000" y="3086100"/>
            <a:ext cx="63500" cy="1651000"/>
          </a:xfrm>
          <a:prstGeom prst="rect">
            <a:avLst/>
          </a:prstGeom>
          <a:solidFill>
            <a:srgbClr val="DE6E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7" name="ZoneTexte 26"/>
          <p:cNvSpPr txBox="1"/>
          <p:nvPr/>
        </p:nvSpPr>
        <p:spPr>
          <a:xfrm>
            <a:off x="4572000" y="3238500"/>
            <a:ext cx="3124200" cy="369332"/>
          </a:xfrm>
          <a:prstGeom prst="rect">
            <a:avLst/>
          </a:prstGeom>
          <a:noFill/>
        </p:spPr>
        <p:txBody>
          <a:bodyPr vert="horz" wrap="square" lIns="0" tIns="0" rIns="0" bIns="0" rtlCol="0">
            <a:noAutofit/>
          </a:bodyPr>
          <a:lstStyle/>
          <a:p>
            <a:r>
              <a:rPr lang="en-US" sz="1600" b="1" smtClean="0">
                <a:solidFill>
                  <a:srgbClr val="DE6E00"/>
                </a:solidFill>
                <a:latin typeface="Segoe UI" panose="020B0502040204020203" pitchFamily="34" charset="0"/>
              </a:rPr>
              <a:t>Git</a:t>
            </a:r>
            <a:endParaRPr lang="en-US" sz="1600" b="1">
              <a:solidFill>
                <a:srgbClr val="DE6E00"/>
              </a:solidFill>
              <a:latin typeface="Segoe UI" panose="020B0502040204020203" pitchFamily="34" charset="0"/>
            </a:endParaRPr>
          </a:p>
        </p:txBody>
      </p:sp>
      <p:sp>
        <p:nvSpPr>
          <p:cNvPr id="28" name="ZoneTexte 27"/>
          <p:cNvSpPr txBox="1"/>
          <p:nvPr/>
        </p:nvSpPr>
        <p:spPr>
          <a:xfrm>
            <a:off x="4572000" y="3568700"/>
            <a:ext cx="3124200" cy="369332"/>
          </a:xfrm>
          <a:prstGeom prst="rect">
            <a:avLst/>
          </a:prstGeom>
          <a:noFill/>
        </p:spPr>
        <p:txBody>
          <a:bodyPr vert="horz" wrap="square" lIns="0" tIns="0" rIns="0" bIns="0" rtlCol="0">
            <a:noAutofit/>
          </a:bodyPr>
          <a:lstStyle/>
          <a:p>
            <a:r>
              <a:rPr lang="fr-FR" sz="1250" smtClean="0">
                <a:solidFill>
                  <a:srgbClr val="212121"/>
                </a:solidFill>
                <a:latin typeface="Segoe UI" panose="020B0502040204020203" pitchFamily="34" charset="0"/>
              </a:rPr>
              <a:t>Versionnement du code, revues (pull requests), traçabilité des livraisons.</a:t>
            </a:r>
            <a:endParaRPr lang="en-US" sz="1250">
              <a:solidFill>
                <a:srgbClr val="212121"/>
              </a:solidFill>
              <a:latin typeface="Segoe UI" panose="020B0502040204020203" pitchFamily="34" charset="0"/>
            </a:endParaRPr>
          </a:p>
        </p:txBody>
      </p:sp>
      <p:sp>
        <p:nvSpPr>
          <p:cNvPr id="29" name="Rectangle 28"/>
          <p:cNvSpPr/>
          <p:nvPr/>
        </p:nvSpPr>
        <p:spPr>
          <a:xfrm>
            <a:off x="8128000" y="3086100"/>
            <a:ext cx="3556000" cy="16510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0" name="Rectangle 29"/>
          <p:cNvSpPr/>
          <p:nvPr/>
        </p:nvSpPr>
        <p:spPr>
          <a:xfrm>
            <a:off x="8128000" y="3086100"/>
            <a:ext cx="63500" cy="1651000"/>
          </a:xfrm>
          <a:prstGeom prst="rect">
            <a:avLst/>
          </a:prstGeom>
          <a:solidFill>
            <a:srgbClr val="0087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1" name="ZoneTexte 30"/>
          <p:cNvSpPr txBox="1"/>
          <p:nvPr/>
        </p:nvSpPr>
        <p:spPr>
          <a:xfrm>
            <a:off x="8382000" y="3238500"/>
            <a:ext cx="3124200" cy="369332"/>
          </a:xfrm>
          <a:prstGeom prst="rect">
            <a:avLst/>
          </a:prstGeom>
          <a:noFill/>
        </p:spPr>
        <p:txBody>
          <a:bodyPr vert="horz" wrap="square" lIns="0" tIns="0" rIns="0" bIns="0" rtlCol="0">
            <a:noAutofit/>
          </a:bodyPr>
          <a:lstStyle/>
          <a:p>
            <a:r>
              <a:rPr lang="en-US" sz="1600" b="1" smtClean="0">
                <a:solidFill>
                  <a:srgbClr val="00875A"/>
                </a:solidFill>
                <a:latin typeface="Segoe UI" panose="020B0502040204020203" pitchFamily="34" charset="0"/>
              </a:rPr>
              <a:t>Instance de recette</a:t>
            </a:r>
            <a:endParaRPr lang="en-US" sz="1600" b="1">
              <a:solidFill>
                <a:srgbClr val="00875A"/>
              </a:solidFill>
              <a:latin typeface="Segoe UI" panose="020B0502040204020203" pitchFamily="34" charset="0"/>
            </a:endParaRPr>
          </a:p>
        </p:txBody>
      </p:sp>
      <p:sp>
        <p:nvSpPr>
          <p:cNvPr id="32" name="ZoneTexte 31"/>
          <p:cNvSpPr txBox="1"/>
          <p:nvPr/>
        </p:nvSpPr>
        <p:spPr>
          <a:xfrm>
            <a:off x="8382000" y="3568700"/>
            <a:ext cx="3124200" cy="369332"/>
          </a:xfrm>
          <a:prstGeom prst="rect">
            <a:avLst/>
          </a:prstGeom>
          <a:noFill/>
        </p:spPr>
        <p:txBody>
          <a:bodyPr vert="horz" wrap="square" lIns="0" tIns="0" rIns="0" bIns="0" rtlCol="0">
            <a:noAutofit/>
          </a:bodyPr>
          <a:lstStyle/>
          <a:p>
            <a:r>
              <a:rPr lang="fr-FR" sz="1250" smtClean="0">
                <a:solidFill>
                  <a:srgbClr val="212121"/>
                </a:solidFill>
                <a:latin typeface="Segoe UI" panose="020B0502040204020203" pitchFamily="34" charset="0"/>
              </a:rPr>
              <a:t>Jira Data Center iso-production pour valider avant la mise en production.</a:t>
            </a:r>
            <a:endParaRPr lang="en-US" sz="1250">
              <a:solidFill>
                <a:srgbClr val="212121"/>
              </a:solidFill>
              <a:latin typeface="Segoe UI" panose="020B0502040204020203" pitchFamily="34" charset="0"/>
            </a:endParaRPr>
          </a:p>
        </p:txBody>
      </p:sp>
      <p:sp>
        <p:nvSpPr>
          <p:cNvPr id="33" name="Rectangle 32"/>
          <p:cNvSpPr/>
          <p:nvPr/>
        </p:nvSpPr>
        <p:spPr>
          <a:xfrm>
            <a:off x="508000" y="5080000"/>
            <a:ext cx="11176000" cy="1016000"/>
          </a:xfrm>
          <a:prstGeom prst="rect">
            <a:avLst/>
          </a:prstGeom>
          <a:solidFill>
            <a:srgbClr val="FFF7D6"/>
          </a:solidFill>
          <a:ln w="15875" cap="flat" cmpd="sng" algn="ctr">
            <a:solidFill>
              <a:srgbClr val="FFAB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4" name="ZoneTexte 33"/>
          <p:cNvSpPr txBox="1"/>
          <p:nvPr/>
        </p:nvSpPr>
        <p:spPr>
          <a:xfrm>
            <a:off x="762000" y="5232400"/>
            <a:ext cx="10668000" cy="369332"/>
          </a:xfrm>
          <a:prstGeom prst="rect">
            <a:avLst/>
          </a:prstGeom>
          <a:noFill/>
        </p:spPr>
        <p:txBody>
          <a:bodyPr vert="horz" wrap="square" lIns="0" tIns="0" rIns="0" bIns="0" rtlCol="0">
            <a:noAutofit/>
          </a:bodyPr>
          <a:lstStyle/>
          <a:p>
            <a:r>
              <a:rPr lang="en-US" sz="1300" b="1" smtClean="0">
                <a:solidFill>
                  <a:srgbClr val="DE6E00"/>
                </a:solidFill>
                <a:latin typeface="Segoe UI" panose="020B0502040204020203" pitchFamily="34" charset="0"/>
              </a:rPr>
              <a:t>Retour d'expérience</a:t>
            </a:r>
            <a:endParaRPr lang="en-US" sz="1300" b="1">
              <a:solidFill>
                <a:srgbClr val="DE6E00"/>
              </a:solidFill>
              <a:latin typeface="Segoe UI" panose="020B0502040204020203" pitchFamily="34" charset="0"/>
            </a:endParaRPr>
          </a:p>
        </p:txBody>
      </p:sp>
      <p:sp>
        <p:nvSpPr>
          <p:cNvPr id="35" name="ZoneTexte 34"/>
          <p:cNvSpPr txBox="1"/>
          <p:nvPr/>
        </p:nvSpPr>
        <p:spPr>
          <a:xfrm>
            <a:off x="762000" y="5511800"/>
            <a:ext cx="10668000" cy="369332"/>
          </a:xfrm>
          <a:prstGeom prst="rect">
            <a:avLst/>
          </a:prstGeom>
          <a:noFill/>
        </p:spPr>
        <p:txBody>
          <a:bodyPr vert="horz" wrap="square" lIns="0" tIns="0" rIns="0" bIns="0" rtlCol="0">
            <a:noAutofit/>
          </a:bodyPr>
          <a:lstStyle/>
          <a:p>
            <a:r>
              <a:rPr lang="fr-FR" sz="1250" smtClean="0">
                <a:solidFill>
                  <a:srgbClr val="212121"/>
                </a:solidFill>
                <a:latin typeface="Segoe UI" panose="020B0502040204020203" pitchFamily="34" charset="0"/>
              </a:rPr>
              <a:t>Sous Windows, installer le SDK dans un chemin sans espace (ex. C:\atlassian-sdk). Un chemin du type « C:\Program Files » provoque des erreurs Maven au lancement des commandes atlas-*.</a:t>
            </a:r>
            <a:endParaRPr lang="en-US" sz="1250">
              <a:solidFill>
                <a:srgbClr val="212121"/>
              </a:solidFill>
              <a:latin typeface="Segoe UI" panose="020B0502040204020203" pitchFamily="34" charset="0"/>
            </a:endParaRPr>
          </a:p>
        </p:txBody>
      </p:sp>
    </p:spTree>
    <p:extLst>
      <p:ext uri="{BB962C8B-B14F-4D97-AF65-F5344CB8AC3E}">
        <p14:creationId xmlns:p14="http://schemas.microsoft.com/office/powerpoint/2010/main" val="27931499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1C1C1C"/>
                </a:solidFill>
                <a:latin typeface="Segoe UI" panose="020B0502040204020203" pitchFamily="34" charset="0"/>
              </a:rPr>
              <a:t>02 · OUTILLER</a:t>
            </a:r>
            <a:endParaRPr lang="en-US" sz="1000" b="1">
              <a:solidFill>
                <a:srgbClr val="1C1C1C"/>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fr-FR" sz="2400" b="1" smtClean="0">
                <a:solidFill>
                  <a:srgbClr val="212121"/>
                </a:solidFill>
                <a:latin typeface="Segoe UI" panose="020B0502040204020203" pitchFamily="34" charset="0"/>
              </a:rPr>
              <a:t>Étape 1 : créer le projet</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9</a:t>
            </a:r>
            <a:endParaRPr lang="en-US" sz="900">
              <a:solidFill>
                <a:srgbClr val="6E6E6E"/>
              </a:solidFill>
              <a:latin typeface="Segoe UI" panose="020B0502040204020203" pitchFamily="34" charset="0"/>
            </a:endParaRPr>
          </a:p>
        </p:txBody>
      </p:sp>
      <p:sp>
        <p:nvSpPr>
          <p:cNvPr id="9" name="Rectangle 8"/>
          <p:cNvSpPr/>
          <p:nvPr/>
        </p:nvSpPr>
        <p:spPr>
          <a:xfrm>
            <a:off x="508000" y="1244600"/>
            <a:ext cx="5842000" cy="2921000"/>
          </a:xfrm>
          <a:prstGeom prst="rect">
            <a:avLst/>
          </a:prstGeom>
          <a:solidFill>
            <a:srgbClr val="1E1E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0" name="Ellipse 9"/>
          <p:cNvSpPr/>
          <p:nvPr/>
        </p:nvSpPr>
        <p:spPr>
          <a:xfrm>
            <a:off x="660400" y="1371600"/>
            <a:ext cx="114300" cy="114300"/>
          </a:xfrm>
          <a:prstGeom prst="ellipse">
            <a:avLst/>
          </a:prstGeom>
          <a:solidFill>
            <a:srgbClr val="FF5F5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1" name="Ellipse 10"/>
          <p:cNvSpPr/>
          <p:nvPr/>
        </p:nvSpPr>
        <p:spPr>
          <a:xfrm>
            <a:off x="838200" y="1371600"/>
            <a:ext cx="114300" cy="114300"/>
          </a:xfrm>
          <a:prstGeom prst="ellipse">
            <a:avLst/>
          </a:prstGeom>
          <a:solidFill>
            <a:srgbClr val="FFBD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2" name="Ellipse 11"/>
          <p:cNvSpPr/>
          <p:nvPr/>
        </p:nvSpPr>
        <p:spPr>
          <a:xfrm>
            <a:off x="1016000" y="1371600"/>
            <a:ext cx="114300" cy="114300"/>
          </a:xfrm>
          <a:prstGeom prst="ellipse">
            <a:avLst/>
          </a:prstGeom>
          <a:solidFill>
            <a:srgbClr val="27C93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3" name="ZoneTexte 12"/>
          <p:cNvSpPr txBox="1"/>
          <p:nvPr/>
        </p:nvSpPr>
        <p:spPr>
          <a:xfrm>
            <a:off x="1270000" y="1333500"/>
            <a:ext cx="4927600" cy="369332"/>
          </a:xfrm>
          <a:prstGeom prst="rect">
            <a:avLst/>
          </a:prstGeom>
          <a:noFill/>
        </p:spPr>
        <p:txBody>
          <a:bodyPr vert="horz" wrap="square" lIns="0" tIns="0" rIns="0" bIns="0" rtlCol="0">
            <a:noAutofit/>
          </a:bodyPr>
          <a:lstStyle/>
          <a:p>
            <a:pPr algn="r"/>
            <a:r>
              <a:rPr lang="en-US" sz="900" smtClean="0">
                <a:solidFill>
                  <a:srgbClr val="969696"/>
                </a:solidFill>
                <a:latin typeface="Consolas" panose="020B0609020204030204" pitchFamily="49" charset="0"/>
              </a:rPr>
              <a:t>terminal</a:t>
            </a:r>
            <a:endParaRPr lang="en-US" sz="900">
              <a:solidFill>
                <a:srgbClr val="969696"/>
              </a:solidFill>
              <a:latin typeface="Consolas" panose="020B0609020204030204" pitchFamily="49" charset="0"/>
            </a:endParaRPr>
          </a:p>
        </p:txBody>
      </p:sp>
      <p:sp>
        <p:nvSpPr>
          <p:cNvPr id="14" name="ZoneTexte 13"/>
          <p:cNvSpPr txBox="1"/>
          <p:nvPr/>
        </p:nvSpPr>
        <p:spPr>
          <a:xfrm>
            <a:off x="711200" y="1625600"/>
            <a:ext cx="5486400" cy="369332"/>
          </a:xfrm>
          <a:prstGeom prst="rect">
            <a:avLst/>
          </a:prstGeom>
          <a:noFill/>
        </p:spPr>
        <p:txBody>
          <a:bodyPr vert="horz" wrap="square" lIns="0" tIns="0" rIns="0" bIns="0" rtlCol="0">
            <a:noAutofit/>
          </a:bodyPr>
          <a:lstStyle/>
          <a:p>
            <a:r>
              <a:rPr lang="en-US" sz="1000" smtClean="0">
                <a:solidFill>
                  <a:srgbClr val="FF7882"/>
                </a:solidFill>
                <a:latin typeface="Consolas" panose="020B0609020204030204" pitchFamily="49" charset="0"/>
              </a:rPr>
              <a:t>&gt; atlas-create-jira-plugin</a:t>
            </a:r>
          </a:p>
          <a:p>
            <a:endParaRPr lang="en-US" sz="1000" smtClean="0">
              <a:solidFill>
                <a:srgbClr val="DEDEDE"/>
              </a:solidFill>
              <a:latin typeface="Consolas" panose="020B0609020204030204" pitchFamily="49" charset="0"/>
            </a:endParaRPr>
          </a:p>
          <a:p>
            <a:r>
              <a:rPr lang="en-US" sz="1000" smtClean="0">
                <a:solidFill>
                  <a:srgbClr val="DEDEDE"/>
                </a:solidFill>
                <a:latin typeface="Consolas" panose="020B0609020204030204" pitchFamily="49" charset="0"/>
              </a:rPr>
              <a:t>Define value for groupId    : com.mabanque.jira.plugins</a:t>
            </a:r>
          </a:p>
          <a:p>
            <a:r>
              <a:rPr lang="en-US" sz="1000" smtClean="0">
                <a:solidFill>
                  <a:srgbClr val="DEDEDE"/>
                </a:solidFill>
                <a:latin typeface="Consolas" panose="020B0609020204030204" pitchFamily="49" charset="0"/>
              </a:rPr>
              <a:t>Define value for artifactId : jira-clarification-loop</a:t>
            </a:r>
          </a:p>
          <a:p>
            <a:r>
              <a:rPr lang="en-US" sz="1000" smtClean="0">
                <a:solidFill>
                  <a:srgbClr val="DEDEDE"/>
                </a:solidFill>
                <a:latin typeface="Consolas" panose="020B0609020204030204" pitchFamily="49" charset="0"/>
              </a:rPr>
              <a:t>Define value for version    : 1.0.0-SNAPSHOT</a:t>
            </a:r>
          </a:p>
          <a:p>
            <a:r>
              <a:rPr lang="en-US" sz="1000" smtClean="0">
                <a:solidFill>
                  <a:srgbClr val="DEDEDE"/>
                </a:solidFill>
                <a:latin typeface="Consolas" panose="020B0609020204030204" pitchFamily="49" charset="0"/>
              </a:rPr>
              <a:t>Define value for package    : com.mabanque.jira.plugins.clarification</a:t>
            </a:r>
          </a:p>
          <a:p>
            <a:endParaRPr lang="en-US" sz="1000" smtClean="0">
              <a:solidFill>
                <a:srgbClr val="DEDEDE"/>
              </a:solidFill>
              <a:latin typeface="Consolas" panose="020B0609020204030204" pitchFamily="49" charset="0"/>
            </a:endParaRPr>
          </a:p>
          <a:p>
            <a:r>
              <a:rPr lang="en-US" sz="1000" smtClean="0">
                <a:solidFill>
                  <a:srgbClr val="27C93F"/>
                </a:solidFill>
                <a:latin typeface="Consolas" panose="020B0609020204030204" pitchFamily="49" charset="0"/>
              </a:rPr>
              <a:t>[INFO] BUILD SUCCESS</a:t>
            </a:r>
            <a:endParaRPr lang="en-US" sz="1000">
              <a:solidFill>
                <a:srgbClr val="27C93F"/>
              </a:solidFill>
              <a:latin typeface="Consolas" panose="020B0609020204030204" pitchFamily="49" charset="0"/>
            </a:endParaRPr>
          </a:p>
        </p:txBody>
      </p:sp>
      <p:sp>
        <p:nvSpPr>
          <p:cNvPr id="15" name="Rectangle 14"/>
          <p:cNvSpPr/>
          <p:nvPr/>
        </p:nvSpPr>
        <p:spPr>
          <a:xfrm>
            <a:off x="508000" y="4381500"/>
            <a:ext cx="5842000" cy="1778000"/>
          </a:xfrm>
          <a:prstGeom prst="rect">
            <a:avLst/>
          </a:prstGeom>
          <a:solidFill>
            <a:srgbClr val="1E1E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6" name="Ellipse 15"/>
          <p:cNvSpPr/>
          <p:nvPr/>
        </p:nvSpPr>
        <p:spPr>
          <a:xfrm>
            <a:off x="660400" y="4508500"/>
            <a:ext cx="114300" cy="114300"/>
          </a:xfrm>
          <a:prstGeom prst="ellipse">
            <a:avLst/>
          </a:prstGeom>
          <a:solidFill>
            <a:srgbClr val="FF5F5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7" name="Ellipse 16"/>
          <p:cNvSpPr/>
          <p:nvPr/>
        </p:nvSpPr>
        <p:spPr>
          <a:xfrm>
            <a:off x="838200" y="4508500"/>
            <a:ext cx="114300" cy="114300"/>
          </a:xfrm>
          <a:prstGeom prst="ellipse">
            <a:avLst/>
          </a:prstGeom>
          <a:solidFill>
            <a:srgbClr val="FFBD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8" name="Ellipse 17"/>
          <p:cNvSpPr/>
          <p:nvPr/>
        </p:nvSpPr>
        <p:spPr>
          <a:xfrm>
            <a:off x="1016000" y="4508500"/>
            <a:ext cx="114300" cy="114300"/>
          </a:xfrm>
          <a:prstGeom prst="ellipse">
            <a:avLst/>
          </a:prstGeom>
          <a:solidFill>
            <a:srgbClr val="27C93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9" name="ZoneTexte 18"/>
          <p:cNvSpPr txBox="1"/>
          <p:nvPr/>
        </p:nvSpPr>
        <p:spPr>
          <a:xfrm>
            <a:off x="1270000" y="4470400"/>
            <a:ext cx="4927600" cy="369332"/>
          </a:xfrm>
          <a:prstGeom prst="rect">
            <a:avLst/>
          </a:prstGeom>
          <a:noFill/>
        </p:spPr>
        <p:txBody>
          <a:bodyPr vert="horz" wrap="square" lIns="0" tIns="0" rIns="0" bIns="0" rtlCol="0">
            <a:noAutofit/>
          </a:bodyPr>
          <a:lstStyle/>
          <a:p>
            <a:pPr algn="r"/>
            <a:r>
              <a:rPr lang="en-US" sz="900" smtClean="0">
                <a:solidFill>
                  <a:srgbClr val="969696"/>
                </a:solidFill>
                <a:latin typeface="Consolas" panose="020B0609020204030204" pitchFamily="49" charset="0"/>
              </a:rPr>
              <a:t>pom.xml</a:t>
            </a:r>
            <a:endParaRPr lang="en-US" sz="900">
              <a:solidFill>
                <a:srgbClr val="969696"/>
              </a:solidFill>
              <a:latin typeface="Consolas" panose="020B0609020204030204" pitchFamily="49" charset="0"/>
            </a:endParaRPr>
          </a:p>
        </p:txBody>
      </p:sp>
      <p:sp>
        <p:nvSpPr>
          <p:cNvPr id="20" name="ZoneTexte 19"/>
          <p:cNvSpPr txBox="1"/>
          <p:nvPr/>
        </p:nvSpPr>
        <p:spPr>
          <a:xfrm>
            <a:off x="711200" y="4762500"/>
            <a:ext cx="5486400" cy="369332"/>
          </a:xfrm>
          <a:prstGeom prst="rect">
            <a:avLst/>
          </a:prstGeom>
          <a:noFill/>
        </p:spPr>
        <p:txBody>
          <a:bodyPr vert="horz" wrap="square" lIns="0" tIns="0" rIns="0" bIns="0" rtlCol="0">
            <a:noAutofit/>
          </a:bodyPr>
          <a:lstStyle/>
          <a:p>
            <a:r>
              <a:rPr lang="fr-FR" sz="1150" smtClean="0">
                <a:solidFill>
                  <a:srgbClr val="DEDEDE"/>
                </a:solidFill>
                <a:latin typeface="Consolas" panose="020B0609020204030204" pitchFamily="49" charset="0"/>
              </a:rPr>
              <a:t>&lt;properties&gt;</a:t>
            </a:r>
          </a:p>
          <a:p>
            <a:r>
              <a:rPr lang="fr-FR" sz="1150" smtClean="0">
                <a:solidFill>
                  <a:srgbClr val="6A9955"/>
                </a:solidFill>
                <a:latin typeface="Consolas" panose="020B0609020204030204" pitchFamily="49" charset="0"/>
              </a:rPr>
              <a:t>    &lt;!-- Version de Jira ciblée (celle de la production) --&gt;</a:t>
            </a:r>
          </a:p>
          <a:p>
            <a:r>
              <a:rPr lang="fr-FR" sz="1150" smtClean="0">
                <a:solidFill>
                  <a:srgbClr val="DEDEDE"/>
                </a:solidFill>
                <a:latin typeface="Consolas" panose="020B0609020204030204" pitchFamily="49" charset="0"/>
              </a:rPr>
              <a:t>    &lt;jira.version&gt;10.3.5&lt;/jira.version&gt;</a:t>
            </a:r>
          </a:p>
          <a:p>
            <a:r>
              <a:rPr lang="fr-FR" sz="1150" smtClean="0">
                <a:solidFill>
                  <a:srgbClr val="DEDEDE"/>
                </a:solidFill>
                <a:latin typeface="Consolas" panose="020B0609020204030204" pitchFamily="49" charset="0"/>
              </a:rPr>
              <a:t>&lt;/properties&gt;</a:t>
            </a:r>
            <a:endParaRPr lang="en-US" sz="1150">
              <a:solidFill>
                <a:srgbClr val="DEDEDE"/>
              </a:solidFill>
              <a:latin typeface="Consolas" panose="020B0609020204030204" pitchFamily="49" charset="0"/>
            </a:endParaRPr>
          </a:p>
        </p:txBody>
      </p:sp>
      <p:sp>
        <p:nvSpPr>
          <p:cNvPr id="21" name="Ellipse 20"/>
          <p:cNvSpPr/>
          <p:nvPr/>
        </p:nvSpPr>
        <p:spPr>
          <a:xfrm>
            <a:off x="6731000" y="1320800"/>
            <a:ext cx="406400" cy="406400"/>
          </a:xfrm>
          <a:prstGeom prst="ellipse">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400" b="1" smtClean="0">
                <a:solidFill>
                  <a:srgbClr val="FFFFFF"/>
                </a:solidFill>
                <a:latin typeface="Segoe UI" panose="020B0502040204020203" pitchFamily="34" charset="0"/>
              </a:rPr>
              <a:t>1</a:t>
            </a:r>
            <a:endParaRPr lang="en-US" sz="1400" b="1">
              <a:solidFill>
                <a:srgbClr val="FFFFFF"/>
              </a:solidFill>
              <a:latin typeface="Segoe UI" panose="020B0502040204020203" pitchFamily="34" charset="0"/>
            </a:endParaRPr>
          </a:p>
        </p:txBody>
      </p:sp>
      <p:sp>
        <p:nvSpPr>
          <p:cNvPr id="22" name="ZoneTexte 21"/>
          <p:cNvSpPr txBox="1"/>
          <p:nvPr/>
        </p:nvSpPr>
        <p:spPr>
          <a:xfrm>
            <a:off x="7315200" y="1346200"/>
            <a:ext cx="4368800" cy="369332"/>
          </a:xfrm>
          <a:prstGeom prst="rect">
            <a:avLst/>
          </a:prstGeom>
          <a:noFill/>
        </p:spPr>
        <p:txBody>
          <a:bodyPr vert="horz" wrap="square" lIns="0" tIns="0" rIns="0" bIns="0" rtlCol="0">
            <a:noAutofit/>
          </a:bodyPr>
          <a:lstStyle/>
          <a:p>
            <a:r>
              <a:rPr lang="en-US" sz="1500" b="1" smtClean="0">
                <a:solidFill>
                  <a:srgbClr val="212121"/>
                </a:solidFill>
                <a:latin typeface="Segoe UI" panose="020B0502040204020203" pitchFamily="34" charset="0"/>
              </a:rPr>
              <a:t>Générer le squelette</a:t>
            </a:r>
            <a:endParaRPr lang="en-US" sz="1500" b="1">
              <a:solidFill>
                <a:srgbClr val="212121"/>
              </a:solidFill>
              <a:latin typeface="Segoe UI" panose="020B0502040204020203" pitchFamily="34" charset="0"/>
            </a:endParaRPr>
          </a:p>
        </p:txBody>
      </p:sp>
      <p:sp>
        <p:nvSpPr>
          <p:cNvPr id="23" name="ZoneTexte 22"/>
          <p:cNvSpPr txBox="1"/>
          <p:nvPr/>
        </p:nvSpPr>
        <p:spPr>
          <a:xfrm>
            <a:off x="7315200" y="1651000"/>
            <a:ext cx="4368800" cy="369332"/>
          </a:xfrm>
          <a:prstGeom prst="rect">
            <a:avLst/>
          </a:prstGeom>
          <a:noFill/>
        </p:spPr>
        <p:txBody>
          <a:bodyPr vert="horz" wrap="square" lIns="0" tIns="0" rIns="0" bIns="0" rtlCol="0">
            <a:noAutofit/>
          </a:bodyPr>
          <a:lstStyle/>
          <a:p>
            <a:r>
              <a:rPr lang="fr-FR" sz="1250" smtClean="0">
                <a:solidFill>
                  <a:srgbClr val="6E6E6E"/>
                </a:solidFill>
                <a:latin typeface="Segoe UI" panose="020B0502040204020203" pitchFamily="34" charset="0"/>
              </a:rPr>
              <a:t>La commande interactive crée un projet Maven complet et fonctionnel.</a:t>
            </a:r>
            <a:endParaRPr lang="en-US" sz="1250">
              <a:solidFill>
                <a:srgbClr val="6E6E6E"/>
              </a:solidFill>
              <a:latin typeface="Segoe UI" panose="020B0502040204020203" pitchFamily="34" charset="0"/>
            </a:endParaRPr>
          </a:p>
        </p:txBody>
      </p:sp>
      <p:sp>
        <p:nvSpPr>
          <p:cNvPr id="24" name="Ellipse 23"/>
          <p:cNvSpPr/>
          <p:nvPr/>
        </p:nvSpPr>
        <p:spPr>
          <a:xfrm>
            <a:off x="6731000" y="2540000"/>
            <a:ext cx="406400" cy="406400"/>
          </a:xfrm>
          <a:prstGeom prst="ellipse">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400" b="1" smtClean="0">
                <a:solidFill>
                  <a:srgbClr val="FFFFFF"/>
                </a:solidFill>
                <a:latin typeface="Segoe UI" panose="020B0502040204020203" pitchFamily="34" charset="0"/>
              </a:rPr>
              <a:t>2</a:t>
            </a:r>
            <a:endParaRPr lang="en-US" sz="1400" b="1">
              <a:solidFill>
                <a:srgbClr val="FFFFFF"/>
              </a:solidFill>
              <a:latin typeface="Segoe UI" panose="020B0502040204020203" pitchFamily="34" charset="0"/>
            </a:endParaRPr>
          </a:p>
        </p:txBody>
      </p:sp>
      <p:sp>
        <p:nvSpPr>
          <p:cNvPr id="25" name="ZoneTexte 24"/>
          <p:cNvSpPr txBox="1"/>
          <p:nvPr/>
        </p:nvSpPr>
        <p:spPr>
          <a:xfrm>
            <a:off x="7315200" y="2565400"/>
            <a:ext cx="4368800" cy="369332"/>
          </a:xfrm>
          <a:prstGeom prst="rect">
            <a:avLst/>
          </a:prstGeom>
          <a:noFill/>
        </p:spPr>
        <p:txBody>
          <a:bodyPr vert="horz" wrap="square" lIns="0" tIns="0" rIns="0" bIns="0" rtlCol="0">
            <a:noAutofit/>
          </a:bodyPr>
          <a:lstStyle/>
          <a:p>
            <a:r>
              <a:rPr lang="en-US" sz="1500" b="1" smtClean="0">
                <a:solidFill>
                  <a:srgbClr val="212121"/>
                </a:solidFill>
                <a:latin typeface="Segoe UI" panose="020B0502040204020203" pitchFamily="34" charset="0"/>
              </a:rPr>
              <a:t>Identifier le plugin</a:t>
            </a:r>
            <a:endParaRPr lang="en-US" sz="1500" b="1">
              <a:solidFill>
                <a:srgbClr val="212121"/>
              </a:solidFill>
              <a:latin typeface="Segoe UI" panose="020B0502040204020203" pitchFamily="34" charset="0"/>
            </a:endParaRPr>
          </a:p>
        </p:txBody>
      </p:sp>
      <p:sp>
        <p:nvSpPr>
          <p:cNvPr id="26" name="ZoneTexte 25"/>
          <p:cNvSpPr txBox="1"/>
          <p:nvPr/>
        </p:nvSpPr>
        <p:spPr>
          <a:xfrm>
            <a:off x="7315200" y="2870200"/>
            <a:ext cx="4368800" cy="369332"/>
          </a:xfrm>
          <a:prstGeom prst="rect">
            <a:avLst/>
          </a:prstGeom>
          <a:noFill/>
        </p:spPr>
        <p:txBody>
          <a:bodyPr vert="horz" wrap="square" lIns="0" tIns="0" rIns="0" bIns="0" rtlCol="0">
            <a:noAutofit/>
          </a:bodyPr>
          <a:lstStyle/>
          <a:p>
            <a:r>
              <a:rPr lang="fr-FR" sz="1250" smtClean="0">
                <a:solidFill>
                  <a:srgbClr val="6E6E6E"/>
                </a:solidFill>
                <a:latin typeface="Segoe UI" panose="020B0502040204020203" pitchFamily="34" charset="0"/>
              </a:rPr>
              <a:t>groupId + artifactId forment la clé unique du plugin (ex. jira-clarification-loop).</a:t>
            </a:r>
            <a:endParaRPr lang="en-US" sz="1250">
              <a:solidFill>
                <a:srgbClr val="6E6E6E"/>
              </a:solidFill>
              <a:latin typeface="Segoe UI" panose="020B0502040204020203" pitchFamily="34" charset="0"/>
            </a:endParaRPr>
          </a:p>
        </p:txBody>
      </p:sp>
      <p:sp>
        <p:nvSpPr>
          <p:cNvPr id="27" name="Ellipse 26"/>
          <p:cNvSpPr/>
          <p:nvPr/>
        </p:nvSpPr>
        <p:spPr>
          <a:xfrm>
            <a:off x="6731000" y="3759200"/>
            <a:ext cx="406400" cy="406400"/>
          </a:xfrm>
          <a:prstGeom prst="ellipse">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400" b="1" smtClean="0">
                <a:solidFill>
                  <a:srgbClr val="FFFFFF"/>
                </a:solidFill>
                <a:latin typeface="Segoe UI" panose="020B0502040204020203" pitchFamily="34" charset="0"/>
              </a:rPr>
              <a:t>3</a:t>
            </a:r>
            <a:endParaRPr lang="en-US" sz="1400" b="1">
              <a:solidFill>
                <a:srgbClr val="FFFFFF"/>
              </a:solidFill>
              <a:latin typeface="Segoe UI" panose="020B0502040204020203" pitchFamily="34" charset="0"/>
            </a:endParaRPr>
          </a:p>
        </p:txBody>
      </p:sp>
      <p:sp>
        <p:nvSpPr>
          <p:cNvPr id="28" name="ZoneTexte 27"/>
          <p:cNvSpPr txBox="1"/>
          <p:nvPr/>
        </p:nvSpPr>
        <p:spPr>
          <a:xfrm>
            <a:off x="7315200" y="3784600"/>
            <a:ext cx="4368800" cy="369332"/>
          </a:xfrm>
          <a:prstGeom prst="rect">
            <a:avLst/>
          </a:prstGeom>
          <a:noFill/>
        </p:spPr>
        <p:txBody>
          <a:bodyPr vert="horz" wrap="square" lIns="0" tIns="0" rIns="0" bIns="0" rtlCol="0">
            <a:noAutofit/>
          </a:bodyPr>
          <a:lstStyle/>
          <a:p>
            <a:r>
              <a:rPr lang="en-US" sz="1500" b="1" smtClean="0">
                <a:solidFill>
                  <a:srgbClr val="212121"/>
                </a:solidFill>
                <a:latin typeface="Segoe UI" panose="020B0502040204020203" pitchFamily="34" charset="0"/>
              </a:rPr>
              <a:t>Cibler la bonne version</a:t>
            </a:r>
            <a:endParaRPr lang="en-US" sz="1500" b="1">
              <a:solidFill>
                <a:srgbClr val="212121"/>
              </a:solidFill>
              <a:latin typeface="Segoe UI" panose="020B0502040204020203" pitchFamily="34" charset="0"/>
            </a:endParaRPr>
          </a:p>
        </p:txBody>
      </p:sp>
      <p:sp>
        <p:nvSpPr>
          <p:cNvPr id="29" name="ZoneTexte 28"/>
          <p:cNvSpPr txBox="1"/>
          <p:nvPr/>
        </p:nvSpPr>
        <p:spPr>
          <a:xfrm>
            <a:off x="7315200" y="4089400"/>
            <a:ext cx="4368800" cy="369332"/>
          </a:xfrm>
          <a:prstGeom prst="rect">
            <a:avLst/>
          </a:prstGeom>
          <a:noFill/>
        </p:spPr>
        <p:txBody>
          <a:bodyPr vert="horz" wrap="square" lIns="0" tIns="0" rIns="0" bIns="0" rtlCol="0">
            <a:noAutofit/>
          </a:bodyPr>
          <a:lstStyle/>
          <a:p>
            <a:r>
              <a:rPr lang="fr-FR" sz="1250" smtClean="0">
                <a:solidFill>
                  <a:srgbClr val="6E6E6E"/>
                </a:solidFill>
                <a:latin typeface="Segoe UI" panose="020B0502040204020203" pitchFamily="34" charset="0"/>
              </a:rPr>
              <a:t>Aligner jira.version sur la version de Jira de production pour garantir la compatibilité.</a:t>
            </a:r>
            <a:endParaRPr lang="en-US" sz="1250">
              <a:solidFill>
                <a:srgbClr val="6E6E6E"/>
              </a:solidFill>
              <a:latin typeface="Segoe UI" panose="020B0502040204020203" pitchFamily="34" charset="0"/>
            </a:endParaRPr>
          </a:p>
        </p:txBody>
      </p:sp>
      <p:sp>
        <p:nvSpPr>
          <p:cNvPr id="30" name="Ellipse 29"/>
          <p:cNvSpPr/>
          <p:nvPr/>
        </p:nvSpPr>
        <p:spPr>
          <a:xfrm>
            <a:off x="6731000" y="4978400"/>
            <a:ext cx="406400" cy="406400"/>
          </a:xfrm>
          <a:prstGeom prst="ellipse">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400" b="1" smtClean="0">
                <a:solidFill>
                  <a:srgbClr val="FFFFFF"/>
                </a:solidFill>
                <a:latin typeface="Segoe UI" panose="020B0502040204020203" pitchFamily="34" charset="0"/>
              </a:rPr>
              <a:t>4</a:t>
            </a:r>
            <a:endParaRPr lang="en-US" sz="1400" b="1">
              <a:solidFill>
                <a:srgbClr val="FFFFFF"/>
              </a:solidFill>
              <a:latin typeface="Segoe UI" panose="020B0502040204020203" pitchFamily="34" charset="0"/>
            </a:endParaRPr>
          </a:p>
        </p:txBody>
      </p:sp>
      <p:sp>
        <p:nvSpPr>
          <p:cNvPr id="31" name="ZoneTexte 30"/>
          <p:cNvSpPr txBox="1"/>
          <p:nvPr/>
        </p:nvSpPr>
        <p:spPr>
          <a:xfrm>
            <a:off x="7315200" y="5003800"/>
            <a:ext cx="4368800" cy="369332"/>
          </a:xfrm>
          <a:prstGeom prst="rect">
            <a:avLst/>
          </a:prstGeom>
          <a:noFill/>
        </p:spPr>
        <p:txBody>
          <a:bodyPr vert="horz" wrap="square" lIns="0" tIns="0" rIns="0" bIns="0" rtlCol="0">
            <a:noAutofit/>
          </a:bodyPr>
          <a:lstStyle/>
          <a:p>
            <a:r>
              <a:rPr lang="en-US" sz="1500" b="1" smtClean="0">
                <a:solidFill>
                  <a:srgbClr val="212121"/>
                </a:solidFill>
                <a:latin typeface="Segoe UI" panose="020B0502040204020203" pitchFamily="34" charset="0"/>
              </a:rPr>
              <a:t>Vérifier</a:t>
            </a:r>
            <a:endParaRPr lang="en-US" sz="1500" b="1">
              <a:solidFill>
                <a:srgbClr val="212121"/>
              </a:solidFill>
              <a:latin typeface="Segoe UI" panose="020B0502040204020203" pitchFamily="34" charset="0"/>
            </a:endParaRPr>
          </a:p>
        </p:txBody>
      </p:sp>
      <p:sp>
        <p:nvSpPr>
          <p:cNvPr id="32" name="ZoneTexte 31"/>
          <p:cNvSpPr txBox="1"/>
          <p:nvPr/>
        </p:nvSpPr>
        <p:spPr>
          <a:xfrm>
            <a:off x="7315200" y="5308600"/>
            <a:ext cx="4368800" cy="369332"/>
          </a:xfrm>
          <a:prstGeom prst="rect">
            <a:avLst/>
          </a:prstGeom>
          <a:noFill/>
        </p:spPr>
        <p:txBody>
          <a:bodyPr vert="horz" wrap="square" lIns="0" tIns="0" rIns="0" bIns="0" rtlCol="0">
            <a:noAutofit/>
          </a:bodyPr>
          <a:lstStyle/>
          <a:p>
            <a:r>
              <a:rPr lang="fr-FR" sz="1250" smtClean="0">
                <a:solidFill>
                  <a:srgbClr val="6E6E6E"/>
                </a:solidFill>
                <a:latin typeface="Segoe UI" panose="020B0502040204020203" pitchFamily="34" charset="0"/>
              </a:rPr>
              <a:t>atlas-run démarre un Jira local avec le plugin déjà installé.</a:t>
            </a:r>
            <a:endParaRPr lang="en-US" sz="1250">
              <a:solidFill>
                <a:srgbClr val="6E6E6E"/>
              </a:solidFill>
              <a:latin typeface="Segoe UI" panose="020B0502040204020203" pitchFamily="34" charset="0"/>
            </a:endParaRPr>
          </a:p>
        </p:txBody>
      </p:sp>
    </p:spTree>
    <p:extLst>
      <p:ext uri="{BB962C8B-B14F-4D97-AF65-F5344CB8AC3E}">
        <p14:creationId xmlns:p14="http://schemas.microsoft.com/office/powerpoint/2010/main" val="150810955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1C1C1C"/>
                </a:solidFill>
                <a:latin typeface="Segoe UI" panose="020B0502040204020203" pitchFamily="34" charset="0"/>
              </a:rPr>
              <a:t>02 · OUTILLER</a:t>
            </a:r>
            <a:endParaRPr lang="en-US" sz="1000" b="1">
              <a:solidFill>
                <a:srgbClr val="1C1C1C"/>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fr-FR" sz="2400" b="1" smtClean="0">
                <a:solidFill>
                  <a:srgbClr val="212121"/>
                </a:solidFill>
                <a:latin typeface="Segoe UI" panose="020B0502040204020203" pitchFamily="34" charset="0"/>
              </a:rPr>
              <a:t>Structure d'un projet de plugin</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10</a:t>
            </a:r>
            <a:endParaRPr lang="en-US" sz="900">
              <a:solidFill>
                <a:srgbClr val="6E6E6E"/>
              </a:solidFill>
              <a:latin typeface="Segoe UI" panose="020B0502040204020203" pitchFamily="34" charset="0"/>
            </a:endParaRPr>
          </a:p>
        </p:txBody>
      </p:sp>
      <p:sp>
        <p:nvSpPr>
          <p:cNvPr id="9" name="Rectangle 8"/>
          <p:cNvSpPr/>
          <p:nvPr/>
        </p:nvSpPr>
        <p:spPr>
          <a:xfrm>
            <a:off x="508000" y="1244600"/>
            <a:ext cx="5969000" cy="4953000"/>
          </a:xfrm>
          <a:prstGeom prst="rect">
            <a:avLst/>
          </a:prstGeom>
          <a:solidFill>
            <a:srgbClr val="1E1E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0" name="Ellipse 9"/>
          <p:cNvSpPr/>
          <p:nvPr/>
        </p:nvSpPr>
        <p:spPr>
          <a:xfrm>
            <a:off x="660400" y="1371600"/>
            <a:ext cx="114300" cy="114300"/>
          </a:xfrm>
          <a:prstGeom prst="ellipse">
            <a:avLst/>
          </a:prstGeom>
          <a:solidFill>
            <a:srgbClr val="FF5F5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1" name="Ellipse 10"/>
          <p:cNvSpPr/>
          <p:nvPr/>
        </p:nvSpPr>
        <p:spPr>
          <a:xfrm>
            <a:off x="838200" y="1371600"/>
            <a:ext cx="114300" cy="114300"/>
          </a:xfrm>
          <a:prstGeom prst="ellipse">
            <a:avLst/>
          </a:prstGeom>
          <a:solidFill>
            <a:srgbClr val="FFBD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2" name="Ellipse 11"/>
          <p:cNvSpPr/>
          <p:nvPr/>
        </p:nvSpPr>
        <p:spPr>
          <a:xfrm>
            <a:off x="1016000" y="1371600"/>
            <a:ext cx="114300" cy="114300"/>
          </a:xfrm>
          <a:prstGeom prst="ellipse">
            <a:avLst/>
          </a:prstGeom>
          <a:solidFill>
            <a:srgbClr val="27C93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3" name="ZoneTexte 12"/>
          <p:cNvSpPr txBox="1"/>
          <p:nvPr/>
        </p:nvSpPr>
        <p:spPr>
          <a:xfrm>
            <a:off x="1270000" y="1333500"/>
            <a:ext cx="5054600" cy="369332"/>
          </a:xfrm>
          <a:prstGeom prst="rect">
            <a:avLst/>
          </a:prstGeom>
          <a:noFill/>
        </p:spPr>
        <p:txBody>
          <a:bodyPr vert="horz" wrap="square" lIns="0" tIns="0" rIns="0" bIns="0" rtlCol="0">
            <a:noAutofit/>
          </a:bodyPr>
          <a:lstStyle/>
          <a:p>
            <a:pPr algn="r"/>
            <a:r>
              <a:rPr lang="en-US" sz="900" smtClean="0">
                <a:solidFill>
                  <a:srgbClr val="969696"/>
                </a:solidFill>
                <a:latin typeface="Consolas" panose="020B0609020204030204" pitchFamily="49" charset="0"/>
              </a:rPr>
              <a:t>arborescence</a:t>
            </a:r>
            <a:endParaRPr lang="en-US" sz="900">
              <a:solidFill>
                <a:srgbClr val="969696"/>
              </a:solidFill>
              <a:latin typeface="Consolas" panose="020B0609020204030204" pitchFamily="49" charset="0"/>
            </a:endParaRPr>
          </a:p>
        </p:txBody>
      </p:sp>
      <p:sp>
        <p:nvSpPr>
          <p:cNvPr id="14" name="ZoneTexte 13"/>
          <p:cNvSpPr txBox="1"/>
          <p:nvPr/>
        </p:nvSpPr>
        <p:spPr>
          <a:xfrm>
            <a:off x="711200" y="1625600"/>
            <a:ext cx="5613400" cy="369332"/>
          </a:xfrm>
          <a:prstGeom prst="rect">
            <a:avLst/>
          </a:prstGeom>
          <a:noFill/>
        </p:spPr>
        <p:txBody>
          <a:bodyPr vert="horz" wrap="square" lIns="0" tIns="0" rIns="0" bIns="0" rtlCol="0">
            <a:noAutofit/>
          </a:bodyPr>
          <a:lstStyle/>
          <a:p>
            <a:r>
              <a:rPr lang="en-US" sz="1200" smtClean="0">
                <a:solidFill>
                  <a:srgbClr val="DEDEDE"/>
                </a:solidFill>
                <a:latin typeface="Consolas" panose="020B0609020204030204" pitchFamily="49" charset="0"/>
              </a:rPr>
              <a:t>jira-clarification-loop/</a:t>
            </a:r>
          </a:p>
          <a:p>
            <a:r>
              <a:rPr lang="en-US" sz="1200" smtClean="0">
                <a:solidFill>
                  <a:srgbClr val="DEDEDE"/>
                </a:solidFill>
                <a:latin typeface="Consolas" panose="020B0609020204030204" pitchFamily="49" charset="0"/>
              </a:rPr>
              <a:t>├── pom.xml</a:t>
            </a:r>
          </a:p>
          <a:p>
            <a:r>
              <a:rPr lang="en-US" sz="1200" smtClean="0">
                <a:solidFill>
                  <a:srgbClr val="DEDEDE"/>
                </a:solidFill>
                <a:latin typeface="Consolas" panose="020B0609020204030204" pitchFamily="49" charset="0"/>
              </a:rPr>
              <a:t>└── src/</a:t>
            </a:r>
          </a:p>
          <a:p>
            <a:r>
              <a:rPr lang="en-US" sz="1200" smtClean="0">
                <a:solidFill>
                  <a:srgbClr val="DEDEDE"/>
                </a:solidFill>
                <a:latin typeface="Consolas" panose="020B0609020204030204" pitchFamily="49" charset="0"/>
              </a:rPr>
              <a:t>    ├── main/</a:t>
            </a:r>
          </a:p>
          <a:p>
            <a:r>
              <a:rPr lang="en-US" sz="1200" smtClean="0">
                <a:solidFill>
                  <a:srgbClr val="DEDEDE"/>
                </a:solidFill>
                <a:latin typeface="Consolas" panose="020B0609020204030204" pitchFamily="49" charset="0"/>
              </a:rPr>
              <a:t>    │   ├── java/com/mabanque/.../clarification/</a:t>
            </a:r>
          </a:p>
          <a:p>
            <a:r>
              <a:rPr lang="en-US" sz="1200" smtClean="0">
                <a:solidFill>
                  <a:srgbClr val="DEDEDE"/>
                </a:solidFill>
                <a:latin typeface="Consolas" panose="020B0609020204030204" pitchFamily="49" charset="0"/>
              </a:rPr>
              <a:t>    │   │   ├── api/        ClarificationService, ...</a:t>
            </a:r>
          </a:p>
          <a:p>
            <a:r>
              <a:rPr lang="en-US" sz="1200" smtClean="0">
                <a:solidFill>
                  <a:srgbClr val="DEDEDE"/>
                </a:solidFill>
                <a:latin typeface="Consolas" panose="020B0609020204030204" pitchFamily="49" charset="0"/>
              </a:rPr>
              <a:t>    │   │   ├── impl/       ClarificationServiceImpl</a:t>
            </a:r>
          </a:p>
          <a:p>
            <a:r>
              <a:rPr lang="en-US" sz="1200" smtClean="0">
                <a:solidFill>
                  <a:srgbClr val="DEDEDE"/>
                </a:solidFill>
                <a:latin typeface="Consolas" panose="020B0609020204030204" pitchFamily="49" charset="0"/>
              </a:rPr>
              <a:t>    │   │   └── rest/       ClarificationRestResource</a:t>
            </a:r>
          </a:p>
          <a:p>
            <a:r>
              <a:rPr lang="en-US" sz="1200" smtClean="0">
                <a:solidFill>
                  <a:srgbClr val="DEDEDE"/>
                </a:solidFill>
                <a:latin typeface="Consolas" panose="020B0609020204030204" pitchFamily="49" charset="0"/>
              </a:rPr>
              <a:t>    │   └── resources/</a:t>
            </a:r>
          </a:p>
          <a:p>
            <a:r>
              <a:rPr lang="en-US" sz="1200" smtClean="0">
                <a:solidFill>
                  <a:srgbClr val="DEDEDE"/>
                </a:solidFill>
                <a:latin typeface="Consolas" panose="020B0609020204030204" pitchFamily="49" charset="0"/>
              </a:rPr>
              <a:t>    │       ├── atlassian-plugin.xml</a:t>
            </a:r>
          </a:p>
          <a:p>
            <a:r>
              <a:rPr lang="en-US" sz="1200" smtClean="0">
                <a:solidFill>
                  <a:srgbClr val="DEDEDE"/>
                </a:solidFill>
                <a:latin typeface="Consolas" panose="020B0609020204030204" pitchFamily="49" charset="0"/>
              </a:rPr>
              <a:t>    │       ├── js/         clarification.js</a:t>
            </a:r>
          </a:p>
          <a:p>
            <a:r>
              <a:rPr lang="en-US" sz="1200" smtClean="0">
                <a:solidFill>
                  <a:srgbClr val="DEDEDE"/>
                </a:solidFill>
                <a:latin typeface="Consolas" panose="020B0609020204030204" pitchFamily="49" charset="0"/>
              </a:rPr>
              <a:t>    │       ├── css/        clarification.css</a:t>
            </a:r>
          </a:p>
          <a:p>
            <a:r>
              <a:rPr lang="en-US" sz="1200" smtClean="0">
                <a:solidFill>
                  <a:srgbClr val="DEDEDE"/>
                </a:solidFill>
                <a:latin typeface="Consolas" panose="020B0609020204030204" pitchFamily="49" charset="0"/>
              </a:rPr>
              <a:t>    │       └── templates/  clarification-panel.vm</a:t>
            </a:r>
          </a:p>
          <a:p>
            <a:r>
              <a:rPr lang="en-US" sz="1200" smtClean="0">
                <a:solidFill>
                  <a:srgbClr val="DEDEDE"/>
                </a:solidFill>
                <a:latin typeface="Consolas" panose="020B0609020204030204" pitchFamily="49" charset="0"/>
              </a:rPr>
              <a:t>    └── test/</a:t>
            </a:r>
          </a:p>
          <a:p>
            <a:r>
              <a:rPr lang="en-US" sz="1200" smtClean="0">
                <a:solidFill>
                  <a:srgbClr val="DEDEDE"/>
                </a:solidFill>
                <a:latin typeface="Consolas" panose="020B0609020204030204" pitchFamily="49" charset="0"/>
              </a:rPr>
              <a:t>        ├── java/ut/        Tests unitaires</a:t>
            </a:r>
          </a:p>
          <a:p>
            <a:r>
              <a:rPr lang="en-US" sz="1200" smtClean="0">
                <a:solidFill>
                  <a:srgbClr val="DEDEDE"/>
                </a:solidFill>
                <a:latin typeface="Consolas" panose="020B0609020204030204" pitchFamily="49" charset="0"/>
              </a:rPr>
              <a:t>        └── java/it/        Tests d'intégration</a:t>
            </a:r>
            <a:endParaRPr lang="en-US" sz="1200">
              <a:solidFill>
                <a:srgbClr val="DEDEDE"/>
              </a:solidFill>
              <a:latin typeface="Consolas" panose="020B0609020204030204" pitchFamily="49" charset="0"/>
            </a:endParaRPr>
          </a:p>
        </p:txBody>
      </p:sp>
      <p:sp>
        <p:nvSpPr>
          <p:cNvPr id="15" name="Rectangle 14"/>
          <p:cNvSpPr/>
          <p:nvPr/>
        </p:nvSpPr>
        <p:spPr>
          <a:xfrm>
            <a:off x="6858000" y="1244600"/>
            <a:ext cx="4826000" cy="14986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6" name="Rectangle 15"/>
          <p:cNvSpPr/>
          <p:nvPr/>
        </p:nvSpPr>
        <p:spPr>
          <a:xfrm>
            <a:off x="6858000" y="1244600"/>
            <a:ext cx="63500" cy="14986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7" name="ZoneTexte 16"/>
          <p:cNvSpPr txBox="1"/>
          <p:nvPr/>
        </p:nvSpPr>
        <p:spPr>
          <a:xfrm>
            <a:off x="7112000" y="1397000"/>
            <a:ext cx="4394200" cy="369332"/>
          </a:xfrm>
          <a:prstGeom prst="rect">
            <a:avLst/>
          </a:prstGeom>
          <a:noFill/>
        </p:spPr>
        <p:txBody>
          <a:bodyPr vert="horz" wrap="square" lIns="0" tIns="0" rIns="0" bIns="0" rtlCol="0">
            <a:noAutofit/>
          </a:bodyPr>
          <a:lstStyle/>
          <a:p>
            <a:r>
              <a:rPr lang="en-US" sz="1600" b="1" smtClean="0">
                <a:solidFill>
                  <a:srgbClr val="1C1C1C"/>
                </a:solidFill>
                <a:latin typeface="Segoe UI" panose="020B0502040204020203" pitchFamily="34" charset="0"/>
              </a:rPr>
              <a:t>pom.xml</a:t>
            </a:r>
            <a:endParaRPr lang="en-US" sz="1600" b="1">
              <a:solidFill>
                <a:srgbClr val="1C1C1C"/>
              </a:solidFill>
              <a:latin typeface="Segoe UI" panose="020B0502040204020203" pitchFamily="34" charset="0"/>
            </a:endParaRPr>
          </a:p>
        </p:txBody>
      </p:sp>
      <p:sp>
        <p:nvSpPr>
          <p:cNvPr id="18" name="ZoneTexte 17"/>
          <p:cNvSpPr txBox="1"/>
          <p:nvPr/>
        </p:nvSpPr>
        <p:spPr>
          <a:xfrm>
            <a:off x="7112000" y="1727200"/>
            <a:ext cx="4394200" cy="369332"/>
          </a:xfrm>
          <a:prstGeom prst="rect">
            <a:avLst/>
          </a:prstGeom>
          <a:noFill/>
        </p:spPr>
        <p:txBody>
          <a:bodyPr vert="horz" wrap="square" lIns="0" tIns="0" rIns="0" bIns="0" rtlCol="0">
            <a:noAutofit/>
          </a:bodyPr>
          <a:lstStyle/>
          <a:p>
            <a:r>
              <a:rPr lang="fr-FR" sz="1300" smtClean="0">
                <a:solidFill>
                  <a:srgbClr val="212121"/>
                </a:solidFill>
                <a:latin typeface="Segoe UI" panose="020B0502040204020203" pitchFamily="34" charset="0"/>
              </a:rPr>
              <a:t>Configuration Maven : version de Jira ciblée, dépendances, instructions OSGi.</a:t>
            </a:r>
            <a:endParaRPr lang="en-US" sz="1300">
              <a:solidFill>
                <a:srgbClr val="212121"/>
              </a:solidFill>
              <a:latin typeface="Segoe UI" panose="020B0502040204020203" pitchFamily="34" charset="0"/>
            </a:endParaRPr>
          </a:p>
        </p:txBody>
      </p:sp>
      <p:sp>
        <p:nvSpPr>
          <p:cNvPr id="19" name="Rectangle 18"/>
          <p:cNvSpPr/>
          <p:nvPr/>
        </p:nvSpPr>
        <p:spPr>
          <a:xfrm>
            <a:off x="6858000" y="2971800"/>
            <a:ext cx="4826000" cy="14986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0" name="Rectangle 19"/>
          <p:cNvSpPr/>
          <p:nvPr/>
        </p:nvSpPr>
        <p:spPr>
          <a:xfrm>
            <a:off x="6858000" y="2971800"/>
            <a:ext cx="63500" cy="14986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1" name="ZoneTexte 20"/>
          <p:cNvSpPr txBox="1"/>
          <p:nvPr/>
        </p:nvSpPr>
        <p:spPr>
          <a:xfrm>
            <a:off x="7112000" y="3124200"/>
            <a:ext cx="4394200" cy="369332"/>
          </a:xfrm>
          <a:prstGeom prst="rect">
            <a:avLst/>
          </a:prstGeom>
          <a:noFill/>
        </p:spPr>
        <p:txBody>
          <a:bodyPr vert="horz" wrap="square" lIns="0" tIns="0" rIns="0" bIns="0" rtlCol="0">
            <a:noAutofit/>
          </a:bodyPr>
          <a:lstStyle/>
          <a:p>
            <a:r>
              <a:rPr lang="en-US" sz="1600" b="1" smtClean="0">
                <a:solidFill>
                  <a:srgbClr val="C8102E"/>
                </a:solidFill>
                <a:latin typeface="Segoe UI" panose="020B0502040204020203" pitchFamily="34" charset="0"/>
              </a:rPr>
              <a:t>atlassian-plugin.xml</a:t>
            </a:r>
            <a:endParaRPr lang="en-US" sz="1600" b="1">
              <a:solidFill>
                <a:srgbClr val="C8102E"/>
              </a:solidFill>
              <a:latin typeface="Segoe UI" panose="020B0502040204020203" pitchFamily="34" charset="0"/>
            </a:endParaRPr>
          </a:p>
        </p:txBody>
      </p:sp>
      <p:sp>
        <p:nvSpPr>
          <p:cNvPr id="22" name="ZoneTexte 21"/>
          <p:cNvSpPr txBox="1"/>
          <p:nvPr/>
        </p:nvSpPr>
        <p:spPr>
          <a:xfrm>
            <a:off x="7112000" y="3454400"/>
            <a:ext cx="4394200" cy="369332"/>
          </a:xfrm>
          <a:prstGeom prst="rect">
            <a:avLst/>
          </a:prstGeom>
          <a:noFill/>
        </p:spPr>
        <p:txBody>
          <a:bodyPr vert="horz" wrap="square" lIns="0" tIns="0" rIns="0" bIns="0" rtlCol="0">
            <a:noAutofit/>
          </a:bodyPr>
          <a:lstStyle/>
          <a:p>
            <a:r>
              <a:rPr lang="fr-FR" sz="1300" smtClean="0">
                <a:solidFill>
                  <a:srgbClr val="212121"/>
                </a:solidFill>
                <a:latin typeface="Segoe UI" panose="020B0502040204020203" pitchFamily="34" charset="0"/>
              </a:rPr>
              <a:t>Descripteur : déclare à Jira tous les modules fournis par le plugin (panneau, REST, JS/CSS).</a:t>
            </a:r>
            <a:endParaRPr lang="en-US" sz="1300">
              <a:solidFill>
                <a:srgbClr val="212121"/>
              </a:solidFill>
              <a:latin typeface="Segoe UI" panose="020B0502040204020203" pitchFamily="34" charset="0"/>
            </a:endParaRPr>
          </a:p>
        </p:txBody>
      </p:sp>
      <p:sp>
        <p:nvSpPr>
          <p:cNvPr id="23" name="Rectangle 22"/>
          <p:cNvSpPr/>
          <p:nvPr/>
        </p:nvSpPr>
        <p:spPr>
          <a:xfrm>
            <a:off x="6858000" y="4699000"/>
            <a:ext cx="4826000" cy="14986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4" name="Rectangle 23"/>
          <p:cNvSpPr/>
          <p:nvPr/>
        </p:nvSpPr>
        <p:spPr>
          <a:xfrm>
            <a:off x="6858000" y="4699000"/>
            <a:ext cx="63500" cy="1498600"/>
          </a:xfrm>
          <a:prstGeom prst="rect">
            <a:avLst/>
          </a:prstGeom>
          <a:solidFill>
            <a:srgbClr val="4B4B4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5" name="ZoneTexte 24"/>
          <p:cNvSpPr txBox="1"/>
          <p:nvPr/>
        </p:nvSpPr>
        <p:spPr>
          <a:xfrm>
            <a:off x="7112000" y="4851400"/>
            <a:ext cx="4394200" cy="369332"/>
          </a:xfrm>
          <a:prstGeom prst="rect">
            <a:avLst/>
          </a:prstGeom>
          <a:noFill/>
        </p:spPr>
        <p:txBody>
          <a:bodyPr vert="horz" wrap="square" lIns="0" tIns="0" rIns="0" bIns="0" rtlCol="0">
            <a:noAutofit/>
          </a:bodyPr>
          <a:lstStyle/>
          <a:p>
            <a:r>
              <a:rPr lang="en-US" sz="1600" b="1" smtClean="0">
                <a:solidFill>
                  <a:srgbClr val="4B4B4B"/>
                </a:solidFill>
                <a:latin typeface="Segoe UI" panose="020B0502040204020203" pitchFamily="34" charset="0"/>
              </a:rPr>
              <a:t>Code &amp; ressources</a:t>
            </a:r>
            <a:endParaRPr lang="en-US" sz="1600" b="1">
              <a:solidFill>
                <a:srgbClr val="4B4B4B"/>
              </a:solidFill>
              <a:latin typeface="Segoe UI" panose="020B0502040204020203" pitchFamily="34" charset="0"/>
            </a:endParaRPr>
          </a:p>
        </p:txBody>
      </p:sp>
      <p:sp>
        <p:nvSpPr>
          <p:cNvPr id="26" name="ZoneTexte 25"/>
          <p:cNvSpPr txBox="1"/>
          <p:nvPr/>
        </p:nvSpPr>
        <p:spPr>
          <a:xfrm>
            <a:off x="7112000" y="5181600"/>
            <a:ext cx="4394200" cy="369332"/>
          </a:xfrm>
          <a:prstGeom prst="rect">
            <a:avLst/>
          </a:prstGeom>
          <a:noFill/>
        </p:spPr>
        <p:txBody>
          <a:bodyPr vert="horz" wrap="square" lIns="0" tIns="0" rIns="0" bIns="0" rtlCol="0">
            <a:noAutofit/>
          </a:bodyPr>
          <a:lstStyle/>
          <a:p>
            <a:r>
              <a:rPr lang="fr-FR" sz="1300" smtClean="0">
                <a:solidFill>
                  <a:srgbClr val="212121"/>
                </a:solidFill>
                <a:latin typeface="Segoe UI" panose="020B0502040204020203" pitchFamily="34" charset="0"/>
              </a:rPr>
              <a:t>Classes Java (service métier, API REST), JavaScript / CSS et template Velocity (.vm).</a:t>
            </a:r>
            <a:endParaRPr lang="en-US" sz="1300">
              <a:solidFill>
                <a:srgbClr val="212121"/>
              </a:solidFill>
              <a:latin typeface="Segoe UI" panose="020B0502040204020203" pitchFamily="34" charset="0"/>
            </a:endParaRPr>
          </a:p>
        </p:txBody>
      </p:sp>
    </p:spTree>
    <p:extLst>
      <p:ext uri="{BB962C8B-B14F-4D97-AF65-F5344CB8AC3E}">
        <p14:creationId xmlns:p14="http://schemas.microsoft.com/office/powerpoint/2010/main" val="13817649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C8102E"/>
                </a:solidFill>
                <a:latin typeface="Segoe UI" panose="020B0502040204020203" pitchFamily="34" charset="0"/>
              </a:rPr>
              <a:t>03 · DÉVELOPPER</a:t>
            </a:r>
            <a:endParaRPr lang="en-US" sz="1000" b="1">
              <a:solidFill>
                <a:srgbClr val="C8102E"/>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en-US" sz="2400" b="1" smtClean="0">
                <a:solidFill>
                  <a:srgbClr val="212121"/>
                </a:solidFill>
                <a:latin typeface="Segoe UI" panose="020B0502040204020203" pitchFamily="34" charset="0"/>
              </a:rPr>
              <a:t>Le descripteur atlassian-plugin.xml</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11</a:t>
            </a:r>
            <a:endParaRPr lang="en-US" sz="900">
              <a:solidFill>
                <a:srgbClr val="6E6E6E"/>
              </a:solidFill>
              <a:latin typeface="Segoe UI" panose="020B0502040204020203" pitchFamily="34" charset="0"/>
            </a:endParaRPr>
          </a:p>
        </p:txBody>
      </p:sp>
      <p:sp>
        <p:nvSpPr>
          <p:cNvPr id="9" name="Rectangle 8"/>
          <p:cNvSpPr/>
          <p:nvPr/>
        </p:nvSpPr>
        <p:spPr>
          <a:xfrm>
            <a:off x="508000" y="1219200"/>
            <a:ext cx="7239000" cy="5029200"/>
          </a:xfrm>
          <a:prstGeom prst="rect">
            <a:avLst/>
          </a:prstGeom>
          <a:solidFill>
            <a:srgbClr val="1E1E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0" name="Ellipse 9"/>
          <p:cNvSpPr/>
          <p:nvPr/>
        </p:nvSpPr>
        <p:spPr>
          <a:xfrm>
            <a:off x="660400" y="1346200"/>
            <a:ext cx="114300" cy="114300"/>
          </a:xfrm>
          <a:prstGeom prst="ellipse">
            <a:avLst/>
          </a:prstGeom>
          <a:solidFill>
            <a:srgbClr val="FF5F5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1" name="Ellipse 10"/>
          <p:cNvSpPr/>
          <p:nvPr/>
        </p:nvSpPr>
        <p:spPr>
          <a:xfrm>
            <a:off x="838200" y="1346200"/>
            <a:ext cx="114300" cy="114300"/>
          </a:xfrm>
          <a:prstGeom prst="ellipse">
            <a:avLst/>
          </a:prstGeom>
          <a:solidFill>
            <a:srgbClr val="FFBD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2" name="Ellipse 11"/>
          <p:cNvSpPr/>
          <p:nvPr/>
        </p:nvSpPr>
        <p:spPr>
          <a:xfrm>
            <a:off x="1016000" y="1346200"/>
            <a:ext cx="114300" cy="114300"/>
          </a:xfrm>
          <a:prstGeom prst="ellipse">
            <a:avLst/>
          </a:prstGeom>
          <a:solidFill>
            <a:srgbClr val="27C93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3" name="ZoneTexte 12"/>
          <p:cNvSpPr txBox="1"/>
          <p:nvPr/>
        </p:nvSpPr>
        <p:spPr>
          <a:xfrm>
            <a:off x="1270000" y="1308100"/>
            <a:ext cx="6324600" cy="369332"/>
          </a:xfrm>
          <a:prstGeom prst="rect">
            <a:avLst/>
          </a:prstGeom>
          <a:noFill/>
        </p:spPr>
        <p:txBody>
          <a:bodyPr vert="horz" wrap="square" lIns="0" tIns="0" rIns="0" bIns="0" rtlCol="0">
            <a:noAutofit/>
          </a:bodyPr>
          <a:lstStyle/>
          <a:p>
            <a:pPr algn="r"/>
            <a:r>
              <a:rPr lang="en-US" sz="900" smtClean="0">
                <a:solidFill>
                  <a:srgbClr val="969696"/>
                </a:solidFill>
                <a:latin typeface="Consolas" panose="020B0609020204030204" pitchFamily="49" charset="0"/>
              </a:rPr>
              <a:t>atlassian-plugin.xml</a:t>
            </a:r>
            <a:endParaRPr lang="en-US" sz="900">
              <a:solidFill>
                <a:srgbClr val="969696"/>
              </a:solidFill>
              <a:latin typeface="Consolas" panose="020B0609020204030204" pitchFamily="49" charset="0"/>
            </a:endParaRPr>
          </a:p>
        </p:txBody>
      </p:sp>
      <p:sp>
        <p:nvSpPr>
          <p:cNvPr id="14" name="ZoneTexte 13"/>
          <p:cNvSpPr txBox="1"/>
          <p:nvPr/>
        </p:nvSpPr>
        <p:spPr>
          <a:xfrm>
            <a:off x="711200" y="1600200"/>
            <a:ext cx="6883400" cy="369332"/>
          </a:xfrm>
          <a:prstGeom prst="rect">
            <a:avLst/>
          </a:prstGeom>
          <a:noFill/>
        </p:spPr>
        <p:txBody>
          <a:bodyPr vert="horz" wrap="square" lIns="0" tIns="0" rIns="0" bIns="0" rtlCol="0">
            <a:noAutofit/>
          </a:bodyPr>
          <a:lstStyle/>
          <a:p>
            <a:r>
              <a:rPr lang="en-US" sz="1000" smtClean="0">
                <a:solidFill>
                  <a:srgbClr val="DEDEDE"/>
                </a:solidFill>
                <a:latin typeface="Consolas" panose="020B0609020204030204" pitchFamily="49" charset="0"/>
              </a:rPr>
              <a:t>&lt;atlassian-plugin key="com.mabanque.jira.plugins.jira-clarification-loop"</a:t>
            </a:r>
          </a:p>
          <a:p>
            <a:r>
              <a:rPr lang="en-US" sz="1000" smtClean="0">
                <a:solidFill>
                  <a:srgbClr val="DEDEDE"/>
                </a:solidFill>
                <a:latin typeface="Consolas" panose="020B0609020204030204" pitchFamily="49" charset="0"/>
              </a:rPr>
              <a:t>                  name="Jira Clarification Loop" plugins-version="2"&gt;</a:t>
            </a:r>
          </a:p>
          <a:p>
            <a:r>
              <a:rPr lang="en-US" sz="1000" smtClean="0">
                <a:solidFill>
                  <a:srgbClr val="DEDEDE"/>
                </a:solidFill>
                <a:latin typeface="Consolas" panose="020B0609020204030204" pitchFamily="49" charset="0"/>
              </a:rPr>
              <a:t>  &lt;plugin-info&gt;</a:t>
            </a:r>
          </a:p>
          <a:p>
            <a:r>
              <a:rPr lang="en-US" sz="1000" smtClean="0">
                <a:solidFill>
                  <a:srgbClr val="DEDEDE"/>
                </a:solidFill>
                <a:latin typeface="Consolas" panose="020B0609020204030204" pitchFamily="49" charset="0"/>
              </a:rPr>
              <a:t>    &lt;version&gt;${project.version}&lt;/version&gt;</a:t>
            </a:r>
          </a:p>
          <a:p>
            <a:r>
              <a:rPr lang="en-US" sz="1000" smtClean="0">
                <a:solidFill>
                  <a:srgbClr val="DEDEDE"/>
                </a:solidFill>
                <a:latin typeface="Consolas" panose="020B0609020204030204" pitchFamily="49" charset="0"/>
              </a:rPr>
              <a:t>    &lt;vendor name="Ma Banque - DPI" url="https://www.mabanque.fr"/&gt;</a:t>
            </a:r>
          </a:p>
          <a:p>
            <a:r>
              <a:rPr lang="en-US" sz="1000" smtClean="0">
                <a:solidFill>
                  <a:srgbClr val="DEDEDE"/>
                </a:solidFill>
                <a:latin typeface="Consolas" panose="020B0609020204030204" pitchFamily="49" charset="0"/>
              </a:rPr>
              <a:t>    &lt;param name="atlassian-data-center-status"&gt;compatible&lt;/param&gt;</a:t>
            </a:r>
          </a:p>
          <a:p>
            <a:r>
              <a:rPr lang="en-US" sz="1000" smtClean="0">
                <a:solidFill>
                  <a:srgbClr val="DEDEDE"/>
                </a:solidFill>
                <a:latin typeface="Consolas" panose="020B0609020204030204" pitchFamily="49" charset="0"/>
              </a:rPr>
              <a:t>    &lt;param name="atlassian-data-center-compatible"&gt;true&lt;/param&gt;</a:t>
            </a:r>
          </a:p>
          <a:p>
            <a:r>
              <a:rPr lang="en-US" sz="1000" smtClean="0">
                <a:solidFill>
                  <a:srgbClr val="DEDEDE"/>
                </a:solidFill>
                <a:latin typeface="Consolas" panose="020B0609020204030204" pitchFamily="49" charset="0"/>
              </a:rPr>
              <a:t>  &lt;/plugin-info&gt;</a:t>
            </a:r>
          </a:p>
          <a:p>
            <a:endParaRPr lang="en-US" sz="1000" smtClean="0">
              <a:solidFill>
                <a:srgbClr val="DEDEDE"/>
              </a:solidFill>
              <a:latin typeface="Consolas" panose="020B0609020204030204" pitchFamily="49" charset="0"/>
            </a:endParaRPr>
          </a:p>
          <a:p>
            <a:r>
              <a:rPr lang="en-US" sz="1000" smtClean="0">
                <a:solidFill>
                  <a:srgbClr val="6A9955"/>
                </a:solidFill>
                <a:latin typeface="Consolas" panose="020B0609020204030204" pitchFamily="49" charset="0"/>
              </a:rPr>
              <a:t>  &lt;!-- Ressources JS / CSS chargées sur la vue d'un ticket --&gt;</a:t>
            </a:r>
          </a:p>
          <a:p>
            <a:r>
              <a:rPr lang="en-US" sz="1000" smtClean="0">
                <a:solidFill>
                  <a:srgbClr val="DEDEDE"/>
                </a:solidFill>
                <a:latin typeface="Consolas" panose="020B0609020204030204" pitchFamily="49" charset="0"/>
              </a:rPr>
              <a:t>  &lt;web-resource key="clarification-resources"&gt;</a:t>
            </a:r>
          </a:p>
          <a:p>
            <a:r>
              <a:rPr lang="en-US" sz="1000" smtClean="0">
                <a:solidFill>
                  <a:srgbClr val="DEDEDE"/>
                </a:solidFill>
                <a:latin typeface="Consolas" panose="020B0609020204030204" pitchFamily="49" charset="0"/>
              </a:rPr>
              <a:t>    &lt;resource type="download" name="clarification.js"  location="/js/clarification.js"/&gt;</a:t>
            </a:r>
          </a:p>
          <a:p>
            <a:r>
              <a:rPr lang="en-US" sz="1000" smtClean="0">
                <a:solidFill>
                  <a:srgbClr val="DEDEDE"/>
                </a:solidFill>
                <a:latin typeface="Consolas" panose="020B0609020204030204" pitchFamily="49" charset="0"/>
              </a:rPr>
              <a:t>    &lt;resource type="download" name="clarification.css" location="/css/clarification.css"/&gt;</a:t>
            </a:r>
          </a:p>
          <a:p>
            <a:r>
              <a:rPr lang="en-US" sz="1000" smtClean="0">
                <a:solidFill>
                  <a:srgbClr val="DEDEDE"/>
                </a:solidFill>
                <a:latin typeface="Consolas" panose="020B0609020204030204" pitchFamily="49" charset="0"/>
              </a:rPr>
              <a:t>    &lt;context&gt;jira.view.issue&lt;/context&gt;</a:t>
            </a:r>
          </a:p>
          <a:p>
            <a:r>
              <a:rPr lang="en-US" sz="1000" smtClean="0">
                <a:solidFill>
                  <a:srgbClr val="DEDEDE"/>
                </a:solidFill>
                <a:latin typeface="Consolas" panose="020B0609020204030204" pitchFamily="49" charset="0"/>
              </a:rPr>
              <a:t>  &lt;/web-resource&gt;</a:t>
            </a:r>
          </a:p>
          <a:p>
            <a:endParaRPr lang="en-US" sz="1000" smtClean="0">
              <a:solidFill>
                <a:srgbClr val="DEDEDE"/>
              </a:solidFill>
              <a:latin typeface="Consolas" panose="020B0609020204030204" pitchFamily="49" charset="0"/>
            </a:endParaRPr>
          </a:p>
          <a:p>
            <a:r>
              <a:rPr lang="en-US" sz="1000" smtClean="0">
                <a:solidFill>
                  <a:srgbClr val="6A9955"/>
                </a:solidFill>
                <a:latin typeface="Consolas" panose="020B0609020204030204" pitchFamily="49" charset="0"/>
              </a:rPr>
              <a:t>  &lt;!-- Panneau latéral droit sur les tickets + API REST --&gt;</a:t>
            </a:r>
          </a:p>
          <a:p>
            <a:r>
              <a:rPr lang="en-US" sz="1000" smtClean="0">
                <a:solidFill>
                  <a:srgbClr val="DEDEDE"/>
                </a:solidFill>
                <a:latin typeface="Consolas" panose="020B0609020204030204" pitchFamily="49" charset="0"/>
              </a:rPr>
              <a:t>  &lt;web-panel key="clarification-panel" location="atl.jira.view.issue.right.context"&gt;</a:t>
            </a:r>
          </a:p>
          <a:p>
            <a:r>
              <a:rPr lang="en-US" sz="1000" smtClean="0">
                <a:solidFill>
                  <a:srgbClr val="DEDEDE"/>
                </a:solidFill>
                <a:latin typeface="Consolas" panose="020B0609020204030204" pitchFamily="49" charset="0"/>
              </a:rPr>
              <a:t>    &lt;resource name="view" type="velocity" location="templates/clarification-panel.vm"/&gt;</a:t>
            </a:r>
          </a:p>
          <a:p>
            <a:r>
              <a:rPr lang="en-US" sz="1000" smtClean="0">
                <a:solidFill>
                  <a:srgbClr val="DEDEDE"/>
                </a:solidFill>
                <a:latin typeface="Consolas" panose="020B0609020204030204" pitchFamily="49" charset="0"/>
              </a:rPr>
              <a:t>  &lt;/web-panel&gt;</a:t>
            </a:r>
          </a:p>
          <a:p>
            <a:r>
              <a:rPr lang="en-US" sz="1000" smtClean="0">
                <a:solidFill>
                  <a:srgbClr val="DEDEDE"/>
                </a:solidFill>
                <a:latin typeface="Consolas" panose="020B0609020204030204" pitchFamily="49" charset="0"/>
              </a:rPr>
              <a:t>  &lt;rest key="clarification-rest" path="/clarification" version="1.0"/&gt;</a:t>
            </a:r>
          </a:p>
          <a:p>
            <a:r>
              <a:rPr lang="en-US" sz="1000" smtClean="0">
                <a:solidFill>
                  <a:srgbClr val="DEDEDE"/>
                </a:solidFill>
                <a:latin typeface="Consolas" panose="020B0609020204030204" pitchFamily="49" charset="0"/>
              </a:rPr>
              <a:t>&lt;/atlassian-plugin&gt;</a:t>
            </a:r>
            <a:endParaRPr lang="en-US" sz="1000">
              <a:solidFill>
                <a:srgbClr val="DEDEDE"/>
              </a:solidFill>
              <a:latin typeface="Consolas" panose="020B0609020204030204" pitchFamily="49" charset="0"/>
            </a:endParaRPr>
          </a:p>
        </p:txBody>
      </p:sp>
      <p:sp>
        <p:nvSpPr>
          <p:cNvPr id="15" name="ZoneTexte 14"/>
          <p:cNvSpPr txBox="1"/>
          <p:nvPr/>
        </p:nvSpPr>
        <p:spPr>
          <a:xfrm>
            <a:off x="8064500" y="1270000"/>
            <a:ext cx="3619500" cy="369332"/>
          </a:xfrm>
          <a:prstGeom prst="rect">
            <a:avLst/>
          </a:prstGeom>
          <a:noFill/>
        </p:spPr>
        <p:txBody>
          <a:bodyPr vert="horz" wrap="square" lIns="0" tIns="0" rIns="0" bIns="0" rtlCol="0">
            <a:noAutofit/>
          </a:bodyPr>
          <a:lstStyle/>
          <a:p>
            <a:pPr marL="482600" indent="-203200">
              <a:spcAft>
                <a:spcPts val="8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Rôle</a:t>
            </a:r>
            <a:r>
              <a:rPr lang="fr-FR" sz="1250" smtClean="0">
                <a:solidFill>
                  <a:srgbClr val="212121"/>
                </a:solidFill>
                <a:latin typeface="Segoe UI" panose="020B0502040204020203" pitchFamily="34" charset="0"/>
              </a:rPr>
              <a:t> : « carte d'identité » lue par Jira à l'installation</a:t>
            </a:r>
          </a:p>
          <a:p>
            <a:pPr marL="482600" indent="-203200">
              <a:spcAft>
                <a:spcPts val="8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plugin-info</a:t>
            </a:r>
            <a:r>
              <a:rPr lang="fr-FR" sz="1250" smtClean="0">
                <a:solidFill>
                  <a:srgbClr val="212121"/>
                </a:solidFill>
                <a:latin typeface="Segoe UI" panose="020B0502040204020203" pitchFamily="34" charset="0"/>
              </a:rPr>
              <a:t> : version, éditeur, compatibilité Data Center</a:t>
            </a:r>
          </a:p>
          <a:p>
            <a:pPr marL="482600" indent="-203200">
              <a:spcAft>
                <a:spcPts val="8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web-resource</a:t>
            </a:r>
            <a:r>
              <a:rPr lang="fr-FR" sz="1250" smtClean="0">
                <a:solidFill>
                  <a:srgbClr val="212121"/>
                </a:solidFill>
                <a:latin typeface="Segoe UI" panose="020B0502040204020203" pitchFamily="34" charset="0"/>
              </a:rPr>
              <a:t> : charge clarification.js et clarification.css sur la vue ticket (jira.view.issue)</a:t>
            </a:r>
          </a:p>
          <a:p>
            <a:pPr marL="482600" indent="-203200">
              <a:spcAft>
                <a:spcPts val="8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web-panel</a:t>
            </a:r>
            <a:r>
              <a:rPr lang="fr-FR" sz="1250" smtClean="0">
                <a:solidFill>
                  <a:srgbClr val="212121"/>
                </a:solidFill>
                <a:latin typeface="Segoe UI" panose="020B0502040204020203" pitchFamily="34" charset="0"/>
              </a:rPr>
              <a:t> : affiche le panneau « Demandes de précision » dans la colonne de droite du ticket</a:t>
            </a:r>
          </a:p>
          <a:p>
            <a:pPr marL="482600" indent="-203200">
              <a:spcAft>
                <a:spcPts val="8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rest</a:t>
            </a:r>
            <a:r>
              <a:rPr lang="fr-FR" sz="1250" smtClean="0">
                <a:solidFill>
                  <a:srgbClr val="212121"/>
                </a:solidFill>
                <a:latin typeface="Segoe UI" panose="020B0502040204020203" pitchFamily="34" charset="0"/>
              </a:rPr>
              <a:t> : expose les endpoints /rest/clarification/1.0/...</a:t>
            </a:r>
            <a:endParaRPr lang="en-US" sz="1250">
              <a:solidFill>
                <a:srgbClr val="212121"/>
              </a:solidFill>
              <a:latin typeface="Segoe UI" panose="020B0502040204020203" pitchFamily="34" charset="0"/>
            </a:endParaRPr>
          </a:p>
        </p:txBody>
      </p:sp>
    </p:spTree>
    <p:extLst>
      <p:ext uri="{BB962C8B-B14F-4D97-AF65-F5344CB8AC3E}">
        <p14:creationId xmlns:p14="http://schemas.microsoft.com/office/powerpoint/2010/main" val="11658471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C8102E"/>
                </a:solidFill>
                <a:latin typeface="Segoe UI" panose="020B0502040204020203" pitchFamily="34" charset="0"/>
              </a:rPr>
              <a:t>03 · DÉVELOPPER</a:t>
            </a:r>
            <a:endParaRPr lang="en-US" sz="1000" b="1">
              <a:solidFill>
                <a:srgbClr val="C8102E"/>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en-US" sz="2400" b="1" smtClean="0">
                <a:solidFill>
                  <a:srgbClr val="212121"/>
                </a:solidFill>
                <a:latin typeface="Segoe UI" panose="020B0502040204020203" pitchFamily="34" charset="0"/>
              </a:rPr>
              <a:t>Catalogue des principaux modules</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12</a:t>
            </a:r>
            <a:endParaRPr lang="en-US" sz="900">
              <a:solidFill>
                <a:srgbClr val="6E6E6E"/>
              </a:solidFill>
              <a:latin typeface="Segoe UI" panose="020B0502040204020203" pitchFamily="34" charset="0"/>
            </a:endParaRPr>
          </a:p>
        </p:txBody>
      </p:sp>
      <p:graphicFrame>
        <p:nvGraphicFramePr>
          <p:cNvPr id="9" name="Tableau 8"/>
          <p:cNvGraphicFramePr>
            <a:graphicFrameLocks noGrp="1"/>
          </p:cNvGraphicFramePr>
          <p:nvPr>
            <p:extLst>
              <p:ext uri="{D42A27DB-BD31-4B8C-83A1-F6EECF244321}">
                <p14:modId xmlns:p14="http://schemas.microsoft.com/office/powerpoint/2010/main" val="1632841350"/>
              </p:ext>
            </p:extLst>
          </p:nvPr>
        </p:nvGraphicFramePr>
        <p:xfrm>
          <a:off x="508000" y="1219200"/>
          <a:ext cx="11176000" cy="340868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739585738"/>
                    </a:ext>
                  </a:extLst>
                </a:gridCol>
                <a:gridCol w="3937000">
                  <a:extLst>
                    <a:ext uri="{9D8B030D-6E8A-4147-A177-3AD203B41FA5}">
                      <a16:colId xmlns:a16="http://schemas.microsoft.com/office/drawing/2014/main" val="857420243"/>
                    </a:ext>
                  </a:extLst>
                </a:gridCol>
                <a:gridCol w="5334000">
                  <a:extLst>
                    <a:ext uri="{9D8B030D-6E8A-4147-A177-3AD203B41FA5}">
                      <a16:colId xmlns:a16="http://schemas.microsoft.com/office/drawing/2014/main" val="1035423780"/>
                    </a:ext>
                  </a:extLst>
                </a:gridCol>
              </a:tblGrid>
              <a:tr h="0">
                <a:tc>
                  <a:txBody>
                    <a:bodyPr/>
                    <a:lstStyle/>
                    <a:p>
                      <a:r>
                        <a:rPr lang="en-US" sz="1200" b="1" smtClean="0">
                          <a:solidFill>
                            <a:srgbClr val="FFFFFF"/>
                          </a:solidFill>
                          <a:latin typeface="Segoe UI" panose="020B0502040204020203" pitchFamily="34" charset="0"/>
                        </a:rPr>
                        <a:t>Catégorie</a:t>
                      </a:r>
                      <a:endParaRPr lang="en-US" sz="1200" b="1">
                        <a:solidFill>
                          <a:srgbClr val="FFFFFF"/>
                        </a:solidFill>
                        <a:latin typeface="Segoe UI" panose="020B0502040204020203" pitchFamily="34" charset="0"/>
                      </a:endParaRPr>
                    </a:p>
                  </a:txBody>
                  <a:tcPr marL="101600" marR="101600" marT="63500" marB="63500" anchor="ctr">
                    <a:solidFill>
                      <a:srgbClr val="1C1C1C"/>
                    </a:solidFill>
                  </a:tcPr>
                </a:tc>
                <a:tc>
                  <a:txBody>
                    <a:bodyPr/>
                    <a:lstStyle/>
                    <a:p>
                      <a:r>
                        <a:rPr lang="en-US" sz="1200" b="1" smtClean="0">
                          <a:solidFill>
                            <a:srgbClr val="FFFFFF"/>
                          </a:solidFill>
                          <a:latin typeface="Segoe UI" panose="020B0502040204020203" pitchFamily="34" charset="0"/>
                        </a:rPr>
                        <a:t>Module(s)</a:t>
                      </a:r>
                      <a:endParaRPr lang="en-US" sz="1200" b="1">
                        <a:solidFill>
                          <a:srgbClr val="FFFFFF"/>
                        </a:solidFill>
                        <a:latin typeface="Segoe UI" panose="020B0502040204020203" pitchFamily="34" charset="0"/>
                      </a:endParaRPr>
                    </a:p>
                  </a:txBody>
                  <a:tcPr marL="101600" marR="101600" marT="63500" marB="63500" anchor="ctr">
                    <a:solidFill>
                      <a:srgbClr val="1C1C1C"/>
                    </a:solidFill>
                  </a:tcPr>
                </a:tc>
                <a:tc>
                  <a:txBody>
                    <a:bodyPr/>
                    <a:lstStyle/>
                    <a:p>
                      <a:r>
                        <a:rPr lang="fr-FR" sz="1200" b="1" smtClean="0">
                          <a:solidFill>
                            <a:srgbClr val="FFFFFF"/>
                          </a:solidFill>
                          <a:latin typeface="Segoe UI" panose="020B0502040204020203" pitchFamily="34" charset="0"/>
                        </a:rPr>
                        <a:t>Exemple d'usage pour la banque</a:t>
                      </a:r>
                      <a:endParaRPr lang="en-US" sz="1200" b="1">
                        <a:solidFill>
                          <a:srgbClr val="FFFFFF"/>
                        </a:solidFill>
                        <a:latin typeface="Segoe UI" panose="020B0502040204020203" pitchFamily="34" charset="0"/>
                      </a:endParaRPr>
                    </a:p>
                  </a:txBody>
                  <a:tcPr marL="101600" marR="101600" marT="63500" marB="63500" anchor="ctr">
                    <a:solidFill>
                      <a:srgbClr val="1C1C1C"/>
                    </a:solidFill>
                  </a:tcPr>
                </a:tc>
                <a:extLst>
                  <a:ext uri="{0D108BD9-81ED-4DB2-BD59-A6C34878D82A}">
                    <a16:rowId xmlns:a16="http://schemas.microsoft.com/office/drawing/2014/main" val="1789616582"/>
                  </a:ext>
                </a:extLst>
              </a:tr>
              <a:tr h="0">
                <a:tc>
                  <a:txBody>
                    <a:bodyPr/>
                    <a:lstStyle/>
                    <a:p>
                      <a:r>
                        <a:rPr lang="en-US" sz="1200" b="1" smtClean="0">
                          <a:solidFill>
                            <a:srgbClr val="212121"/>
                          </a:solidFill>
                          <a:latin typeface="Segoe UI" panose="020B0502040204020203" pitchFamily="34" charset="0"/>
                        </a:rPr>
                        <a:t>Interface</a:t>
                      </a:r>
                      <a:endParaRPr lang="en-US" sz="1200" b="1">
                        <a:solidFill>
                          <a:srgbClr val="212121"/>
                        </a:solidFill>
                        <a:latin typeface="Segoe UI" panose="020B0502040204020203" pitchFamily="34" charset="0"/>
                      </a:endParaRPr>
                    </a:p>
                  </a:txBody>
                  <a:tcPr marL="101600" marR="101600" marT="63500" marB="63500" anchor="ctr">
                    <a:solidFill>
                      <a:srgbClr val="F5F5F5"/>
                    </a:solidFill>
                  </a:tcPr>
                </a:tc>
                <a:tc>
                  <a:txBody>
                    <a:bodyPr/>
                    <a:lstStyle/>
                    <a:p>
                      <a:r>
                        <a:rPr lang="en-US" sz="1200" b="0" smtClean="0">
                          <a:solidFill>
                            <a:srgbClr val="212121"/>
                          </a:solidFill>
                          <a:latin typeface="Segoe UI" panose="020B0502040204020203" pitchFamily="34" charset="0"/>
                        </a:rPr>
                        <a:t>web-item, web-section, web-panel</a:t>
                      </a:r>
                      <a:endParaRPr lang="en-US" sz="1200" b="0">
                        <a:solidFill>
                          <a:srgbClr val="212121"/>
                        </a:solidFill>
                        <a:latin typeface="Segoe UI" panose="020B0502040204020203" pitchFamily="34" charset="0"/>
                      </a:endParaRPr>
                    </a:p>
                  </a:txBody>
                  <a:tcPr marL="101600" marR="101600" marT="63500" marB="63500" anchor="ctr">
                    <a:solidFill>
                      <a:srgbClr val="F5F5F5"/>
                    </a:solidFill>
                  </a:tcPr>
                </a:tc>
                <a:tc>
                  <a:txBody>
                    <a:bodyPr/>
                    <a:lstStyle/>
                    <a:p>
                      <a:r>
                        <a:rPr lang="fr-FR" sz="1200" b="0" smtClean="0">
                          <a:solidFill>
                            <a:srgbClr val="212121"/>
                          </a:solidFill>
                          <a:latin typeface="Segoe UI" panose="020B0502040204020203" pitchFamily="34" charset="0"/>
                        </a:rPr>
                        <a:t>Bouton dans la navigation, panneau sur un ticket</a:t>
                      </a:r>
                      <a:endParaRPr lang="en-US" sz="1200" b="0">
                        <a:solidFill>
                          <a:srgbClr val="212121"/>
                        </a:solidFill>
                        <a:latin typeface="Segoe UI" panose="020B0502040204020203" pitchFamily="34" charset="0"/>
                      </a:endParaRPr>
                    </a:p>
                  </a:txBody>
                  <a:tcPr marL="101600" marR="101600" marT="63500" marB="63500" anchor="ctr">
                    <a:solidFill>
                      <a:srgbClr val="F5F5F5"/>
                    </a:solidFill>
                  </a:tcPr>
                </a:tc>
                <a:extLst>
                  <a:ext uri="{0D108BD9-81ED-4DB2-BD59-A6C34878D82A}">
                    <a16:rowId xmlns:a16="http://schemas.microsoft.com/office/drawing/2014/main" val="3549579589"/>
                  </a:ext>
                </a:extLst>
              </a:tr>
              <a:tr h="0">
                <a:tc>
                  <a:txBody>
                    <a:bodyPr/>
                    <a:lstStyle/>
                    <a:p>
                      <a:r>
                        <a:rPr lang="en-US" sz="1200" b="1" smtClean="0">
                          <a:solidFill>
                            <a:srgbClr val="212121"/>
                          </a:solidFill>
                          <a:latin typeface="Segoe UI" panose="020B0502040204020203" pitchFamily="34" charset="0"/>
                        </a:rPr>
                        <a:t>Interface</a:t>
                      </a:r>
                      <a:endParaRPr lang="en-US" sz="1200" b="1">
                        <a:solidFill>
                          <a:srgbClr val="212121"/>
                        </a:solidFill>
                        <a:latin typeface="Segoe UI" panose="020B0502040204020203" pitchFamily="34" charset="0"/>
                      </a:endParaRPr>
                    </a:p>
                  </a:txBody>
                  <a:tcPr marL="101600" marR="101600" marT="63500" marB="63500" anchor="ctr">
                    <a:solidFill>
                      <a:srgbClr val="FFFFFF"/>
                    </a:solidFill>
                  </a:tcPr>
                </a:tc>
                <a:tc>
                  <a:txBody>
                    <a:bodyPr/>
                    <a:lstStyle/>
                    <a:p>
                      <a:r>
                        <a:rPr lang="en-US" sz="1200" b="0" smtClean="0">
                          <a:solidFill>
                            <a:srgbClr val="212121"/>
                          </a:solidFill>
                          <a:latin typeface="Segoe UI" panose="020B0502040204020203" pitchFamily="34" charset="0"/>
                        </a:rPr>
                        <a:t>web-resource</a:t>
                      </a:r>
                      <a:endParaRPr lang="en-US" sz="1200" b="0">
                        <a:solidFill>
                          <a:srgbClr val="212121"/>
                        </a:solidFill>
                        <a:latin typeface="Segoe UI" panose="020B0502040204020203" pitchFamily="34" charset="0"/>
                      </a:endParaRPr>
                    </a:p>
                  </a:txBody>
                  <a:tcPr marL="101600" marR="101600" marT="63500" marB="63500" anchor="ctr">
                    <a:solidFill>
                      <a:srgbClr val="FFFFFF"/>
                    </a:solidFill>
                  </a:tcPr>
                </a:tc>
                <a:tc>
                  <a:txBody>
                    <a:bodyPr/>
                    <a:lstStyle/>
                    <a:p>
                      <a:r>
                        <a:rPr lang="en-US" sz="1200" b="0" smtClean="0">
                          <a:solidFill>
                            <a:srgbClr val="212121"/>
                          </a:solidFill>
                          <a:latin typeface="Segoe UI" panose="020B0502040204020203" pitchFamily="34" charset="0"/>
                        </a:rPr>
                        <a:t>Charger JS/CSS, composants AUI</a:t>
                      </a:r>
                      <a:endParaRPr lang="en-US" sz="1200" b="0">
                        <a:solidFill>
                          <a:srgbClr val="212121"/>
                        </a:solidFill>
                        <a:latin typeface="Segoe UI" panose="020B0502040204020203" pitchFamily="34" charset="0"/>
                      </a:endParaRPr>
                    </a:p>
                  </a:txBody>
                  <a:tcPr marL="101600" marR="101600" marT="63500" marB="63500" anchor="ctr">
                    <a:solidFill>
                      <a:srgbClr val="FFFFFF"/>
                    </a:solidFill>
                  </a:tcPr>
                </a:tc>
                <a:extLst>
                  <a:ext uri="{0D108BD9-81ED-4DB2-BD59-A6C34878D82A}">
                    <a16:rowId xmlns:a16="http://schemas.microsoft.com/office/drawing/2014/main" val="1693092693"/>
                  </a:ext>
                </a:extLst>
              </a:tr>
              <a:tr h="0">
                <a:tc>
                  <a:txBody>
                    <a:bodyPr/>
                    <a:lstStyle/>
                    <a:p>
                      <a:r>
                        <a:rPr lang="en-US" sz="1200" b="1" smtClean="0">
                          <a:solidFill>
                            <a:srgbClr val="212121"/>
                          </a:solidFill>
                          <a:latin typeface="Segoe UI" panose="020B0502040204020203" pitchFamily="34" charset="0"/>
                        </a:rPr>
                        <a:t>Workflow</a:t>
                      </a:r>
                      <a:endParaRPr lang="en-US" sz="1200" b="1">
                        <a:solidFill>
                          <a:srgbClr val="212121"/>
                        </a:solidFill>
                        <a:latin typeface="Segoe UI" panose="020B0502040204020203" pitchFamily="34" charset="0"/>
                      </a:endParaRPr>
                    </a:p>
                  </a:txBody>
                  <a:tcPr marL="101600" marR="101600" marT="63500" marB="63500" anchor="ctr">
                    <a:solidFill>
                      <a:srgbClr val="F5F5F5"/>
                    </a:solidFill>
                  </a:tcPr>
                </a:tc>
                <a:tc>
                  <a:txBody>
                    <a:bodyPr/>
                    <a:lstStyle/>
                    <a:p>
                      <a:r>
                        <a:rPr lang="en-US" sz="1200" b="0" smtClean="0">
                          <a:solidFill>
                            <a:srgbClr val="212121"/>
                          </a:solidFill>
                          <a:latin typeface="Segoe UI" panose="020B0502040204020203" pitchFamily="34" charset="0"/>
                        </a:rPr>
                        <a:t>workflow-condition / validator / function</a:t>
                      </a:r>
                      <a:endParaRPr lang="en-US" sz="1200" b="0">
                        <a:solidFill>
                          <a:srgbClr val="212121"/>
                        </a:solidFill>
                        <a:latin typeface="Segoe UI" panose="020B0502040204020203" pitchFamily="34" charset="0"/>
                      </a:endParaRPr>
                    </a:p>
                  </a:txBody>
                  <a:tcPr marL="101600" marR="101600" marT="63500" marB="63500" anchor="ctr">
                    <a:solidFill>
                      <a:srgbClr val="F5F5F5"/>
                    </a:solidFill>
                  </a:tcPr>
                </a:tc>
                <a:tc>
                  <a:txBody>
                    <a:bodyPr/>
                    <a:lstStyle/>
                    <a:p>
                      <a:r>
                        <a:rPr lang="fr-FR" sz="1200" b="0" smtClean="0">
                          <a:solidFill>
                            <a:srgbClr val="212121"/>
                          </a:solidFill>
                          <a:latin typeface="Segoe UI" panose="020B0502040204020203" pitchFamily="34" charset="0"/>
                        </a:rPr>
                        <a:t>Bloquer une transition sans validation conformité</a:t>
                      </a:r>
                      <a:endParaRPr lang="en-US" sz="1200" b="0">
                        <a:solidFill>
                          <a:srgbClr val="212121"/>
                        </a:solidFill>
                        <a:latin typeface="Segoe UI" panose="020B0502040204020203" pitchFamily="34" charset="0"/>
                      </a:endParaRPr>
                    </a:p>
                  </a:txBody>
                  <a:tcPr marL="101600" marR="101600" marT="63500" marB="63500" anchor="ctr">
                    <a:solidFill>
                      <a:srgbClr val="F5F5F5"/>
                    </a:solidFill>
                  </a:tcPr>
                </a:tc>
                <a:extLst>
                  <a:ext uri="{0D108BD9-81ED-4DB2-BD59-A6C34878D82A}">
                    <a16:rowId xmlns:a16="http://schemas.microsoft.com/office/drawing/2014/main" val="3870417733"/>
                  </a:ext>
                </a:extLst>
              </a:tr>
              <a:tr h="0">
                <a:tc>
                  <a:txBody>
                    <a:bodyPr/>
                    <a:lstStyle/>
                    <a:p>
                      <a:r>
                        <a:rPr lang="en-US" sz="1200" b="1" smtClean="0">
                          <a:solidFill>
                            <a:srgbClr val="212121"/>
                          </a:solidFill>
                          <a:latin typeface="Segoe UI" panose="020B0502040204020203" pitchFamily="34" charset="0"/>
                        </a:rPr>
                        <a:t>Données</a:t>
                      </a:r>
                      <a:endParaRPr lang="en-US" sz="1200" b="1">
                        <a:solidFill>
                          <a:srgbClr val="212121"/>
                        </a:solidFill>
                        <a:latin typeface="Segoe UI" panose="020B0502040204020203" pitchFamily="34" charset="0"/>
                      </a:endParaRPr>
                    </a:p>
                  </a:txBody>
                  <a:tcPr marL="101600" marR="101600" marT="63500" marB="63500" anchor="ctr">
                    <a:solidFill>
                      <a:srgbClr val="FFFFFF"/>
                    </a:solidFill>
                  </a:tcPr>
                </a:tc>
                <a:tc>
                  <a:txBody>
                    <a:bodyPr/>
                    <a:lstStyle/>
                    <a:p>
                      <a:r>
                        <a:rPr lang="en-US" sz="1200" b="0" smtClean="0">
                          <a:solidFill>
                            <a:srgbClr val="212121"/>
                          </a:solidFill>
                          <a:latin typeface="Segoe UI" panose="020B0502040204020203" pitchFamily="34" charset="0"/>
                        </a:rPr>
                        <a:t>customfield-type</a:t>
                      </a:r>
                      <a:endParaRPr lang="en-US" sz="1200" b="0">
                        <a:solidFill>
                          <a:srgbClr val="212121"/>
                        </a:solidFill>
                        <a:latin typeface="Segoe UI" panose="020B0502040204020203" pitchFamily="34" charset="0"/>
                      </a:endParaRPr>
                    </a:p>
                  </a:txBody>
                  <a:tcPr marL="101600" marR="101600" marT="63500" marB="63500" anchor="ctr">
                    <a:solidFill>
                      <a:srgbClr val="FFFFFF"/>
                    </a:solidFill>
                  </a:tcPr>
                </a:tc>
                <a:tc>
                  <a:txBody>
                    <a:bodyPr/>
                    <a:lstStyle/>
                    <a:p>
                      <a:r>
                        <a:rPr lang="en-US" sz="1200" b="0" smtClean="0">
                          <a:solidFill>
                            <a:srgbClr val="212121"/>
                          </a:solidFill>
                          <a:latin typeface="Segoe UI" panose="020B0502040204020203" pitchFamily="34" charset="0"/>
                        </a:rPr>
                        <a:t>Champ « Niveau de risque »</a:t>
                      </a:r>
                      <a:endParaRPr lang="en-US" sz="1200" b="0">
                        <a:solidFill>
                          <a:srgbClr val="212121"/>
                        </a:solidFill>
                        <a:latin typeface="Segoe UI" panose="020B0502040204020203" pitchFamily="34" charset="0"/>
                      </a:endParaRPr>
                    </a:p>
                  </a:txBody>
                  <a:tcPr marL="101600" marR="101600" marT="63500" marB="63500" anchor="ctr">
                    <a:solidFill>
                      <a:srgbClr val="FFFFFF"/>
                    </a:solidFill>
                  </a:tcPr>
                </a:tc>
                <a:extLst>
                  <a:ext uri="{0D108BD9-81ED-4DB2-BD59-A6C34878D82A}">
                    <a16:rowId xmlns:a16="http://schemas.microsoft.com/office/drawing/2014/main" val="4160241738"/>
                  </a:ext>
                </a:extLst>
              </a:tr>
              <a:tr h="0">
                <a:tc>
                  <a:txBody>
                    <a:bodyPr/>
                    <a:lstStyle/>
                    <a:p>
                      <a:r>
                        <a:rPr lang="en-US" sz="1200" b="1" smtClean="0">
                          <a:solidFill>
                            <a:srgbClr val="212121"/>
                          </a:solidFill>
                          <a:latin typeface="Segoe UI" panose="020B0502040204020203" pitchFamily="34" charset="0"/>
                        </a:rPr>
                        <a:t>Données</a:t>
                      </a:r>
                      <a:endParaRPr lang="en-US" sz="1200" b="1">
                        <a:solidFill>
                          <a:srgbClr val="212121"/>
                        </a:solidFill>
                        <a:latin typeface="Segoe UI" panose="020B0502040204020203" pitchFamily="34" charset="0"/>
                      </a:endParaRPr>
                    </a:p>
                  </a:txBody>
                  <a:tcPr marL="101600" marR="101600" marT="63500" marB="63500" anchor="ctr">
                    <a:solidFill>
                      <a:srgbClr val="F5F5F5"/>
                    </a:solidFill>
                  </a:tcPr>
                </a:tc>
                <a:tc>
                  <a:txBody>
                    <a:bodyPr/>
                    <a:lstStyle/>
                    <a:p>
                      <a:r>
                        <a:rPr lang="en-US" sz="1200" b="0" smtClean="0">
                          <a:solidFill>
                            <a:srgbClr val="212121"/>
                          </a:solidFill>
                          <a:latin typeface="Segoe UI" panose="020B0502040204020203" pitchFamily="34" charset="0"/>
                        </a:rPr>
                        <a:t>ao (Active Objects)</a:t>
                      </a:r>
                      <a:endParaRPr lang="en-US" sz="1200" b="0">
                        <a:solidFill>
                          <a:srgbClr val="212121"/>
                        </a:solidFill>
                        <a:latin typeface="Segoe UI" panose="020B0502040204020203" pitchFamily="34" charset="0"/>
                      </a:endParaRPr>
                    </a:p>
                  </a:txBody>
                  <a:tcPr marL="101600" marR="101600" marT="63500" marB="63500" anchor="ctr">
                    <a:solidFill>
                      <a:srgbClr val="F5F5F5"/>
                    </a:solidFill>
                  </a:tcPr>
                </a:tc>
                <a:tc>
                  <a:txBody>
                    <a:bodyPr/>
                    <a:lstStyle/>
                    <a:p>
                      <a:r>
                        <a:rPr lang="fr-FR" sz="1200" b="0" smtClean="0">
                          <a:solidFill>
                            <a:srgbClr val="212121"/>
                          </a:solidFill>
                          <a:latin typeface="Segoe UI" panose="020B0502040204020203" pitchFamily="34" charset="0"/>
                        </a:rPr>
                        <a:t>Stocker un historique d'audit propre au plugin</a:t>
                      </a:r>
                      <a:endParaRPr lang="en-US" sz="1200" b="0">
                        <a:solidFill>
                          <a:srgbClr val="212121"/>
                        </a:solidFill>
                        <a:latin typeface="Segoe UI" panose="020B0502040204020203" pitchFamily="34" charset="0"/>
                      </a:endParaRPr>
                    </a:p>
                  </a:txBody>
                  <a:tcPr marL="101600" marR="101600" marT="63500" marB="63500" anchor="ctr">
                    <a:solidFill>
                      <a:srgbClr val="F5F5F5"/>
                    </a:solidFill>
                  </a:tcPr>
                </a:tc>
                <a:extLst>
                  <a:ext uri="{0D108BD9-81ED-4DB2-BD59-A6C34878D82A}">
                    <a16:rowId xmlns:a16="http://schemas.microsoft.com/office/drawing/2014/main" val="3412124949"/>
                  </a:ext>
                </a:extLst>
              </a:tr>
              <a:tr h="0">
                <a:tc>
                  <a:txBody>
                    <a:bodyPr/>
                    <a:lstStyle/>
                    <a:p>
                      <a:r>
                        <a:rPr lang="en-US" sz="1200" b="1" smtClean="0">
                          <a:solidFill>
                            <a:srgbClr val="212121"/>
                          </a:solidFill>
                          <a:latin typeface="Segoe UI" panose="020B0502040204020203" pitchFamily="34" charset="0"/>
                        </a:rPr>
                        <a:t>Intégration</a:t>
                      </a:r>
                      <a:endParaRPr lang="en-US" sz="1200" b="1">
                        <a:solidFill>
                          <a:srgbClr val="212121"/>
                        </a:solidFill>
                        <a:latin typeface="Segoe UI" panose="020B0502040204020203" pitchFamily="34" charset="0"/>
                      </a:endParaRPr>
                    </a:p>
                  </a:txBody>
                  <a:tcPr marL="101600" marR="101600" marT="63500" marB="63500" anchor="ctr">
                    <a:solidFill>
                      <a:srgbClr val="FFFFFF"/>
                    </a:solidFill>
                  </a:tcPr>
                </a:tc>
                <a:tc>
                  <a:txBody>
                    <a:bodyPr/>
                    <a:lstStyle/>
                    <a:p>
                      <a:r>
                        <a:rPr lang="en-US" sz="1200" b="0" smtClean="0">
                          <a:solidFill>
                            <a:srgbClr val="212121"/>
                          </a:solidFill>
                          <a:latin typeface="Segoe UI" panose="020B0502040204020203" pitchFamily="34" charset="0"/>
                        </a:rPr>
                        <a:t>rest</a:t>
                      </a:r>
                      <a:endParaRPr lang="en-US" sz="1200" b="0">
                        <a:solidFill>
                          <a:srgbClr val="212121"/>
                        </a:solidFill>
                        <a:latin typeface="Segoe UI" panose="020B0502040204020203" pitchFamily="34" charset="0"/>
                      </a:endParaRPr>
                    </a:p>
                  </a:txBody>
                  <a:tcPr marL="101600" marR="101600" marT="63500" marB="63500" anchor="ctr">
                    <a:solidFill>
                      <a:srgbClr val="FFFFFF"/>
                    </a:solidFill>
                  </a:tcPr>
                </a:tc>
                <a:tc>
                  <a:txBody>
                    <a:bodyPr/>
                    <a:lstStyle/>
                    <a:p>
                      <a:r>
                        <a:rPr lang="fr-FR" sz="1200" b="0" smtClean="0">
                          <a:solidFill>
                            <a:srgbClr val="212121"/>
                          </a:solidFill>
                          <a:latin typeface="Segoe UI" panose="020B0502040204020203" pitchFamily="34" charset="0"/>
                        </a:rPr>
                        <a:t>API /rest/mabanque/1.0/... pour un outil tiers</a:t>
                      </a:r>
                      <a:endParaRPr lang="en-US" sz="1200" b="0">
                        <a:solidFill>
                          <a:srgbClr val="212121"/>
                        </a:solidFill>
                        <a:latin typeface="Segoe UI" panose="020B0502040204020203" pitchFamily="34" charset="0"/>
                      </a:endParaRPr>
                    </a:p>
                  </a:txBody>
                  <a:tcPr marL="101600" marR="101600" marT="63500" marB="63500" anchor="ctr">
                    <a:solidFill>
                      <a:srgbClr val="FFFFFF"/>
                    </a:solidFill>
                  </a:tcPr>
                </a:tc>
                <a:extLst>
                  <a:ext uri="{0D108BD9-81ED-4DB2-BD59-A6C34878D82A}">
                    <a16:rowId xmlns:a16="http://schemas.microsoft.com/office/drawing/2014/main" val="3899823398"/>
                  </a:ext>
                </a:extLst>
              </a:tr>
              <a:tr h="0">
                <a:tc>
                  <a:txBody>
                    <a:bodyPr/>
                    <a:lstStyle/>
                    <a:p>
                      <a:r>
                        <a:rPr lang="en-US" sz="1200" b="1" smtClean="0">
                          <a:solidFill>
                            <a:srgbClr val="212121"/>
                          </a:solidFill>
                          <a:latin typeface="Segoe UI" panose="020B0502040204020203" pitchFamily="34" charset="0"/>
                        </a:rPr>
                        <a:t>Intégration</a:t>
                      </a:r>
                      <a:endParaRPr lang="en-US" sz="1200" b="1">
                        <a:solidFill>
                          <a:srgbClr val="212121"/>
                        </a:solidFill>
                        <a:latin typeface="Segoe UI" panose="020B0502040204020203" pitchFamily="34" charset="0"/>
                      </a:endParaRPr>
                    </a:p>
                  </a:txBody>
                  <a:tcPr marL="101600" marR="101600" marT="63500" marB="63500" anchor="ctr">
                    <a:solidFill>
                      <a:srgbClr val="F5F5F5"/>
                    </a:solidFill>
                  </a:tcPr>
                </a:tc>
                <a:tc>
                  <a:txBody>
                    <a:bodyPr/>
                    <a:lstStyle/>
                    <a:p>
                      <a:r>
                        <a:rPr lang="en-US" sz="1200" b="0" smtClean="0">
                          <a:solidFill>
                            <a:srgbClr val="212121"/>
                          </a:solidFill>
                          <a:latin typeface="Segoe UI" panose="020B0502040204020203" pitchFamily="34" charset="0"/>
                        </a:rPr>
                        <a:t>Listener d'événements (Spring)</a:t>
                      </a:r>
                      <a:endParaRPr lang="en-US" sz="1200" b="0">
                        <a:solidFill>
                          <a:srgbClr val="212121"/>
                        </a:solidFill>
                        <a:latin typeface="Segoe UI" panose="020B0502040204020203" pitchFamily="34" charset="0"/>
                      </a:endParaRPr>
                    </a:p>
                  </a:txBody>
                  <a:tcPr marL="101600" marR="101600" marT="63500" marB="63500" anchor="ctr">
                    <a:solidFill>
                      <a:srgbClr val="F5F5F5"/>
                    </a:solidFill>
                  </a:tcPr>
                </a:tc>
                <a:tc>
                  <a:txBody>
                    <a:bodyPr/>
                    <a:lstStyle/>
                    <a:p>
                      <a:r>
                        <a:rPr lang="fr-FR" sz="1200" b="0" smtClean="0">
                          <a:solidFill>
                            <a:srgbClr val="212121"/>
                          </a:solidFill>
                          <a:latin typeface="Segoe UI" panose="020B0502040204020203" pitchFamily="34" charset="0"/>
                        </a:rPr>
                        <a:t>Notifier ou tracer à la clôture d'un ticket</a:t>
                      </a:r>
                      <a:endParaRPr lang="en-US" sz="1200" b="0">
                        <a:solidFill>
                          <a:srgbClr val="212121"/>
                        </a:solidFill>
                        <a:latin typeface="Segoe UI" panose="020B0502040204020203" pitchFamily="34" charset="0"/>
                      </a:endParaRPr>
                    </a:p>
                  </a:txBody>
                  <a:tcPr marL="101600" marR="101600" marT="63500" marB="63500" anchor="ctr">
                    <a:solidFill>
                      <a:srgbClr val="F5F5F5"/>
                    </a:solidFill>
                  </a:tcPr>
                </a:tc>
                <a:extLst>
                  <a:ext uri="{0D108BD9-81ED-4DB2-BD59-A6C34878D82A}">
                    <a16:rowId xmlns:a16="http://schemas.microsoft.com/office/drawing/2014/main" val="495967786"/>
                  </a:ext>
                </a:extLst>
              </a:tr>
              <a:tr h="0">
                <a:tc>
                  <a:txBody>
                    <a:bodyPr/>
                    <a:lstStyle/>
                    <a:p>
                      <a:r>
                        <a:rPr lang="en-US" sz="1200" b="1" smtClean="0">
                          <a:solidFill>
                            <a:srgbClr val="212121"/>
                          </a:solidFill>
                          <a:latin typeface="Segoe UI" panose="020B0502040204020203" pitchFamily="34" charset="0"/>
                        </a:rPr>
                        <a:t>Recherche</a:t>
                      </a:r>
                      <a:endParaRPr lang="en-US" sz="1200" b="1">
                        <a:solidFill>
                          <a:srgbClr val="212121"/>
                        </a:solidFill>
                        <a:latin typeface="Segoe UI" panose="020B0502040204020203" pitchFamily="34" charset="0"/>
                      </a:endParaRPr>
                    </a:p>
                  </a:txBody>
                  <a:tcPr marL="101600" marR="101600" marT="63500" marB="63500" anchor="ctr">
                    <a:solidFill>
                      <a:srgbClr val="FFFFFF"/>
                    </a:solidFill>
                  </a:tcPr>
                </a:tc>
                <a:tc>
                  <a:txBody>
                    <a:bodyPr/>
                    <a:lstStyle/>
                    <a:p>
                      <a:r>
                        <a:rPr lang="en-US" sz="1200" b="0" smtClean="0">
                          <a:solidFill>
                            <a:srgbClr val="212121"/>
                          </a:solidFill>
                          <a:latin typeface="Segoe UI" panose="020B0502040204020203" pitchFamily="34" charset="0"/>
                        </a:rPr>
                        <a:t>jql-function</a:t>
                      </a:r>
                      <a:endParaRPr lang="en-US" sz="1200" b="0">
                        <a:solidFill>
                          <a:srgbClr val="212121"/>
                        </a:solidFill>
                        <a:latin typeface="Segoe UI" panose="020B0502040204020203" pitchFamily="34" charset="0"/>
                      </a:endParaRPr>
                    </a:p>
                  </a:txBody>
                  <a:tcPr marL="101600" marR="101600" marT="63500" marB="63500" anchor="ctr">
                    <a:solidFill>
                      <a:srgbClr val="FFFFFF"/>
                    </a:solidFill>
                  </a:tcPr>
                </a:tc>
                <a:tc>
                  <a:txBody>
                    <a:bodyPr/>
                    <a:lstStyle/>
                    <a:p>
                      <a:r>
                        <a:rPr lang="fr-FR" sz="1200" b="0" smtClean="0">
                          <a:solidFill>
                            <a:srgbClr val="212121"/>
                          </a:solidFill>
                          <a:latin typeface="Segoe UI" panose="020B0502040204020203" pitchFamily="34" charset="0"/>
                        </a:rPr>
                        <a:t>Fonction JQL métier (ex. tickets audités)</a:t>
                      </a:r>
                      <a:endParaRPr lang="en-US" sz="1200" b="0">
                        <a:solidFill>
                          <a:srgbClr val="212121"/>
                        </a:solidFill>
                        <a:latin typeface="Segoe UI" panose="020B0502040204020203" pitchFamily="34" charset="0"/>
                      </a:endParaRPr>
                    </a:p>
                  </a:txBody>
                  <a:tcPr marL="101600" marR="101600" marT="63500" marB="63500" anchor="ctr">
                    <a:solidFill>
                      <a:srgbClr val="FFFFFF"/>
                    </a:solidFill>
                  </a:tcPr>
                </a:tc>
                <a:extLst>
                  <a:ext uri="{0D108BD9-81ED-4DB2-BD59-A6C34878D82A}">
                    <a16:rowId xmlns:a16="http://schemas.microsoft.com/office/drawing/2014/main" val="1162510426"/>
                  </a:ext>
                </a:extLst>
              </a:tr>
              <a:tr h="0">
                <a:tc>
                  <a:txBody>
                    <a:bodyPr/>
                    <a:lstStyle/>
                    <a:p>
                      <a:r>
                        <a:rPr lang="en-US" sz="1200" b="1" smtClean="0">
                          <a:solidFill>
                            <a:srgbClr val="212121"/>
                          </a:solidFill>
                          <a:latin typeface="Segoe UI" panose="020B0502040204020203" pitchFamily="34" charset="0"/>
                        </a:rPr>
                        <a:t>Administration</a:t>
                      </a:r>
                      <a:endParaRPr lang="en-US" sz="1200" b="1">
                        <a:solidFill>
                          <a:srgbClr val="212121"/>
                        </a:solidFill>
                        <a:latin typeface="Segoe UI" panose="020B0502040204020203" pitchFamily="34" charset="0"/>
                      </a:endParaRPr>
                    </a:p>
                  </a:txBody>
                  <a:tcPr marL="101600" marR="101600" marT="63500" marB="63500" anchor="ctr">
                    <a:solidFill>
                      <a:srgbClr val="F5F5F5"/>
                    </a:solidFill>
                  </a:tcPr>
                </a:tc>
                <a:tc>
                  <a:txBody>
                    <a:bodyPr/>
                    <a:lstStyle/>
                    <a:p>
                      <a:r>
                        <a:rPr lang="en-US" sz="1200" b="0" smtClean="0">
                          <a:solidFill>
                            <a:srgbClr val="212121"/>
                          </a:solidFill>
                          <a:latin typeface="Segoe UI" panose="020B0502040204020203" pitchFamily="34" charset="0"/>
                        </a:rPr>
                        <a:t>servlet, webwork</a:t>
                      </a:r>
                      <a:endParaRPr lang="en-US" sz="1200" b="0">
                        <a:solidFill>
                          <a:srgbClr val="212121"/>
                        </a:solidFill>
                        <a:latin typeface="Segoe UI" panose="020B0502040204020203" pitchFamily="34" charset="0"/>
                      </a:endParaRPr>
                    </a:p>
                  </a:txBody>
                  <a:tcPr marL="101600" marR="101600" marT="63500" marB="63500" anchor="ctr">
                    <a:solidFill>
                      <a:srgbClr val="F5F5F5"/>
                    </a:solidFill>
                  </a:tcPr>
                </a:tc>
                <a:tc>
                  <a:txBody>
                    <a:bodyPr/>
                    <a:lstStyle/>
                    <a:p>
                      <a:r>
                        <a:rPr lang="fr-FR" sz="1200" b="0" smtClean="0">
                          <a:solidFill>
                            <a:srgbClr val="212121"/>
                          </a:solidFill>
                          <a:latin typeface="Segoe UI" panose="020B0502040204020203" pitchFamily="34" charset="0"/>
                        </a:rPr>
                        <a:t>Page de configuration du plugin</a:t>
                      </a:r>
                      <a:endParaRPr lang="en-US" sz="1200" b="0">
                        <a:solidFill>
                          <a:srgbClr val="212121"/>
                        </a:solidFill>
                        <a:latin typeface="Segoe UI" panose="020B0502040204020203" pitchFamily="34" charset="0"/>
                      </a:endParaRPr>
                    </a:p>
                  </a:txBody>
                  <a:tcPr marL="101600" marR="101600" marT="63500" marB="63500" anchor="ctr">
                    <a:solidFill>
                      <a:srgbClr val="F5F5F5"/>
                    </a:solidFill>
                  </a:tcPr>
                </a:tc>
                <a:extLst>
                  <a:ext uri="{0D108BD9-81ED-4DB2-BD59-A6C34878D82A}">
                    <a16:rowId xmlns:a16="http://schemas.microsoft.com/office/drawing/2014/main" val="3206304353"/>
                  </a:ext>
                </a:extLst>
              </a:tr>
              <a:tr h="0">
                <a:tc>
                  <a:txBody>
                    <a:bodyPr/>
                    <a:lstStyle/>
                    <a:p>
                      <a:r>
                        <a:rPr lang="en-US" sz="1200" b="1" smtClean="0">
                          <a:solidFill>
                            <a:srgbClr val="212121"/>
                          </a:solidFill>
                          <a:latin typeface="Segoe UI" panose="020B0502040204020203" pitchFamily="34" charset="0"/>
                        </a:rPr>
                        <a:t>Traitements</a:t>
                      </a:r>
                      <a:endParaRPr lang="en-US" sz="1200" b="1">
                        <a:solidFill>
                          <a:srgbClr val="212121"/>
                        </a:solidFill>
                        <a:latin typeface="Segoe UI" panose="020B0502040204020203" pitchFamily="34" charset="0"/>
                      </a:endParaRPr>
                    </a:p>
                  </a:txBody>
                  <a:tcPr marL="101600" marR="101600" marT="63500" marB="63500" anchor="ctr">
                    <a:solidFill>
                      <a:srgbClr val="FFFFFF"/>
                    </a:solidFill>
                  </a:tcPr>
                </a:tc>
                <a:tc>
                  <a:txBody>
                    <a:bodyPr/>
                    <a:lstStyle/>
                    <a:p>
                      <a:r>
                        <a:rPr lang="en-US" sz="1200" b="0" smtClean="0">
                          <a:solidFill>
                            <a:srgbClr val="212121"/>
                          </a:solidFill>
                          <a:latin typeface="Segoe UI" panose="020B0502040204020203" pitchFamily="34" charset="0"/>
                        </a:rPr>
                        <a:t>job (Atlassian Scheduler)</a:t>
                      </a:r>
                      <a:endParaRPr lang="en-US" sz="1200" b="0">
                        <a:solidFill>
                          <a:srgbClr val="212121"/>
                        </a:solidFill>
                        <a:latin typeface="Segoe UI" panose="020B0502040204020203" pitchFamily="34" charset="0"/>
                      </a:endParaRPr>
                    </a:p>
                  </a:txBody>
                  <a:tcPr marL="101600" marR="101600" marT="63500" marB="63500" anchor="ctr">
                    <a:solidFill>
                      <a:srgbClr val="FFFFFF"/>
                    </a:solidFill>
                  </a:tcPr>
                </a:tc>
                <a:tc>
                  <a:txBody>
                    <a:bodyPr/>
                    <a:lstStyle/>
                    <a:p>
                      <a:r>
                        <a:rPr lang="en-US" sz="1200" b="0" smtClean="0">
                          <a:solidFill>
                            <a:srgbClr val="212121"/>
                          </a:solidFill>
                          <a:latin typeface="Segoe UI" panose="020B0502040204020203" pitchFamily="34" charset="0"/>
                        </a:rPr>
                        <a:t>Synchronisation ou purge nocturne</a:t>
                      </a:r>
                      <a:endParaRPr lang="en-US" sz="1200" b="0">
                        <a:solidFill>
                          <a:srgbClr val="212121"/>
                        </a:solidFill>
                        <a:latin typeface="Segoe UI" panose="020B0502040204020203" pitchFamily="34" charset="0"/>
                      </a:endParaRPr>
                    </a:p>
                  </a:txBody>
                  <a:tcPr marL="101600" marR="101600" marT="63500" marB="63500" anchor="ctr">
                    <a:solidFill>
                      <a:srgbClr val="FFFFFF"/>
                    </a:solidFill>
                  </a:tcPr>
                </a:tc>
                <a:extLst>
                  <a:ext uri="{0D108BD9-81ED-4DB2-BD59-A6C34878D82A}">
                    <a16:rowId xmlns:a16="http://schemas.microsoft.com/office/drawing/2014/main" val="3972476859"/>
                  </a:ext>
                </a:extLst>
              </a:tr>
            </a:tbl>
          </a:graphicData>
        </a:graphic>
      </p:graphicFrame>
    </p:spTree>
    <p:extLst>
      <p:ext uri="{BB962C8B-B14F-4D97-AF65-F5344CB8AC3E}">
        <p14:creationId xmlns:p14="http://schemas.microsoft.com/office/powerpoint/2010/main" val="11805529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C8102E"/>
                </a:solidFill>
                <a:latin typeface="Segoe UI" panose="020B0502040204020203" pitchFamily="34" charset="0"/>
              </a:rPr>
              <a:t>03 · DÉVELOPPER</a:t>
            </a:r>
            <a:endParaRPr lang="en-US" sz="1000" b="1">
              <a:solidFill>
                <a:srgbClr val="C8102E"/>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fr-FR" sz="2400" b="1" smtClean="0">
                <a:solidFill>
                  <a:srgbClr val="212121"/>
                </a:solidFill>
                <a:latin typeface="Segoe UI" panose="020B0502040204020203" pitchFamily="34" charset="0"/>
              </a:rPr>
              <a:t>Back-end Java : Spring et injection de dépendances</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13</a:t>
            </a:r>
            <a:endParaRPr lang="en-US" sz="900">
              <a:solidFill>
                <a:srgbClr val="6E6E6E"/>
              </a:solidFill>
              <a:latin typeface="Segoe UI" panose="020B0502040204020203" pitchFamily="34" charset="0"/>
            </a:endParaRPr>
          </a:p>
        </p:txBody>
      </p:sp>
      <p:sp>
        <p:nvSpPr>
          <p:cNvPr id="9" name="Rectangle 8"/>
          <p:cNvSpPr/>
          <p:nvPr/>
        </p:nvSpPr>
        <p:spPr>
          <a:xfrm>
            <a:off x="508000" y="1219200"/>
            <a:ext cx="7112000" cy="5029200"/>
          </a:xfrm>
          <a:prstGeom prst="rect">
            <a:avLst/>
          </a:prstGeom>
          <a:solidFill>
            <a:srgbClr val="1E1E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0" name="Ellipse 9"/>
          <p:cNvSpPr/>
          <p:nvPr/>
        </p:nvSpPr>
        <p:spPr>
          <a:xfrm>
            <a:off x="660400" y="1346200"/>
            <a:ext cx="114300" cy="114300"/>
          </a:xfrm>
          <a:prstGeom prst="ellipse">
            <a:avLst/>
          </a:prstGeom>
          <a:solidFill>
            <a:srgbClr val="FF5F5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1" name="Ellipse 10"/>
          <p:cNvSpPr/>
          <p:nvPr/>
        </p:nvSpPr>
        <p:spPr>
          <a:xfrm>
            <a:off x="838200" y="1346200"/>
            <a:ext cx="114300" cy="114300"/>
          </a:xfrm>
          <a:prstGeom prst="ellipse">
            <a:avLst/>
          </a:prstGeom>
          <a:solidFill>
            <a:srgbClr val="FFBD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2" name="Ellipse 11"/>
          <p:cNvSpPr/>
          <p:nvPr/>
        </p:nvSpPr>
        <p:spPr>
          <a:xfrm>
            <a:off x="1016000" y="1346200"/>
            <a:ext cx="114300" cy="114300"/>
          </a:xfrm>
          <a:prstGeom prst="ellipse">
            <a:avLst/>
          </a:prstGeom>
          <a:solidFill>
            <a:srgbClr val="27C93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3" name="ZoneTexte 12"/>
          <p:cNvSpPr txBox="1"/>
          <p:nvPr/>
        </p:nvSpPr>
        <p:spPr>
          <a:xfrm>
            <a:off x="1270000" y="1308100"/>
            <a:ext cx="6197600" cy="369332"/>
          </a:xfrm>
          <a:prstGeom prst="rect">
            <a:avLst/>
          </a:prstGeom>
          <a:noFill/>
        </p:spPr>
        <p:txBody>
          <a:bodyPr vert="horz" wrap="square" lIns="0" tIns="0" rIns="0" bIns="0" rtlCol="0">
            <a:noAutofit/>
          </a:bodyPr>
          <a:lstStyle/>
          <a:p>
            <a:pPr algn="r"/>
            <a:r>
              <a:rPr lang="en-US" sz="900" smtClean="0">
                <a:solidFill>
                  <a:srgbClr val="969696"/>
                </a:solidFill>
                <a:latin typeface="Consolas" panose="020B0609020204030204" pitchFamily="49" charset="0"/>
              </a:rPr>
              <a:t>ClarificationServiceImpl.java</a:t>
            </a:r>
            <a:endParaRPr lang="en-US" sz="900">
              <a:solidFill>
                <a:srgbClr val="969696"/>
              </a:solidFill>
              <a:latin typeface="Consolas" panose="020B0609020204030204" pitchFamily="49" charset="0"/>
            </a:endParaRPr>
          </a:p>
        </p:txBody>
      </p:sp>
      <p:sp>
        <p:nvSpPr>
          <p:cNvPr id="14" name="ZoneTexte 13"/>
          <p:cNvSpPr txBox="1"/>
          <p:nvPr/>
        </p:nvSpPr>
        <p:spPr>
          <a:xfrm>
            <a:off x="711200" y="1600200"/>
            <a:ext cx="6756400" cy="369332"/>
          </a:xfrm>
          <a:prstGeom prst="rect">
            <a:avLst/>
          </a:prstGeom>
          <a:noFill/>
        </p:spPr>
        <p:txBody>
          <a:bodyPr vert="horz" wrap="square" lIns="0" tIns="0" rIns="0" bIns="0" rtlCol="0">
            <a:noAutofit/>
          </a:bodyPr>
          <a:lstStyle/>
          <a:p>
            <a:r>
              <a:rPr lang="en-US" sz="1000" smtClean="0">
                <a:solidFill>
                  <a:srgbClr val="FFCB6B"/>
                </a:solidFill>
                <a:latin typeface="Consolas" panose="020B0609020204030204" pitchFamily="49" charset="0"/>
              </a:rPr>
              <a:t>@ExportAsService({ClarificationService.class})</a:t>
            </a:r>
          </a:p>
          <a:p>
            <a:r>
              <a:rPr lang="en-US" sz="1000" smtClean="0">
                <a:solidFill>
                  <a:srgbClr val="FFCB6B"/>
                </a:solidFill>
                <a:latin typeface="Consolas" panose="020B0609020204030204" pitchFamily="49" charset="0"/>
              </a:rPr>
              <a:t>@Named("clarificationService")</a:t>
            </a:r>
          </a:p>
          <a:p>
            <a:r>
              <a:rPr lang="en-US" sz="1000" smtClean="0">
                <a:solidFill>
                  <a:srgbClr val="DEDEDE"/>
                </a:solidFill>
                <a:latin typeface="Consolas" panose="020B0609020204030204" pitchFamily="49" charset="0"/>
              </a:rPr>
              <a:t>public class ClarificationServiceImpl implements ClarificationService {</a:t>
            </a:r>
          </a:p>
          <a:p>
            <a:endParaRPr lang="en-US" sz="1000" smtClean="0">
              <a:solidFill>
                <a:srgbClr val="DEDEDE"/>
              </a:solidFill>
              <a:latin typeface="Consolas" panose="020B0609020204030204" pitchFamily="49" charset="0"/>
            </a:endParaRPr>
          </a:p>
          <a:p>
            <a:r>
              <a:rPr lang="en-US" sz="1000" smtClean="0">
                <a:solidFill>
                  <a:srgbClr val="DEDEDE"/>
                </a:solidFill>
                <a:latin typeface="Consolas" panose="020B0609020204030204" pitchFamily="49" charset="0"/>
              </a:rPr>
              <a:t>    private final PluginSettingsFactory pluginSettingsFactory;</a:t>
            </a:r>
          </a:p>
          <a:p>
            <a:r>
              <a:rPr lang="en-US" sz="1000" smtClean="0">
                <a:solidFill>
                  <a:srgbClr val="DEDEDE"/>
                </a:solidFill>
                <a:latin typeface="Consolas" panose="020B0609020204030204" pitchFamily="49" charset="0"/>
              </a:rPr>
              <a:t>    private final IssueManager issueManager;</a:t>
            </a:r>
          </a:p>
          <a:p>
            <a:r>
              <a:rPr lang="en-US" sz="1000" smtClean="0">
                <a:solidFill>
                  <a:srgbClr val="DEDEDE"/>
                </a:solidFill>
                <a:latin typeface="Consolas" panose="020B0609020204030204" pitchFamily="49" charset="0"/>
              </a:rPr>
              <a:t>    private final CommentManager commentManager;</a:t>
            </a:r>
          </a:p>
          <a:p>
            <a:r>
              <a:rPr lang="en-US" sz="1000" smtClean="0">
                <a:solidFill>
                  <a:srgbClr val="DEDEDE"/>
                </a:solidFill>
                <a:latin typeface="Consolas" panose="020B0609020204030204" pitchFamily="49" charset="0"/>
              </a:rPr>
              <a:t>    private final PermissionManager permissionManager;</a:t>
            </a:r>
          </a:p>
          <a:p>
            <a:endParaRPr lang="en-US" sz="1000" smtClean="0">
              <a:solidFill>
                <a:srgbClr val="DEDEDE"/>
              </a:solidFill>
              <a:latin typeface="Consolas" panose="020B0609020204030204" pitchFamily="49" charset="0"/>
            </a:endParaRPr>
          </a:p>
          <a:p>
            <a:r>
              <a:rPr lang="en-US" sz="1000" smtClean="0">
                <a:solidFill>
                  <a:srgbClr val="FFCB6B"/>
                </a:solidFill>
                <a:latin typeface="Consolas" panose="020B0609020204030204" pitchFamily="49" charset="0"/>
              </a:rPr>
              <a:t>    @Inject</a:t>
            </a:r>
          </a:p>
          <a:p>
            <a:r>
              <a:rPr lang="en-US" sz="1000" smtClean="0">
                <a:solidFill>
                  <a:srgbClr val="DEDEDE"/>
                </a:solidFill>
                <a:latin typeface="Consolas" panose="020B0609020204030204" pitchFamily="49" charset="0"/>
              </a:rPr>
              <a:t>    public ClarificationServiceImpl(</a:t>
            </a:r>
          </a:p>
          <a:p>
            <a:r>
              <a:rPr lang="en-US" sz="1000" smtClean="0">
                <a:solidFill>
                  <a:srgbClr val="FFCB6B"/>
                </a:solidFill>
                <a:latin typeface="Consolas" panose="020B0609020204030204" pitchFamily="49" charset="0"/>
              </a:rPr>
              <a:t>            @ComponentImport PluginSettingsFactory psf,</a:t>
            </a:r>
          </a:p>
          <a:p>
            <a:r>
              <a:rPr lang="en-US" sz="1000" smtClean="0">
                <a:solidFill>
                  <a:srgbClr val="FFCB6B"/>
                </a:solidFill>
                <a:latin typeface="Consolas" panose="020B0609020204030204" pitchFamily="49" charset="0"/>
              </a:rPr>
              <a:t>            @ComponentImport IssueManager im,</a:t>
            </a:r>
          </a:p>
          <a:p>
            <a:r>
              <a:rPr lang="en-US" sz="1000" smtClean="0">
                <a:solidFill>
                  <a:srgbClr val="FFCB6B"/>
                </a:solidFill>
                <a:latin typeface="Consolas" panose="020B0609020204030204" pitchFamily="49" charset="0"/>
              </a:rPr>
              <a:t>            @ComponentImport CommentManager cm,</a:t>
            </a:r>
          </a:p>
          <a:p>
            <a:r>
              <a:rPr lang="en-US" sz="1000" smtClean="0">
                <a:solidFill>
                  <a:srgbClr val="FFCB6B"/>
                </a:solidFill>
                <a:latin typeface="Consolas" panose="020B0609020204030204" pitchFamily="49" charset="0"/>
              </a:rPr>
              <a:t>            @ComponentImport PermissionManager pm) {</a:t>
            </a:r>
          </a:p>
          <a:p>
            <a:r>
              <a:rPr lang="en-US" sz="1000" smtClean="0">
                <a:solidFill>
                  <a:srgbClr val="DEDEDE"/>
                </a:solidFill>
                <a:latin typeface="Consolas" panose="020B0609020204030204" pitchFamily="49" charset="0"/>
              </a:rPr>
              <a:t>        this.pluginSettingsFactory = psf;</a:t>
            </a:r>
          </a:p>
          <a:p>
            <a:r>
              <a:rPr lang="en-US" sz="1000" smtClean="0">
                <a:solidFill>
                  <a:srgbClr val="DEDEDE"/>
                </a:solidFill>
                <a:latin typeface="Consolas" panose="020B0609020204030204" pitchFamily="49" charset="0"/>
              </a:rPr>
              <a:t>        this.issueManager = im;</a:t>
            </a:r>
          </a:p>
          <a:p>
            <a:r>
              <a:rPr lang="en-US" sz="1000" smtClean="0">
                <a:solidFill>
                  <a:srgbClr val="DEDEDE"/>
                </a:solidFill>
                <a:latin typeface="Consolas" panose="020B0609020204030204" pitchFamily="49" charset="0"/>
              </a:rPr>
              <a:t>        this.commentManager = cm;</a:t>
            </a:r>
          </a:p>
          <a:p>
            <a:r>
              <a:rPr lang="en-US" sz="1000" smtClean="0">
                <a:solidFill>
                  <a:srgbClr val="DEDEDE"/>
                </a:solidFill>
                <a:latin typeface="Consolas" panose="020B0609020204030204" pitchFamily="49" charset="0"/>
              </a:rPr>
              <a:t>        this.permissionManager = pm;</a:t>
            </a:r>
          </a:p>
          <a:p>
            <a:r>
              <a:rPr lang="en-US" sz="1000" smtClean="0">
                <a:solidFill>
                  <a:srgbClr val="DEDEDE"/>
                </a:solidFill>
                <a:latin typeface="Consolas" panose="020B0609020204030204" pitchFamily="49" charset="0"/>
              </a:rPr>
              <a:t>    }</a:t>
            </a:r>
          </a:p>
          <a:p>
            <a:r>
              <a:rPr lang="en-US" sz="1000" smtClean="0">
                <a:solidFill>
                  <a:srgbClr val="6A9955"/>
                </a:solidFill>
                <a:latin typeface="Consolas" panose="020B0609020204030204" pitchFamily="49" charset="0"/>
              </a:rPr>
              <a:t>    // Logique métier : contrôle des droits, réassignation, historique...</a:t>
            </a:r>
          </a:p>
          <a:p>
            <a:r>
              <a:rPr lang="en-US" sz="1000" smtClean="0">
                <a:solidFill>
                  <a:srgbClr val="DEDEDE"/>
                </a:solidFill>
                <a:latin typeface="Consolas" panose="020B0609020204030204" pitchFamily="49" charset="0"/>
              </a:rPr>
              <a:t>}</a:t>
            </a:r>
            <a:endParaRPr lang="en-US" sz="1000">
              <a:solidFill>
                <a:srgbClr val="DEDEDE"/>
              </a:solidFill>
              <a:latin typeface="Consolas" panose="020B0609020204030204" pitchFamily="49" charset="0"/>
            </a:endParaRPr>
          </a:p>
        </p:txBody>
      </p:sp>
      <p:sp>
        <p:nvSpPr>
          <p:cNvPr id="15" name="ZoneTexte 14"/>
          <p:cNvSpPr txBox="1"/>
          <p:nvPr/>
        </p:nvSpPr>
        <p:spPr>
          <a:xfrm>
            <a:off x="7937500" y="1270000"/>
            <a:ext cx="3746500" cy="369332"/>
          </a:xfrm>
          <a:prstGeom prst="rect">
            <a:avLst/>
          </a:prstGeom>
          <a:noFill/>
        </p:spPr>
        <p:txBody>
          <a:bodyPr vert="horz" wrap="square" lIns="0" tIns="0" rIns="0" bIns="0" rtlCol="0">
            <a:noAutofit/>
          </a:bodyPr>
          <a:lstStyle/>
          <a:p>
            <a:pPr marL="482600" indent="-203200">
              <a:spcAft>
                <a:spcPts val="8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Spring Scanner</a:t>
            </a:r>
            <a:r>
              <a:rPr lang="fr-FR" sz="1250" smtClean="0">
                <a:solidFill>
                  <a:srgbClr val="212121"/>
                </a:solidFill>
                <a:latin typeface="Segoe UI" panose="020B0502040204020203" pitchFamily="34" charset="0"/>
              </a:rPr>
              <a:t> : détecte les annotations à la compilation</a:t>
            </a:r>
          </a:p>
          <a:p>
            <a:pPr marL="482600" indent="-203200">
              <a:spcAft>
                <a:spcPts val="8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@Named</a:t>
            </a:r>
            <a:r>
              <a:rPr lang="fr-FR" sz="1250" smtClean="0">
                <a:solidFill>
                  <a:srgbClr val="212121"/>
                </a:solidFill>
                <a:latin typeface="Segoe UI" panose="020B0502040204020203" pitchFamily="34" charset="0"/>
              </a:rPr>
              <a:t> : déclare un composant géré par Spring</a:t>
            </a:r>
          </a:p>
          <a:p>
            <a:pPr marL="482600" indent="-203200">
              <a:spcAft>
                <a:spcPts val="8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@ExportAsService</a:t>
            </a:r>
            <a:r>
              <a:rPr lang="fr-FR" sz="1250" smtClean="0">
                <a:solidFill>
                  <a:srgbClr val="212121"/>
                </a:solidFill>
                <a:latin typeface="Segoe UI" panose="020B0502040204020203" pitchFamily="34" charset="0"/>
              </a:rPr>
              <a:t> : expose le service métier aux autres composants</a:t>
            </a:r>
          </a:p>
          <a:p>
            <a:pPr marL="482600" indent="-203200">
              <a:spcAft>
                <a:spcPts val="8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@ComponentImport</a:t>
            </a:r>
            <a:r>
              <a:rPr lang="fr-FR" sz="1250" smtClean="0">
                <a:solidFill>
                  <a:srgbClr val="212121"/>
                </a:solidFill>
                <a:latin typeface="Segoe UI" panose="020B0502040204020203" pitchFamily="34" charset="0"/>
              </a:rPr>
              <a:t> : récupère un service fourni par Jira (via OSGi)</a:t>
            </a:r>
          </a:p>
          <a:p>
            <a:pPr marL="482600" indent="-203200">
              <a:spcAft>
                <a:spcPts val="8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@Inject</a:t>
            </a:r>
            <a:r>
              <a:rPr lang="fr-FR" sz="1250" smtClean="0">
                <a:solidFill>
                  <a:srgbClr val="212121"/>
                </a:solidFill>
                <a:latin typeface="Segoe UI" panose="020B0502040204020203" pitchFamily="34" charset="0"/>
              </a:rPr>
              <a:t> : Spring fournit les dépendances au constructeur</a:t>
            </a:r>
          </a:p>
          <a:p>
            <a:pPr marL="482600" indent="-203200">
              <a:spcAft>
                <a:spcPts val="8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Services Jira injectés</a:t>
            </a:r>
            <a:r>
              <a:rPr lang="fr-FR" sz="1250" smtClean="0">
                <a:solidFill>
                  <a:srgbClr val="212121"/>
                </a:solidFill>
                <a:latin typeface="Segoe UI" panose="020B0502040204020203" pitchFamily="34" charset="0"/>
              </a:rPr>
              <a:t> : IssueManager, CommentManager, PermissionManager, PluginSettingsFactory</a:t>
            </a:r>
            <a:endParaRPr lang="en-US" sz="1250">
              <a:solidFill>
                <a:srgbClr val="212121"/>
              </a:solidFill>
              <a:latin typeface="Segoe UI" panose="020B0502040204020203" pitchFamily="34" charset="0"/>
            </a:endParaRPr>
          </a:p>
        </p:txBody>
      </p:sp>
    </p:spTree>
    <p:extLst>
      <p:ext uri="{BB962C8B-B14F-4D97-AF65-F5344CB8AC3E}">
        <p14:creationId xmlns:p14="http://schemas.microsoft.com/office/powerpoint/2010/main" val="20096836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C8102E"/>
                </a:solidFill>
                <a:latin typeface="Segoe UI" panose="020B0502040204020203" pitchFamily="34" charset="0"/>
              </a:rPr>
              <a:t>03 · DÉVELOPPER</a:t>
            </a:r>
            <a:endParaRPr lang="en-US" sz="1000" b="1">
              <a:solidFill>
                <a:srgbClr val="C8102E"/>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fr-FR" sz="2400" b="1" smtClean="0">
                <a:solidFill>
                  <a:srgbClr val="212121"/>
                </a:solidFill>
                <a:latin typeface="Segoe UI" panose="020B0502040204020203" pitchFamily="34" charset="0"/>
              </a:rPr>
              <a:t>Exposer une API REST (standards Java EE)</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14</a:t>
            </a:r>
            <a:endParaRPr lang="en-US" sz="900">
              <a:solidFill>
                <a:srgbClr val="6E6E6E"/>
              </a:solidFill>
              <a:latin typeface="Segoe UI" panose="020B0502040204020203" pitchFamily="34" charset="0"/>
            </a:endParaRPr>
          </a:p>
        </p:txBody>
      </p:sp>
      <p:sp>
        <p:nvSpPr>
          <p:cNvPr id="9" name="Rectangle 8"/>
          <p:cNvSpPr/>
          <p:nvPr/>
        </p:nvSpPr>
        <p:spPr>
          <a:xfrm>
            <a:off x="508000" y="1219200"/>
            <a:ext cx="7112000" cy="3708400"/>
          </a:xfrm>
          <a:prstGeom prst="rect">
            <a:avLst/>
          </a:prstGeom>
          <a:solidFill>
            <a:srgbClr val="1E1E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0" name="Ellipse 9"/>
          <p:cNvSpPr/>
          <p:nvPr/>
        </p:nvSpPr>
        <p:spPr>
          <a:xfrm>
            <a:off x="660400" y="1346200"/>
            <a:ext cx="114300" cy="114300"/>
          </a:xfrm>
          <a:prstGeom prst="ellipse">
            <a:avLst/>
          </a:prstGeom>
          <a:solidFill>
            <a:srgbClr val="FF5F5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1" name="Ellipse 10"/>
          <p:cNvSpPr/>
          <p:nvPr/>
        </p:nvSpPr>
        <p:spPr>
          <a:xfrm>
            <a:off x="838200" y="1346200"/>
            <a:ext cx="114300" cy="114300"/>
          </a:xfrm>
          <a:prstGeom prst="ellipse">
            <a:avLst/>
          </a:prstGeom>
          <a:solidFill>
            <a:srgbClr val="FFBD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2" name="Ellipse 11"/>
          <p:cNvSpPr/>
          <p:nvPr/>
        </p:nvSpPr>
        <p:spPr>
          <a:xfrm>
            <a:off x="1016000" y="1346200"/>
            <a:ext cx="114300" cy="114300"/>
          </a:xfrm>
          <a:prstGeom prst="ellipse">
            <a:avLst/>
          </a:prstGeom>
          <a:solidFill>
            <a:srgbClr val="27C93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3" name="ZoneTexte 12"/>
          <p:cNvSpPr txBox="1"/>
          <p:nvPr/>
        </p:nvSpPr>
        <p:spPr>
          <a:xfrm>
            <a:off x="1270000" y="1308100"/>
            <a:ext cx="6197600" cy="369332"/>
          </a:xfrm>
          <a:prstGeom prst="rect">
            <a:avLst/>
          </a:prstGeom>
          <a:noFill/>
        </p:spPr>
        <p:txBody>
          <a:bodyPr vert="horz" wrap="square" lIns="0" tIns="0" rIns="0" bIns="0" rtlCol="0">
            <a:noAutofit/>
          </a:bodyPr>
          <a:lstStyle/>
          <a:p>
            <a:pPr algn="r"/>
            <a:r>
              <a:rPr lang="en-US" sz="900" smtClean="0">
                <a:solidFill>
                  <a:srgbClr val="969696"/>
                </a:solidFill>
                <a:latin typeface="Consolas" panose="020B0609020204030204" pitchFamily="49" charset="0"/>
              </a:rPr>
              <a:t>ClarificationRestResource.java</a:t>
            </a:r>
            <a:endParaRPr lang="en-US" sz="900">
              <a:solidFill>
                <a:srgbClr val="969696"/>
              </a:solidFill>
              <a:latin typeface="Consolas" panose="020B0609020204030204" pitchFamily="49" charset="0"/>
            </a:endParaRPr>
          </a:p>
        </p:txBody>
      </p:sp>
      <p:sp>
        <p:nvSpPr>
          <p:cNvPr id="14" name="ZoneTexte 13"/>
          <p:cNvSpPr txBox="1"/>
          <p:nvPr/>
        </p:nvSpPr>
        <p:spPr>
          <a:xfrm>
            <a:off x="711200" y="1600200"/>
            <a:ext cx="6756400" cy="369332"/>
          </a:xfrm>
          <a:prstGeom prst="rect">
            <a:avLst/>
          </a:prstGeom>
          <a:noFill/>
        </p:spPr>
        <p:txBody>
          <a:bodyPr vert="horz" wrap="square" lIns="0" tIns="0" rIns="0" bIns="0" rtlCol="0">
            <a:noAutofit/>
          </a:bodyPr>
          <a:lstStyle/>
          <a:p>
            <a:r>
              <a:rPr lang="en-US" sz="900" smtClean="0">
                <a:solidFill>
                  <a:srgbClr val="FFCB6B"/>
                </a:solidFill>
                <a:latin typeface="Consolas" panose="020B0609020204030204" pitchFamily="49" charset="0"/>
              </a:rPr>
              <a:t>@Path("/issue")</a:t>
            </a:r>
          </a:p>
          <a:p>
            <a:r>
              <a:rPr lang="en-US" sz="900" smtClean="0">
                <a:solidFill>
                  <a:srgbClr val="FFCB6B"/>
                </a:solidFill>
                <a:latin typeface="Consolas" panose="020B0609020204030204" pitchFamily="49" charset="0"/>
              </a:rPr>
              <a:t>@Consumes({MediaType.APPLICATION_JSON})</a:t>
            </a:r>
          </a:p>
          <a:p>
            <a:r>
              <a:rPr lang="en-US" sz="900" smtClean="0">
                <a:solidFill>
                  <a:srgbClr val="FFCB6B"/>
                </a:solidFill>
                <a:latin typeface="Consolas" panose="020B0609020204030204" pitchFamily="49" charset="0"/>
              </a:rPr>
              <a:t>@Produces({MediaType.APPLICATION_JSON})</a:t>
            </a:r>
          </a:p>
          <a:p>
            <a:r>
              <a:rPr lang="en-US" sz="900" smtClean="0">
                <a:solidFill>
                  <a:srgbClr val="DEDEDE"/>
                </a:solidFill>
                <a:latin typeface="Consolas" panose="020B0609020204030204" pitchFamily="49" charset="0"/>
              </a:rPr>
              <a:t>public class ClarificationRestResource {</a:t>
            </a:r>
          </a:p>
          <a:p>
            <a:endParaRPr lang="en-US" sz="900" smtClean="0">
              <a:solidFill>
                <a:srgbClr val="DEDEDE"/>
              </a:solidFill>
              <a:latin typeface="Consolas" panose="020B0609020204030204" pitchFamily="49" charset="0"/>
            </a:endParaRPr>
          </a:p>
          <a:p>
            <a:r>
              <a:rPr lang="en-US" sz="900" smtClean="0">
                <a:solidFill>
                  <a:srgbClr val="DEDEDE"/>
                </a:solidFill>
                <a:latin typeface="Consolas" panose="020B0609020204030204" pitchFamily="49" charset="0"/>
              </a:rPr>
              <a:t>    private final ClarificationService clarificationService;</a:t>
            </a:r>
          </a:p>
          <a:p>
            <a:r>
              <a:rPr lang="en-US" sz="900" smtClean="0">
                <a:solidFill>
                  <a:srgbClr val="DEDEDE"/>
                </a:solidFill>
                <a:latin typeface="Consolas" panose="020B0609020204030204" pitchFamily="49" charset="0"/>
              </a:rPr>
              <a:t>    private final JiraAuthenticationContext authContext;</a:t>
            </a:r>
          </a:p>
          <a:p>
            <a:endParaRPr lang="en-US" sz="900" smtClean="0">
              <a:solidFill>
                <a:srgbClr val="DEDEDE"/>
              </a:solidFill>
              <a:latin typeface="Consolas" panose="020B0609020204030204" pitchFamily="49" charset="0"/>
            </a:endParaRPr>
          </a:p>
          <a:p>
            <a:r>
              <a:rPr lang="en-US" sz="900" smtClean="0">
                <a:solidFill>
                  <a:srgbClr val="FFCB6B"/>
                </a:solidFill>
                <a:latin typeface="Consolas" panose="020B0609020204030204" pitchFamily="49" charset="0"/>
              </a:rPr>
              <a:t>    @Inject</a:t>
            </a:r>
          </a:p>
          <a:p>
            <a:r>
              <a:rPr lang="en-US" sz="900" smtClean="0">
                <a:solidFill>
                  <a:srgbClr val="DEDEDE"/>
                </a:solidFill>
                <a:latin typeface="Consolas" panose="020B0609020204030204" pitchFamily="49" charset="0"/>
              </a:rPr>
              <a:t>    public ClarificationRestResource(ClarificationService cs,</a:t>
            </a:r>
          </a:p>
          <a:p>
            <a:r>
              <a:rPr lang="en-US" sz="900" smtClean="0">
                <a:solidFill>
                  <a:srgbClr val="FFCB6B"/>
                </a:solidFill>
                <a:latin typeface="Consolas" panose="020B0609020204030204" pitchFamily="49" charset="0"/>
              </a:rPr>
              <a:t>            @ComponentImport JiraAuthenticationContext auth) {</a:t>
            </a:r>
          </a:p>
          <a:p>
            <a:r>
              <a:rPr lang="en-US" sz="900" smtClean="0">
                <a:solidFill>
                  <a:srgbClr val="DEDEDE"/>
                </a:solidFill>
                <a:latin typeface="Consolas" panose="020B0609020204030204" pitchFamily="49" charset="0"/>
              </a:rPr>
              <a:t>        this.clarificationService = cs;</a:t>
            </a:r>
          </a:p>
          <a:p>
            <a:r>
              <a:rPr lang="en-US" sz="900" smtClean="0">
                <a:solidFill>
                  <a:srgbClr val="DEDEDE"/>
                </a:solidFill>
                <a:latin typeface="Consolas" panose="020B0609020204030204" pitchFamily="49" charset="0"/>
              </a:rPr>
              <a:t>        this.authContext = auth;</a:t>
            </a:r>
          </a:p>
          <a:p>
            <a:r>
              <a:rPr lang="en-US" sz="900" smtClean="0">
                <a:solidFill>
                  <a:srgbClr val="DEDEDE"/>
                </a:solidFill>
                <a:latin typeface="Consolas" panose="020B0609020204030204" pitchFamily="49" charset="0"/>
              </a:rPr>
              <a:t>    }</a:t>
            </a:r>
          </a:p>
          <a:p>
            <a:endParaRPr lang="en-US" sz="900" smtClean="0">
              <a:solidFill>
                <a:srgbClr val="DEDEDE"/>
              </a:solidFill>
              <a:latin typeface="Consolas" panose="020B0609020204030204" pitchFamily="49" charset="0"/>
            </a:endParaRPr>
          </a:p>
          <a:p>
            <a:r>
              <a:rPr lang="en-US" sz="900" smtClean="0">
                <a:solidFill>
                  <a:srgbClr val="FFCB6B"/>
                </a:solidFill>
                <a:latin typeface="Consolas" panose="020B0609020204030204" pitchFamily="49" charset="0"/>
              </a:rPr>
              <a:t>    @POST @Path("/{issueKey}/request")</a:t>
            </a:r>
          </a:p>
          <a:p>
            <a:r>
              <a:rPr lang="en-US" sz="900" smtClean="0">
                <a:solidFill>
                  <a:srgbClr val="DEDEDE"/>
                </a:solidFill>
                <a:latin typeface="Consolas" panose="020B0609020204030204" pitchFamily="49" charset="0"/>
              </a:rPr>
              <a:t>    public Response requestClarification(</a:t>
            </a:r>
          </a:p>
          <a:p>
            <a:r>
              <a:rPr lang="en-US" sz="900" smtClean="0">
                <a:solidFill>
                  <a:srgbClr val="FFCB6B"/>
                </a:solidFill>
                <a:latin typeface="Consolas" panose="020B0609020204030204" pitchFamily="49" charset="0"/>
              </a:rPr>
              <a:t>            @PathParam("issueKey") String key, RequestPayload body) {</a:t>
            </a:r>
          </a:p>
          <a:p>
            <a:r>
              <a:rPr lang="en-US" sz="900" smtClean="0">
                <a:solidFill>
                  <a:srgbClr val="DEDEDE"/>
                </a:solidFill>
                <a:latin typeface="Consolas" panose="020B0609020204030204" pitchFamily="49" charset="0"/>
              </a:rPr>
              <a:t>        ApplicationUser caller = authContext.getLoggedInUser();</a:t>
            </a:r>
          </a:p>
          <a:p>
            <a:r>
              <a:rPr lang="en-US" sz="900" smtClean="0">
                <a:solidFill>
                  <a:srgbClr val="DEDEDE"/>
                </a:solidFill>
                <a:latin typeface="Consolas" panose="020B0609020204030204" pitchFamily="49" charset="0"/>
              </a:rPr>
              <a:t>        return Response.ok(clarificationService.requestClarification(</a:t>
            </a:r>
          </a:p>
          <a:p>
            <a:r>
              <a:rPr lang="en-US" sz="900" smtClean="0">
                <a:solidFill>
                  <a:srgbClr val="DEDEDE"/>
                </a:solidFill>
                <a:latin typeface="Consolas" panose="020B0609020204030204" pitchFamily="49" charset="0"/>
              </a:rPr>
              <a:t>            key, caller, body.recipientUsername, body.question)).build();</a:t>
            </a:r>
          </a:p>
          <a:p>
            <a:r>
              <a:rPr lang="en-US" sz="900" smtClean="0">
                <a:solidFill>
                  <a:srgbClr val="DEDEDE"/>
                </a:solidFill>
                <a:latin typeface="Consolas" panose="020B0609020204030204" pitchFamily="49" charset="0"/>
              </a:rPr>
              <a:t>    }</a:t>
            </a:r>
          </a:p>
          <a:p>
            <a:r>
              <a:rPr lang="en-US" sz="900" smtClean="0">
                <a:solidFill>
                  <a:srgbClr val="DEDEDE"/>
                </a:solidFill>
                <a:latin typeface="Consolas" panose="020B0609020204030204" pitchFamily="49" charset="0"/>
              </a:rPr>
              <a:t>}</a:t>
            </a:r>
            <a:endParaRPr lang="en-US" sz="900">
              <a:solidFill>
                <a:srgbClr val="DEDEDE"/>
              </a:solidFill>
              <a:latin typeface="Consolas" panose="020B0609020204030204" pitchFamily="49" charset="0"/>
            </a:endParaRPr>
          </a:p>
        </p:txBody>
      </p:sp>
      <p:sp>
        <p:nvSpPr>
          <p:cNvPr id="15" name="Rectangle 14"/>
          <p:cNvSpPr/>
          <p:nvPr/>
        </p:nvSpPr>
        <p:spPr>
          <a:xfrm>
            <a:off x="508000" y="5054600"/>
            <a:ext cx="7112000" cy="1193800"/>
          </a:xfrm>
          <a:prstGeom prst="rect">
            <a:avLst/>
          </a:prstGeom>
          <a:solidFill>
            <a:srgbClr val="1E1E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6" name="Ellipse 15"/>
          <p:cNvSpPr/>
          <p:nvPr/>
        </p:nvSpPr>
        <p:spPr>
          <a:xfrm>
            <a:off x="660400" y="5181600"/>
            <a:ext cx="114300" cy="114300"/>
          </a:xfrm>
          <a:prstGeom prst="ellipse">
            <a:avLst/>
          </a:prstGeom>
          <a:solidFill>
            <a:srgbClr val="FF5F5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7" name="Ellipse 16"/>
          <p:cNvSpPr/>
          <p:nvPr/>
        </p:nvSpPr>
        <p:spPr>
          <a:xfrm>
            <a:off x="838200" y="5181600"/>
            <a:ext cx="114300" cy="114300"/>
          </a:xfrm>
          <a:prstGeom prst="ellipse">
            <a:avLst/>
          </a:prstGeom>
          <a:solidFill>
            <a:srgbClr val="FFBD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8" name="Ellipse 17"/>
          <p:cNvSpPr/>
          <p:nvPr/>
        </p:nvSpPr>
        <p:spPr>
          <a:xfrm>
            <a:off x="1016000" y="5181600"/>
            <a:ext cx="114300" cy="114300"/>
          </a:xfrm>
          <a:prstGeom prst="ellipse">
            <a:avLst/>
          </a:prstGeom>
          <a:solidFill>
            <a:srgbClr val="27C93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9" name="ZoneTexte 18"/>
          <p:cNvSpPr txBox="1"/>
          <p:nvPr/>
        </p:nvSpPr>
        <p:spPr>
          <a:xfrm>
            <a:off x="1270000" y="5143500"/>
            <a:ext cx="6197600" cy="369332"/>
          </a:xfrm>
          <a:prstGeom prst="rect">
            <a:avLst/>
          </a:prstGeom>
          <a:noFill/>
        </p:spPr>
        <p:txBody>
          <a:bodyPr vert="horz" wrap="square" lIns="0" tIns="0" rIns="0" bIns="0" rtlCol="0">
            <a:noAutofit/>
          </a:bodyPr>
          <a:lstStyle/>
          <a:p>
            <a:pPr algn="r"/>
            <a:r>
              <a:rPr lang="en-US" sz="900" smtClean="0">
                <a:solidFill>
                  <a:srgbClr val="969696"/>
                </a:solidFill>
                <a:latin typeface="Consolas" panose="020B0609020204030204" pitchFamily="49" charset="0"/>
              </a:rPr>
              <a:t>atlassian-plugin.xml</a:t>
            </a:r>
            <a:endParaRPr lang="en-US" sz="900">
              <a:solidFill>
                <a:srgbClr val="969696"/>
              </a:solidFill>
              <a:latin typeface="Consolas" panose="020B0609020204030204" pitchFamily="49" charset="0"/>
            </a:endParaRPr>
          </a:p>
        </p:txBody>
      </p:sp>
      <p:sp>
        <p:nvSpPr>
          <p:cNvPr id="20" name="ZoneTexte 19"/>
          <p:cNvSpPr txBox="1"/>
          <p:nvPr/>
        </p:nvSpPr>
        <p:spPr>
          <a:xfrm>
            <a:off x="711200" y="5435600"/>
            <a:ext cx="6756400" cy="369332"/>
          </a:xfrm>
          <a:prstGeom prst="rect">
            <a:avLst/>
          </a:prstGeom>
          <a:noFill/>
        </p:spPr>
        <p:txBody>
          <a:bodyPr vert="horz" wrap="square" lIns="0" tIns="0" rIns="0" bIns="0" rtlCol="0">
            <a:noAutofit/>
          </a:bodyPr>
          <a:lstStyle/>
          <a:p>
            <a:r>
              <a:rPr lang="fr-FR" sz="1050" smtClean="0">
                <a:solidFill>
                  <a:srgbClr val="DEDEDE"/>
                </a:solidFill>
                <a:latin typeface="Consolas" panose="020B0609020204030204" pitchFamily="49" charset="0"/>
              </a:rPr>
              <a:t>&lt;rest key="clarification-rest" path="/clarification" version="1.0"&gt;</a:t>
            </a:r>
          </a:p>
          <a:p>
            <a:r>
              <a:rPr lang="fr-FR" sz="1050" smtClean="0">
                <a:solidFill>
                  <a:srgbClr val="DEDEDE"/>
                </a:solidFill>
                <a:latin typeface="Consolas" panose="020B0609020204030204" pitchFamily="49" charset="0"/>
              </a:rPr>
              <a:t>    &lt;description&gt;API REST pour les demandes de précision&lt;/description&gt;</a:t>
            </a:r>
          </a:p>
          <a:p>
            <a:r>
              <a:rPr lang="fr-FR" sz="1050" smtClean="0">
                <a:solidFill>
                  <a:srgbClr val="DEDEDE"/>
                </a:solidFill>
                <a:latin typeface="Consolas" panose="020B0609020204030204" pitchFamily="49" charset="0"/>
              </a:rPr>
              <a:t>&lt;/rest&gt;</a:t>
            </a:r>
            <a:endParaRPr lang="en-US" sz="1050">
              <a:solidFill>
                <a:srgbClr val="DEDEDE"/>
              </a:solidFill>
              <a:latin typeface="Consolas" panose="020B0609020204030204" pitchFamily="49" charset="0"/>
            </a:endParaRPr>
          </a:p>
        </p:txBody>
      </p:sp>
      <p:sp>
        <p:nvSpPr>
          <p:cNvPr id="21" name="Rectangle 20"/>
          <p:cNvSpPr/>
          <p:nvPr/>
        </p:nvSpPr>
        <p:spPr>
          <a:xfrm>
            <a:off x="7937500" y="1244600"/>
            <a:ext cx="3746500" cy="7366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150" b="1" smtClean="0">
                <a:solidFill>
                  <a:srgbClr val="C8102E"/>
                </a:solidFill>
                <a:latin typeface="Segoe UI" panose="020B0502040204020203" pitchFamily="34" charset="0"/>
              </a:rPr>
              <a:t>URL exposée</a:t>
            </a:r>
          </a:p>
          <a:p>
            <a:pPr algn="ctr"/>
            <a:r>
              <a:rPr lang="en-US" sz="1150" b="1" smtClean="0">
                <a:solidFill>
                  <a:srgbClr val="C8102E"/>
                </a:solidFill>
                <a:latin typeface="Segoe UI" panose="020B0502040204020203" pitchFamily="34" charset="0"/>
              </a:rPr>
              <a:t>/rest/clarification/1.0/issue/{key}</a:t>
            </a:r>
            <a:endParaRPr lang="en-US" sz="1150" b="1">
              <a:solidFill>
                <a:srgbClr val="C8102E"/>
              </a:solidFill>
              <a:latin typeface="Segoe UI" panose="020B0502040204020203" pitchFamily="34" charset="0"/>
            </a:endParaRPr>
          </a:p>
        </p:txBody>
      </p:sp>
      <p:sp>
        <p:nvSpPr>
          <p:cNvPr id="22" name="ZoneTexte 21"/>
          <p:cNvSpPr txBox="1"/>
          <p:nvPr/>
        </p:nvSpPr>
        <p:spPr>
          <a:xfrm>
            <a:off x="7937500" y="2184400"/>
            <a:ext cx="3746500" cy="369332"/>
          </a:xfrm>
          <a:prstGeom prst="rect">
            <a:avLst/>
          </a:prstGeom>
          <a:noFill/>
        </p:spPr>
        <p:txBody>
          <a:bodyPr vert="horz" wrap="square" lIns="0" tIns="0" rIns="0" bIns="0" rtlCol="0">
            <a:noAutofit/>
          </a:bodyPr>
          <a:lstStyle/>
          <a:p>
            <a:pPr marL="482600" indent="-203200">
              <a:spcAft>
                <a:spcPts val="8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Standards</a:t>
            </a:r>
            <a:r>
              <a:rPr lang="fr-FR" sz="1250" smtClean="0">
                <a:solidFill>
                  <a:srgbClr val="212121"/>
                </a:solidFill>
                <a:latin typeface="Segoe UI" panose="020B0502040204020203" pitchFamily="34" charset="0"/>
              </a:rPr>
              <a:t> : JAX-RS (REST), Servlets, injection JSR-330</a:t>
            </a:r>
          </a:p>
          <a:p>
            <a:pPr marL="482600" indent="-203200">
              <a:spcAft>
                <a:spcPts val="8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Format</a:t>
            </a:r>
            <a:r>
              <a:rPr lang="fr-FR" sz="1250" smtClean="0">
                <a:solidFill>
                  <a:srgbClr val="212121"/>
                </a:solidFill>
                <a:latin typeface="Segoe UI" panose="020B0502040204020203" pitchFamily="34" charset="0"/>
              </a:rPr>
              <a:t> : échanges JSON (état du ticket, permissions, historique)</a:t>
            </a:r>
          </a:p>
          <a:p>
            <a:pPr marL="482600" indent="-203200">
              <a:spcAft>
                <a:spcPts val="8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Authentification</a:t>
            </a:r>
            <a:r>
              <a:rPr lang="fr-FR" sz="1250" smtClean="0">
                <a:solidFill>
                  <a:srgbClr val="212121"/>
                </a:solidFill>
                <a:latin typeface="Segoe UI" panose="020B0502040204020203" pitchFamily="34" charset="0"/>
              </a:rPr>
              <a:t> : utilisateur courant via JiraAuthenticationContext</a:t>
            </a:r>
          </a:p>
          <a:p>
            <a:pPr marL="482600" indent="-203200">
              <a:spcAft>
                <a:spcPts val="8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Autorisations</a:t>
            </a:r>
            <a:r>
              <a:rPr lang="fr-FR" sz="1250" smtClean="0">
                <a:solidFill>
                  <a:srgbClr val="212121"/>
                </a:solidFill>
                <a:latin typeface="Segoe UI" panose="020B0502040204020203" pitchFamily="34" charset="0"/>
              </a:rPr>
              <a:t> : contrôle strict côté serveur (assigné, destinataire, auteur)</a:t>
            </a:r>
          </a:p>
          <a:p>
            <a:pPr marL="482600" indent="-203200">
              <a:spcAft>
                <a:spcPts val="8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Validation</a:t>
            </a:r>
            <a:r>
              <a:rPr lang="fr-FR" sz="1250" smtClean="0">
                <a:solidFill>
                  <a:srgbClr val="212121"/>
                </a:solidFill>
                <a:latin typeface="Segoe UI" panose="020B0502040204020203" pitchFamily="34" charset="0"/>
              </a:rPr>
              <a:t> : erreurs structurées par champ renvoyées au formulaire</a:t>
            </a:r>
            <a:endParaRPr lang="en-US" sz="1250">
              <a:solidFill>
                <a:srgbClr val="212121"/>
              </a:solidFill>
              <a:latin typeface="Segoe UI" panose="020B0502040204020203" pitchFamily="34" charset="0"/>
            </a:endParaRPr>
          </a:p>
        </p:txBody>
      </p:sp>
    </p:spTree>
    <p:extLst>
      <p:ext uri="{BB962C8B-B14F-4D97-AF65-F5344CB8AC3E}">
        <p14:creationId xmlns:p14="http://schemas.microsoft.com/office/powerpoint/2010/main" val="412862622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C8102E"/>
                </a:solidFill>
                <a:latin typeface="Segoe UI" panose="020B0502040204020203" pitchFamily="34" charset="0"/>
              </a:rPr>
              <a:t>03 · DÉVELOPPER</a:t>
            </a:r>
            <a:endParaRPr lang="en-US" sz="1000" b="1">
              <a:solidFill>
                <a:srgbClr val="C8102E"/>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fr-FR" sz="2400" b="1" smtClean="0">
                <a:solidFill>
                  <a:srgbClr val="212121"/>
                </a:solidFill>
                <a:latin typeface="Segoe UI" panose="020B0502040204020203" pitchFamily="34" charset="0"/>
              </a:rPr>
              <a:t>Front-end : web-resources, AUI et templates</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15</a:t>
            </a:r>
            <a:endParaRPr lang="en-US" sz="900">
              <a:solidFill>
                <a:srgbClr val="6E6E6E"/>
              </a:solidFill>
              <a:latin typeface="Segoe UI" panose="020B0502040204020203" pitchFamily="34" charset="0"/>
            </a:endParaRPr>
          </a:p>
        </p:txBody>
      </p:sp>
      <p:sp>
        <p:nvSpPr>
          <p:cNvPr id="9" name="ZoneTexte 8"/>
          <p:cNvSpPr txBox="1"/>
          <p:nvPr/>
        </p:nvSpPr>
        <p:spPr>
          <a:xfrm>
            <a:off x="508000" y="1270000"/>
            <a:ext cx="5842000" cy="369332"/>
          </a:xfrm>
          <a:prstGeom prst="rect">
            <a:avLst/>
          </a:prstGeom>
          <a:noFill/>
        </p:spPr>
        <p:txBody>
          <a:bodyPr vert="horz" wrap="square" lIns="0" tIns="0" rIns="0" bIns="0" rtlCol="0">
            <a:noAutofit/>
          </a:bodyPr>
          <a:lstStyle/>
          <a:p>
            <a:pPr marL="482600" indent="-203200">
              <a:spcAft>
                <a:spcPts val="800"/>
              </a:spcAft>
              <a:buClr>
                <a:srgbClr val="C8102E"/>
              </a:buClr>
              <a:buSzPct val="70000"/>
              <a:buFont typeface="Arial" panose="020B0604020202020204" pitchFamily="34" charset="0"/>
              <a:buChar char="■"/>
            </a:pPr>
            <a:r>
              <a:rPr lang="en-US" sz="1350" b="1" smtClean="0">
                <a:solidFill>
                  <a:srgbClr val="212121"/>
                </a:solidFill>
                <a:latin typeface="Segoe UI" panose="020B0502040204020203" pitchFamily="34" charset="0"/>
              </a:rPr>
              <a:t>AUI</a:t>
            </a:r>
            <a:r>
              <a:rPr lang="en-US" sz="1350" smtClean="0">
                <a:solidFill>
                  <a:srgbClr val="212121"/>
                </a:solidFill>
                <a:latin typeface="Segoe UI" panose="020B0502040204020203" pitchFamily="34" charset="0"/>
              </a:rPr>
              <a:t> : bibliothèque d'interface officielle Atlassian, pour un rendu natif Jira (modales Dialog2, badges, formulaires)</a:t>
            </a:r>
          </a:p>
          <a:p>
            <a:pPr marL="482600" indent="-203200">
              <a:spcAft>
                <a:spcPts val="800"/>
              </a:spcAft>
              <a:buClr>
                <a:srgbClr val="C8102E"/>
              </a:buClr>
              <a:buSzPct val="70000"/>
              <a:buFont typeface="Arial" panose="020B0604020202020204" pitchFamily="34" charset="0"/>
              <a:buChar char="■"/>
            </a:pPr>
            <a:r>
              <a:rPr lang="en-US" sz="1350" b="1" smtClean="0">
                <a:solidFill>
                  <a:srgbClr val="212121"/>
                </a:solidFill>
                <a:latin typeface="Segoe UI" panose="020B0502040204020203" pitchFamily="34" charset="0"/>
              </a:rPr>
              <a:t>Web-resources</a:t>
            </a:r>
            <a:r>
              <a:rPr lang="en-US" sz="1350" smtClean="0">
                <a:solidFill>
                  <a:srgbClr val="212121"/>
                </a:solidFill>
                <a:latin typeface="Segoe UI" panose="020B0502040204020203" pitchFamily="34" charset="0"/>
              </a:rPr>
              <a:t> : regroupent JS/CSS et les chargent selon un contexte</a:t>
            </a:r>
          </a:p>
          <a:p>
            <a:pPr marL="800100" lvl="1" indent="-342900">
              <a:spcAft>
                <a:spcPts val="800"/>
              </a:spcAft>
              <a:buClr>
                <a:srgbClr val="C8102E"/>
              </a:buClr>
              <a:buSzPct val="100000"/>
              <a:buFont typeface="Arial" panose="020B0604020202020204" pitchFamily="34" charset="0"/>
              <a:buChar char="–"/>
            </a:pPr>
            <a:r>
              <a:rPr lang="en-US" sz="1150" smtClean="0">
                <a:solidFill>
                  <a:srgbClr val="6E6E6E"/>
                </a:solidFill>
                <a:latin typeface="Segoe UI" panose="020B0502040204020203" pitchFamily="34" charset="0"/>
              </a:rPr>
              <a:t>jira.view.issue (vue d'un ticket), atl.general, atl.admin...</a:t>
            </a:r>
          </a:p>
          <a:p>
            <a:pPr marL="482600" indent="-203200">
              <a:spcAft>
                <a:spcPts val="800"/>
              </a:spcAft>
              <a:buClr>
                <a:srgbClr val="C8102E"/>
              </a:buClr>
              <a:buSzPct val="70000"/>
              <a:buFont typeface="Arial" panose="020B0604020202020204" pitchFamily="34" charset="0"/>
              <a:buChar char="■"/>
            </a:pPr>
            <a:r>
              <a:rPr lang="en-US" sz="1350" b="1" smtClean="0">
                <a:solidFill>
                  <a:srgbClr val="212121"/>
                </a:solidFill>
                <a:latin typeface="Segoe UI" panose="020B0502040204020203" pitchFamily="34" charset="0"/>
              </a:rPr>
              <a:t>Templates serveur</a:t>
            </a:r>
            <a:r>
              <a:rPr lang="en-US" sz="1350" smtClean="0">
                <a:solidFill>
                  <a:srgbClr val="212121"/>
                </a:solidFill>
                <a:latin typeface="Segoe UI" panose="020B0502040204020203" pitchFamily="34" charset="0"/>
              </a:rPr>
              <a:t> : Velocity (clarification-panel.vm) pour le HTML du panneau et des modales</a:t>
            </a:r>
          </a:p>
          <a:p>
            <a:pPr marL="482600" indent="-203200">
              <a:spcAft>
                <a:spcPts val="800"/>
              </a:spcAft>
              <a:buClr>
                <a:srgbClr val="C8102E"/>
              </a:buClr>
              <a:buSzPct val="70000"/>
              <a:buFont typeface="Arial" panose="020B0604020202020204" pitchFamily="34" charset="0"/>
              <a:buChar char="■"/>
            </a:pPr>
            <a:r>
              <a:rPr lang="en-US" sz="1350" b="1" smtClean="0">
                <a:solidFill>
                  <a:srgbClr val="212121"/>
                </a:solidFill>
                <a:latin typeface="Segoe UI" panose="020B0502040204020203" pitchFamily="34" charset="0"/>
              </a:rPr>
              <a:t>Recherche dynamique</a:t>
            </a:r>
            <a:r>
              <a:rPr lang="en-US" sz="1350" smtClean="0">
                <a:solidFill>
                  <a:srgbClr val="212121"/>
                </a:solidFill>
                <a:latin typeface="Segoe UI" panose="020B0502040204020203" pitchFamily="34" charset="0"/>
              </a:rPr>
              <a:t> : autocomplétion d'utilisateurs via /rest/api/2/user/picker</a:t>
            </a:r>
          </a:p>
          <a:p>
            <a:pPr marL="482600" indent="-203200">
              <a:spcAft>
                <a:spcPts val="800"/>
              </a:spcAft>
              <a:buClr>
                <a:srgbClr val="C8102E"/>
              </a:buClr>
              <a:buSzPct val="70000"/>
              <a:buFont typeface="Arial" panose="020B0604020202020204" pitchFamily="34" charset="0"/>
              <a:buChar char="■"/>
            </a:pPr>
            <a:r>
              <a:rPr lang="en-US" sz="1350" b="1" smtClean="0">
                <a:solidFill>
                  <a:srgbClr val="212121"/>
                </a:solidFill>
                <a:latin typeface="Segoe UI" panose="020B0502040204020203" pitchFamily="34" charset="0"/>
              </a:rPr>
              <a:t>Pièces jointes</a:t>
            </a:r>
            <a:r>
              <a:rPr lang="en-US" sz="1350" smtClean="0">
                <a:solidFill>
                  <a:srgbClr val="212121"/>
                </a:solidFill>
                <a:latin typeface="Segoe UI" panose="020B0502040204020203" pitchFamily="34" charset="0"/>
              </a:rPr>
              <a:t> : envoi multipart vers l'API native /attachments de Jira</a:t>
            </a:r>
            <a:endParaRPr lang="en-US" sz="1350">
              <a:solidFill>
                <a:srgbClr val="212121"/>
              </a:solidFill>
              <a:latin typeface="Segoe UI" panose="020B0502040204020203" pitchFamily="34" charset="0"/>
            </a:endParaRPr>
          </a:p>
        </p:txBody>
      </p:sp>
      <p:sp>
        <p:nvSpPr>
          <p:cNvPr id="10" name="Rectangle 9"/>
          <p:cNvSpPr/>
          <p:nvPr/>
        </p:nvSpPr>
        <p:spPr>
          <a:xfrm>
            <a:off x="6731000" y="1244600"/>
            <a:ext cx="4953000" cy="3048000"/>
          </a:xfrm>
          <a:prstGeom prst="rect">
            <a:avLst/>
          </a:prstGeom>
          <a:solidFill>
            <a:srgbClr val="FFF7D6"/>
          </a:solidFill>
          <a:ln w="19050" cap="flat" cmpd="sng" algn="ctr">
            <a:solidFill>
              <a:srgbClr val="FFAB00"/>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fr-FR" sz="1300" b="1" smtClean="0">
                <a:solidFill>
                  <a:srgbClr val="212121"/>
                </a:solidFill>
                <a:latin typeface="Segoe UI" panose="020B0502040204020203" pitchFamily="34" charset="0"/>
              </a:rPr>
              <a:t>[Insérer capture d'écran]</a:t>
            </a:r>
          </a:p>
          <a:p>
            <a:pPr algn="ctr"/>
            <a:r>
              <a:rPr lang="fr-FR" sz="1300" b="1" smtClean="0">
                <a:solidFill>
                  <a:srgbClr val="212121"/>
                </a:solidFill>
                <a:latin typeface="Segoe UI" panose="020B0502040204020203" pitchFamily="34" charset="0"/>
              </a:rPr>
              <a:t>Panneau latéral &amp; modale AUI « Demander une précision »</a:t>
            </a:r>
            <a:endParaRPr lang="en-US" sz="1300" b="1">
              <a:solidFill>
                <a:srgbClr val="212121"/>
              </a:solidFill>
              <a:latin typeface="Segoe UI" panose="020B0502040204020203" pitchFamily="34" charset="0"/>
            </a:endParaRPr>
          </a:p>
        </p:txBody>
      </p:sp>
      <p:sp>
        <p:nvSpPr>
          <p:cNvPr id="11" name="Rectangle 10"/>
          <p:cNvSpPr/>
          <p:nvPr/>
        </p:nvSpPr>
        <p:spPr>
          <a:xfrm>
            <a:off x="6731000" y="4470400"/>
            <a:ext cx="4953000" cy="1778000"/>
          </a:xfrm>
          <a:prstGeom prst="rect">
            <a:avLst/>
          </a:prstGeom>
          <a:solidFill>
            <a:srgbClr val="1E1E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2" name="Ellipse 11"/>
          <p:cNvSpPr/>
          <p:nvPr/>
        </p:nvSpPr>
        <p:spPr>
          <a:xfrm>
            <a:off x="6883400" y="4597400"/>
            <a:ext cx="114300" cy="114300"/>
          </a:xfrm>
          <a:prstGeom prst="ellipse">
            <a:avLst/>
          </a:prstGeom>
          <a:solidFill>
            <a:srgbClr val="FF5F5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3" name="Ellipse 12"/>
          <p:cNvSpPr/>
          <p:nvPr/>
        </p:nvSpPr>
        <p:spPr>
          <a:xfrm>
            <a:off x="7061200" y="4597400"/>
            <a:ext cx="114300" cy="114300"/>
          </a:xfrm>
          <a:prstGeom prst="ellipse">
            <a:avLst/>
          </a:prstGeom>
          <a:solidFill>
            <a:srgbClr val="FFBD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4" name="Ellipse 13"/>
          <p:cNvSpPr/>
          <p:nvPr/>
        </p:nvSpPr>
        <p:spPr>
          <a:xfrm>
            <a:off x="7239000" y="4597400"/>
            <a:ext cx="114300" cy="114300"/>
          </a:xfrm>
          <a:prstGeom prst="ellipse">
            <a:avLst/>
          </a:prstGeom>
          <a:solidFill>
            <a:srgbClr val="27C93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5" name="ZoneTexte 14"/>
          <p:cNvSpPr txBox="1"/>
          <p:nvPr/>
        </p:nvSpPr>
        <p:spPr>
          <a:xfrm>
            <a:off x="7493000" y="4559300"/>
            <a:ext cx="4038600" cy="369332"/>
          </a:xfrm>
          <a:prstGeom prst="rect">
            <a:avLst/>
          </a:prstGeom>
          <a:noFill/>
        </p:spPr>
        <p:txBody>
          <a:bodyPr vert="horz" wrap="square" lIns="0" tIns="0" rIns="0" bIns="0" rtlCol="0">
            <a:noAutofit/>
          </a:bodyPr>
          <a:lstStyle/>
          <a:p>
            <a:pPr algn="r"/>
            <a:r>
              <a:rPr lang="en-US" sz="900" smtClean="0">
                <a:solidFill>
                  <a:srgbClr val="969696"/>
                </a:solidFill>
                <a:latin typeface="Consolas" panose="020B0609020204030204" pitchFamily="49" charset="0"/>
              </a:rPr>
              <a:t>clarification.js</a:t>
            </a:r>
            <a:endParaRPr lang="en-US" sz="900">
              <a:solidFill>
                <a:srgbClr val="969696"/>
              </a:solidFill>
              <a:latin typeface="Consolas" panose="020B0609020204030204" pitchFamily="49" charset="0"/>
            </a:endParaRPr>
          </a:p>
        </p:txBody>
      </p:sp>
      <p:sp>
        <p:nvSpPr>
          <p:cNvPr id="16" name="ZoneTexte 15"/>
          <p:cNvSpPr txBox="1"/>
          <p:nvPr/>
        </p:nvSpPr>
        <p:spPr>
          <a:xfrm>
            <a:off x="6934200" y="4851400"/>
            <a:ext cx="4597400" cy="369332"/>
          </a:xfrm>
          <a:prstGeom prst="rect">
            <a:avLst/>
          </a:prstGeom>
          <a:noFill/>
        </p:spPr>
        <p:txBody>
          <a:bodyPr vert="horz" wrap="square" lIns="0" tIns="0" rIns="0" bIns="0" rtlCol="0">
            <a:noAutofit/>
          </a:bodyPr>
          <a:lstStyle/>
          <a:p>
            <a:r>
              <a:rPr lang="en-US" sz="1000" smtClean="0">
                <a:solidFill>
                  <a:srgbClr val="DEDEDE"/>
                </a:solidFill>
                <a:latin typeface="Consolas" panose="020B0609020204030204" pitchFamily="49" charset="0"/>
              </a:rPr>
              <a:t>$(document).on('click', '#clr-btn-open-request', function (e) {</a:t>
            </a:r>
          </a:p>
          <a:p>
            <a:r>
              <a:rPr lang="en-US" sz="1000" smtClean="0">
                <a:solidFill>
                  <a:srgbClr val="DEDEDE"/>
                </a:solidFill>
                <a:latin typeface="Consolas" panose="020B0609020204030204" pitchFamily="49" charset="0"/>
              </a:rPr>
              <a:t>  e.preventDefault();</a:t>
            </a:r>
          </a:p>
          <a:p>
            <a:r>
              <a:rPr lang="en-US" sz="1000" smtClean="0">
                <a:solidFill>
                  <a:srgbClr val="DEDEDE"/>
                </a:solidFill>
                <a:latin typeface="Consolas" panose="020B0609020204030204" pitchFamily="49" charset="0"/>
              </a:rPr>
              <a:t>  clearFormError('request');</a:t>
            </a:r>
          </a:p>
          <a:p>
            <a:r>
              <a:rPr lang="en-US" sz="1000" smtClean="0">
                <a:solidFill>
                  <a:srgbClr val="DEDEDE"/>
                </a:solidFill>
                <a:latin typeface="Consolas" panose="020B0609020204030204" pitchFamily="49" charset="0"/>
              </a:rPr>
              <a:t>  AJS.dialog2('#clr-request-dialog').show();</a:t>
            </a:r>
          </a:p>
          <a:p>
            <a:r>
              <a:rPr lang="en-US" sz="1000" smtClean="0">
                <a:solidFill>
                  <a:srgbClr val="DEDEDE"/>
                </a:solidFill>
                <a:latin typeface="Consolas" panose="020B0609020204030204" pitchFamily="49" charset="0"/>
              </a:rPr>
              <a:t>});</a:t>
            </a:r>
          </a:p>
          <a:p>
            <a:r>
              <a:rPr lang="en-US" sz="1000" smtClean="0">
                <a:solidFill>
                  <a:srgbClr val="6A9955"/>
                </a:solidFill>
                <a:latin typeface="Consolas" panose="020B0609020204030204" pitchFamily="49" charset="0"/>
              </a:rPr>
              <a:t>// Autocomplétion globale via /rest/api/2/user/picker</a:t>
            </a:r>
            <a:endParaRPr lang="en-US" sz="1000">
              <a:solidFill>
                <a:srgbClr val="6A9955"/>
              </a:solidFill>
              <a:latin typeface="Consolas" panose="020B0609020204030204" pitchFamily="49" charset="0"/>
            </a:endParaRPr>
          </a:p>
        </p:txBody>
      </p:sp>
      <p:pic>
        <p:nvPicPr>
          <p:cNvPr id="17" name="Image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3700" y="1270000"/>
            <a:ext cx="4927600" cy="3013847"/>
          </a:xfrm>
          <a:prstGeom prst="rect">
            <a:avLst/>
          </a:prstGeom>
        </p:spPr>
      </p:pic>
    </p:spTree>
    <p:extLst>
      <p:ext uri="{BB962C8B-B14F-4D97-AF65-F5344CB8AC3E}">
        <p14:creationId xmlns:p14="http://schemas.microsoft.com/office/powerpoint/2010/main" val="130596511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1C1C1C"/>
                </a:solidFill>
                <a:latin typeface="Segoe UI" panose="020B0502040204020203" pitchFamily="34" charset="0"/>
              </a:rPr>
              <a:t>04 · LIVRER</a:t>
            </a:r>
            <a:endParaRPr lang="en-US" sz="1000" b="1">
              <a:solidFill>
                <a:srgbClr val="1C1C1C"/>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en-US" sz="2400" b="1" smtClean="0">
                <a:solidFill>
                  <a:srgbClr val="212121"/>
                </a:solidFill>
                <a:latin typeface="Segoe UI" panose="020B0502040204020203" pitchFamily="34" charset="0"/>
              </a:rPr>
              <a:t>Le cycle de développement</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16</a:t>
            </a:r>
            <a:endParaRPr lang="en-US" sz="900">
              <a:solidFill>
                <a:srgbClr val="6E6E6E"/>
              </a:solidFill>
              <a:latin typeface="Segoe UI" panose="020B0502040204020203" pitchFamily="34" charset="0"/>
            </a:endParaRPr>
          </a:p>
        </p:txBody>
      </p:sp>
      <p:sp>
        <p:nvSpPr>
          <p:cNvPr id="9" name="Pentagone 8"/>
          <p:cNvSpPr/>
          <p:nvPr/>
        </p:nvSpPr>
        <p:spPr>
          <a:xfrm>
            <a:off x="508000" y="1320800"/>
            <a:ext cx="1854200" cy="812800"/>
          </a:xfrm>
          <a:prstGeom prst="homePlate">
            <a:avLst/>
          </a:prstGeom>
          <a:solidFill>
            <a:srgbClr val="E13C4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Créer</a:t>
            </a:r>
            <a:endParaRPr lang="en-US" sz="1300" b="1">
              <a:solidFill>
                <a:srgbClr val="FFFFFF"/>
              </a:solidFill>
              <a:latin typeface="Segoe UI" panose="020B0502040204020203" pitchFamily="34" charset="0"/>
            </a:endParaRPr>
          </a:p>
        </p:txBody>
      </p:sp>
      <p:sp>
        <p:nvSpPr>
          <p:cNvPr id="10" name="ZoneTexte 9"/>
          <p:cNvSpPr txBox="1"/>
          <p:nvPr/>
        </p:nvSpPr>
        <p:spPr>
          <a:xfrm>
            <a:off x="508000" y="2336800"/>
            <a:ext cx="1778000" cy="369332"/>
          </a:xfrm>
          <a:prstGeom prst="rect">
            <a:avLst/>
          </a:prstGeom>
          <a:noFill/>
        </p:spPr>
        <p:txBody>
          <a:bodyPr vert="horz" wrap="square" lIns="0" tIns="0" rIns="0" bIns="0" rtlCol="0">
            <a:noAutofit/>
          </a:bodyPr>
          <a:lstStyle/>
          <a:p>
            <a:pPr algn="ctr"/>
            <a:r>
              <a:rPr lang="en-US" sz="950" b="1" smtClean="0">
                <a:solidFill>
                  <a:srgbClr val="C8102E"/>
                </a:solidFill>
                <a:latin typeface="Consolas" panose="020B0609020204030204" pitchFamily="49" charset="0"/>
              </a:rPr>
              <a:t>atlas-create-jira-plugin</a:t>
            </a:r>
            <a:endParaRPr lang="en-US" sz="950" b="1">
              <a:solidFill>
                <a:srgbClr val="C8102E"/>
              </a:solidFill>
              <a:latin typeface="Consolas" panose="020B0609020204030204" pitchFamily="49" charset="0"/>
            </a:endParaRPr>
          </a:p>
        </p:txBody>
      </p:sp>
      <p:sp>
        <p:nvSpPr>
          <p:cNvPr id="11" name="ZoneTexte 10"/>
          <p:cNvSpPr txBox="1"/>
          <p:nvPr/>
        </p:nvSpPr>
        <p:spPr>
          <a:xfrm>
            <a:off x="508000" y="2590800"/>
            <a:ext cx="1778000" cy="381000"/>
          </a:xfrm>
          <a:prstGeom prst="rect">
            <a:avLst/>
          </a:prstGeom>
          <a:noFill/>
        </p:spPr>
        <p:txBody>
          <a:bodyPr vert="horz" wrap="square" lIns="0" tIns="0" rIns="0" bIns="0" rtlCol="0">
            <a:noAutofit/>
          </a:bodyPr>
          <a:lstStyle/>
          <a:p>
            <a:pPr algn="ctr"/>
            <a:r>
              <a:rPr lang="en-US" sz="1100" smtClean="0">
                <a:solidFill>
                  <a:srgbClr val="6E6E6E"/>
                </a:solidFill>
                <a:latin typeface="Segoe UI" panose="020B0502040204020203" pitchFamily="34" charset="0"/>
              </a:rPr>
              <a:t>Squelette du projet</a:t>
            </a:r>
            <a:endParaRPr lang="en-US" sz="1100">
              <a:solidFill>
                <a:srgbClr val="6E6E6E"/>
              </a:solidFill>
              <a:latin typeface="Segoe UI" panose="020B0502040204020203" pitchFamily="34" charset="0"/>
            </a:endParaRPr>
          </a:p>
        </p:txBody>
      </p:sp>
      <p:sp>
        <p:nvSpPr>
          <p:cNvPr id="12" name="Chevron 11"/>
          <p:cNvSpPr/>
          <p:nvPr/>
        </p:nvSpPr>
        <p:spPr>
          <a:xfrm>
            <a:off x="2374900" y="1320800"/>
            <a:ext cx="1854200" cy="812800"/>
          </a:xfrm>
          <a:prstGeom prst="chevron">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Coder</a:t>
            </a:r>
            <a:endParaRPr lang="en-US" sz="1300" b="1">
              <a:solidFill>
                <a:srgbClr val="FFFFFF"/>
              </a:solidFill>
              <a:latin typeface="Segoe UI" panose="020B0502040204020203" pitchFamily="34" charset="0"/>
            </a:endParaRPr>
          </a:p>
        </p:txBody>
      </p:sp>
      <p:sp>
        <p:nvSpPr>
          <p:cNvPr id="13" name="ZoneTexte 12"/>
          <p:cNvSpPr txBox="1"/>
          <p:nvPr/>
        </p:nvSpPr>
        <p:spPr>
          <a:xfrm>
            <a:off x="2374900" y="2336800"/>
            <a:ext cx="1778000" cy="369332"/>
          </a:xfrm>
          <a:prstGeom prst="rect">
            <a:avLst/>
          </a:prstGeom>
          <a:noFill/>
        </p:spPr>
        <p:txBody>
          <a:bodyPr vert="horz" wrap="square" lIns="0" tIns="0" rIns="0" bIns="0" rtlCol="0">
            <a:noAutofit/>
          </a:bodyPr>
          <a:lstStyle/>
          <a:p>
            <a:pPr algn="ctr"/>
            <a:r>
              <a:rPr lang="en-US" sz="950" b="1" smtClean="0">
                <a:solidFill>
                  <a:srgbClr val="C8102E"/>
                </a:solidFill>
                <a:latin typeface="Consolas" panose="020B0609020204030204" pitchFamily="49" charset="0"/>
              </a:rPr>
              <a:t>IDE + Git</a:t>
            </a:r>
            <a:endParaRPr lang="en-US" sz="950" b="1">
              <a:solidFill>
                <a:srgbClr val="C8102E"/>
              </a:solidFill>
              <a:latin typeface="Consolas" panose="020B0609020204030204" pitchFamily="49" charset="0"/>
            </a:endParaRPr>
          </a:p>
        </p:txBody>
      </p:sp>
      <p:sp>
        <p:nvSpPr>
          <p:cNvPr id="14" name="ZoneTexte 13"/>
          <p:cNvSpPr txBox="1"/>
          <p:nvPr/>
        </p:nvSpPr>
        <p:spPr>
          <a:xfrm>
            <a:off x="2374900" y="2590800"/>
            <a:ext cx="1778000" cy="381000"/>
          </a:xfrm>
          <a:prstGeom prst="rect">
            <a:avLst/>
          </a:prstGeom>
          <a:noFill/>
        </p:spPr>
        <p:txBody>
          <a:bodyPr vert="horz" wrap="square" lIns="0" tIns="0" rIns="0" bIns="0" rtlCol="0">
            <a:noAutofit/>
          </a:bodyPr>
          <a:lstStyle/>
          <a:p>
            <a:pPr algn="ctr"/>
            <a:r>
              <a:rPr lang="en-US" sz="1100" smtClean="0">
                <a:solidFill>
                  <a:srgbClr val="6E6E6E"/>
                </a:solidFill>
                <a:latin typeface="Segoe UI" panose="020B0502040204020203" pitchFamily="34" charset="0"/>
              </a:rPr>
              <a:t>Java, JS, XML</a:t>
            </a:r>
            <a:endParaRPr lang="en-US" sz="1100">
              <a:solidFill>
                <a:srgbClr val="6E6E6E"/>
              </a:solidFill>
              <a:latin typeface="Segoe UI" panose="020B0502040204020203" pitchFamily="34" charset="0"/>
            </a:endParaRPr>
          </a:p>
        </p:txBody>
      </p:sp>
      <p:sp>
        <p:nvSpPr>
          <p:cNvPr id="15" name="Chevron 14"/>
          <p:cNvSpPr/>
          <p:nvPr/>
        </p:nvSpPr>
        <p:spPr>
          <a:xfrm>
            <a:off x="4241800" y="1320800"/>
            <a:ext cx="1854200" cy="812800"/>
          </a:xfrm>
          <a:prstGeom prst="chevron">
            <a:avLst/>
          </a:prstGeom>
          <a:solidFill>
            <a:srgbClr val="A50C2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Lancer</a:t>
            </a:r>
            <a:endParaRPr lang="en-US" sz="1300" b="1">
              <a:solidFill>
                <a:srgbClr val="FFFFFF"/>
              </a:solidFill>
              <a:latin typeface="Segoe UI" panose="020B0502040204020203" pitchFamily="34" charset="0"/>
            </a:endParaRPr>
          </a:p>
        </p:txBody>
      </p:sp>
      <p:sp>
        <p:nvSpPr>
          <p:cNvPr id="16" name="ZoneTexte 15"/>
          <p:cNvSpPr txBox="1"/>
          <p:nvPr/>
        </p:nvSpPr>
        <p:spPr>
          <a:xfrm>
            <a:off x="4241800" y="2336800"/>
            <a:ext cx="1778000" cy="369332"/>
          </a:xfrm>
          <a:prstGeom prst="rect">
            <a:avLst/>
          </a:prstGeom>
          <a:noFill/>
        </p:spPr>
        <p:txBody>
          <a:bodyPr vert="horz" wrap="square" lIns="0" tIns="0" rIns="0" bIns="0" rtlCol="0">
            <a:noAutofit/>
          </a:bodyPr>
          <a:lstStyle/>
          <a:p>
            <a:pPr algn="ctr"/>
            <a:r>
              <a:rPr lang="en-US" sz="950" b="1" smtClean="0">
                <a:solidFill>
                  <a:srgbClr val="C8102E"/>
                </a:solidFill>
                <a:latin typeface="Consolas" panose="020B0609020204030204" pitchFamily="49" charset="0"/>
              </a:rPr>
              <a:t>atlas-run</a:t>
            </a:r>
            <a:endParaRPr lang="en-US" sz="950" b="1">
              <a:solidFill>
                <a:srgbClr val="C8102E"/>
              </a:solidFill>
              <a:latin typeface="Consolas" panose="020B0609020204030204" pitchFamily="49" charset="0"/>
            </a:endParaRPr>
          </a:p>
        </p:txBody>
      </p:sp>
      <p:sp>
        <p:nvSpPr>
          <p:cNvPr id="17" name="ZoneTexte 16"/>
          <p:cNvSpPr txBox="1"/>
          <p:nvPr/>
        </p:nvSpPr>
        <p:spPr>
          <a:xfrm>
            <a:off x="4241800" y="2590800"/>
            <a:ext cx="1778000" cy="381000"/>
          </a:xfrm>
          <a:prstGeom prst="rect">
            <a:avLst/>
          </a:prstGeom>
          <a:noFill/>
        </p:spPr>
        <p:txBody>
          <a:bodyPr vert="horz" wrap="square" lIns="0" tIns="0" rIns="0" bIns="0" rtlCol="0">
            <a:noAutofit/>
          </a:bodyPr>
          <a:lstStyle/>
          <a:p>
            <a:pPr algn="ctr"/>
            <a:r>
              <a:rPr lang="en-US" sz="1100" smtClean="0">
                <a:solidFill>
                  <a:srgbClr val="6E6E6E"/>
                </a:solidFill>
                <a:latin typeface="Segoe UI" panose="020B0502040204020203" pitchFamily="34" charset="0"/>
              </a:rPr>
              <a:t>Jira local :2990</a:t>
            </a:r>
            <a:endParaRPr lang="en-US" sz="1100">
              <a:solidFill>
                <a:srgbClr val="6E6E6E"/>
              </a:solidFill>
              <a:latin typeface="Segoe UI" panose="020B0502040204020203" pitchFamily="34" charset="0"/>
            </a:endParaRPr>
          </a:p>
        </p:txBody>
      </p:sp>
      <p:sp>
        <p:nvSpPr>
          <p:cNvPr id="18" name="Chevron 17"/>
          <p:cNvSpPr/>
          <p:nvPr/>
        </p:nvSpPr>
        <p:spPr>
          <a:xfrm>
            <a:off x="6108700" y="1320800"/>
            <a:ext cx="1854200" cy="812800"/>
          </a:xfrm>
          <a:prstGeom prst="chevron">
            <a:avLst/>
          </a:prstGeom>
          <a:solidFill>
            <a:srgbClr val="870A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Recharger</a:t>
            </a:r>
            <a:endParaRPr lang="en-US" sz="1300" b="1">
              <a:solidFill>
                <a:srgbClr val="FFFFFF"/>
              </a:solidFill>
              <a:latin typeface="Segoe UI" panose="020B0502040204020203" pitchFamily="34" charset="0"/>
            </a:endParaRPr>
          </a:p>
        </p:txBody>
      </p:sp>
      <p:sp>
        <p:nvSpPr>
          <p:cNvPr id="19" name="ZoneTexte 18"/>
          <p:cNvSpPr txBox="1"/>
          <p:nvPr/>
        </p:nvSpPr>
        <p:spPr>
          <a:xfrm>
            <a:off x="6108700" y="2336800"/>
            <a:ext cx="1778000" cy="369332"/>
          </a:xfrm>
          <a:prstGeom prst="rect">
            <a:avLst/>
          </a:prstGeom>
          <a:noFill/>
        </p:spPr>
        <p:txBody>
          <a:bodyPr vert="horz" wrap="square" lIns="0" tIns="0" rIns="0" bIns="0" rtlCol="0">
            <a:noAutofit/>
          </a:bodyPr>
          <a:lstStyle/>
          <a:p>
            <a:pPr algn="ctr"/>
            <a:r>
              <a:rPr lang="en-US" sz="950" b="1" smtClean="0">
                <a:solidFill>
                  <a:srgbClr val="C8102E"/>
                </a:solidFill>
                <a:latin typeface="Consolas" panose="020B0609020204030204" pitchFamily="49" charset="0"/>
              </a:rPr>
              <a:t>QuickReload</a:t>
            </a:r>
            <a:endParaRPr lang="en-US" sz="950" b="1">
              <a:solidFill>
                <a:srgbClr val="C8102E"/>
              </a:solidFill>
              <a:latin typeface="Consolas" panose="020B0609020204030204" pitchFamily="49" charset="0"/>
            </a:endParaRPr>
          </a:p>
        </p:txBody>
      </p:sp>
      <p:sp>
        <p:nvSpPr>
          <p:cNvPr id="20" name="ZoneTexte 19"/>
          <p:cNvSpPr txBox="1"/>
          <p:nvPr/>
        </p:nvSpPr>
        <p:spPr>
          <a:xfrm>
            <a:off x="6108700" y="2590800"/>
            <a:ext cx="1778000" cy="381000"/>
          </a:xfrm>
          <a:prstGeom prst="rect">
            <a:avLst/>
          </a:prstGeom>
          <a:noFill/>
        </p:spPr>
        <p:txBody>
          <a:bodyPr vert="horz" wrap="square" lIns="0" tIns="0" rIns="0" bIns="0" rtlCol="0">
            <a:noAutofit/>
          </a:bodyPr>
          <a:lstStyle/>
          <a:p>
            <a:pPr algn="ctr"/>
            <a:r>
              <a:rPr lang="en-US" sz="1100" smtClean="0">
                <a:solidFill>
                  <a:srgbClr val="6E6E6E"/>
                </a:solidFill>
                <a:latin typeface="Segoe UI" panose="020B0502040204020203" pitchFamily="34" charset="0"/>
              </a:rPr>
              <a:t>Rechargement à chaud</a:t>
            </a:r>
            <a:endParaRPr lang="en-US" sz="1100">
              <a:solidFill>
                <a:srgbClr val="6E6E6E"/>
              </a:solidFill>
              <a:latin typeface="Segoe UI" panose="020B0502040204020203" pitchFamily="34" charset="0"/>
            </a:endParaRPr>
          </a:p>
        </p:txBody>
      </p:sp>
      <p:sp>
        <p:nvSpPr>
          <p:cNvPr id="21" name="Chevron 20"/>
          <p:cNvSpPr/>
          <p:nvPr/>
        </p:nvSpPr>
        <p:spPr>
          <a:xfrm>
            <a:off x="7975600" y="1320800"/>
            <a:ext cx="1854200" cy="812800"/>
          </a:xfrm>
          <a:prstGeom prst="chevron">
            <a:avLst/>
          </a:prstGeom>
          <a:solidFill>
            <a:srgbClr val="4B4B4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Tester</a:t>
            </a:r>
            <a:endParaRPr lang="en-US" sz="1300" b="1">
              <a:solidFill>
                <a:srgbClr val="FFFFFF"/>
              </a:solidFill>
              <a:latin typeface="Segoe UI" panose="020B0502040204020203" pitchFamily="34" charset="0"/>
            </a:endParaRPr>
          </a:p>
        </p:txBody>
      </p:sp>
      <p:sp>
        <p:nvSpPr>
          <p:cNvPr id="22" name="ZoneTexte 21"/>
          <p:cNvSpPr txBox="1"/>
          <p:nvPr/>
        </p:nvSpPr>
        <p:spPr>
          <a:xfrm>
            <a:off x="7975600" y="2336800"/>
            <a:ext cx="1778000" cy="369332"/>
          </a:xfrm>
          <a:prstGeom prst="rect">
            <a:avLst/>
          </a:prstGeom>
          <a:noFill/>
        </p:spPr>
        <p:txBody>
          <a:bodyPr vert="horz" wrap="square" lIns="0" tIns="0" rIns="0" bIns="0" rtlCol="0">
            <a:noAutofit/>
          </a:bodyPr>
          <a:lstStyle/>
          <a:p>
            <a:pPr algn="ctr"/>
            <a:r>
              <a:rPr lang="en-US" sz="950" b="1" smtClean="0">
                <a:solidFill>
                  <a:srgbClr val="C8102E"/>
                </a:solidFill>
                <a:latin typeface="Consolas" panose="020B0609020204030204" pitchFamily="49" charset="0"/>
              </a:rPr>
              <a:t>atlas-unit-test</a:t>
            </a:r>
            <a:endParaRPr lang="en-US" sz="950" b="1">
              <a:solidFill>
                <a:srgbClr val="C8102E"/>
              </a:solidFill>
              <a:latin typeface="Consolas" panose="020B0609020204030204" pitchFamily="49" charset="0"/>
            </a:endParaRPr>
          </a:p>
        </p:txBody>
      </p:sp>
      <p:sp>
        <p:nvSpPr>
          <p:cNvPr id="23" name="ZoneTexte 22"/>
          <p:cNvSpPr txBox="1"/>
          <p:nvPr/>
        </p:nvSpPr>
        <p:spPr>
          <a:xfrm>
            <a:off x="7975600" y="2590800"/>
            <a:ext cx="1778000" cy="381000"/>
          </a:xfrm>
          <a:prstGeom prst="rect">
            <a:avLst/>
          </a:prstGeom>
          <a:noFill/>
        </p:spPr>
        <p:txBody>
          <a:bodyPr vert="horz" wrap="square" lIns="0" tIns="0" rIns="0" bIns="0" rtlCol="0">
            <a:noAutofit/>
          </a:bodyPr>
          <a:lstStyle/>
          <a:p>
            <a:pPr algn="ctr"/>
            <a:r>
              <a:rPr lang="en-US" sz="1100" smtClean="0">
                <a:solidFill>
                  <a:srgbClr val="6E6E6E"/>
                </a:solidFill>
                <a:latin typeface="Segoe UI" panose="020B0502040204020203" pitchFamily="34" charset="0"/>
              </a:rPr>
              <a:t>Unitaires &amp; intégration</a:t>
            </a:r>
            <a:endParaRPr lang="en-US" sz="1100">
              <a:solidFill>
                <a:srgbClr val="6E6E6E"/>
              </a:solidFill>
              <a:latin typeface="Segoe UI" panose="020B0502040204020203" pitchFamily="34" charset="0"/>
            </a:endParaRPr>
          </a:p>
        </p:txBody>
      </p:sp>
      <p:sp>
        <p:nvSpPr>
          <p:cNvPr id="24" name="Chevron 23"/>
          <p:cNvSpPr/>
          <p:nvPr/>
        </p:nvSpPr>
        <p:spPr>
          <a:xfrm>
            <a:off x="9842500" y="1320800"/>
            <a:ext cx="1854200" cy="812800"/>
          </a:xfrm>
          <a:prstGeom prst="chevron">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Livrer</a:t>
            </a:r>
            <a:endParaRPr lang="en-US" sz="1300" b="1">
              <a:solidFill>
                <a:srgbClr val="FFFFFF"/>
              </a:solidFill>
              <a:latin typeface="Segoe UI" panose="020B0502040204020203" pitchFamily="34" charset="0"/>
            </a:endParaRPr>
          </a:p>
        </p:txBody>
      </p:sp>
      <p:sp>
        <p:nvSpPr>
          <p:cNvPr id="25" name="ZoneTexte 24"/>
          <p:cNvSpPr txBox="1"/>
          <p:nvPr/>
        </p:nvSpPr>
        <p:spPr>
          <a:xfrm>
            <a:off x="9842500" y="2336800"/>
            <a:ext cx="1778000" cy="369332"/>
          </a:xfrm>
          <a:prstGeom prst="rect">
            <a:avLst/>
          </a:prstGeom>
          <a:noFill/>
        </p:spPr>
        <p:txBody>
          <a:bodyPr vert="horz" wrap="square" lIns="0" tIns="0" rIns="0" bIns="0" rtlCol="0">
            <a:noAutofit/>
          </a:bodyPr>
          <a:lstStyle/>
          <a:p>
            <a:pPr algn="ctr"/>
            <a:r>
              <a:rPr lang="en-US" sz="950" b="1" smtClean="0">
                <a:solidFill>
                  <a:srgbClr val="C8102E"/>
                </a:solidFill>
                <a:latin typeface="Consolas" panose="020B0609020204030204" pitchFamily="49" charset="0"/>
              </a:rPr>
              <a:t>atlas-package</a:t>
            </a:r>
            <a:endParaRPr lang="en-US" sz="950" b="1">
              <a:solidFill>
                <a:srgbClr val="C8102E"/>
              </a:solidFill>
              <a:latin typeface="Consolas" panose="020B0609020204030204" pitchFamily="49" charset="0"/>
            </a:endParaRPr>
          </a:p>
        </p:txBody>
      </p:sp>
      <p:sp>
        <p:nvSpPr>
          <p:cNvPr id="26" name="ZoneTexte 25"/>
          <p:cNvSpPr txBox="1"/>
          <p:nvPr/>
        </p:nvSpPr>
        <p:spPr>
          <a:xfrm>
            <a:off x="9842500" y="2590800"/>
            <a:ext cx="1778000" cy="381000"/>
          </a:xfrm>
          <a:prstGeom prst="rect">
            <a:avLst/>
          </a:prstGeom>
          <a:noFill/>
        </p:spPr>
        <p:txBody>
          <a:bodyPr vert="horz" wrap="square" lIns="0" tIns="0" rIns="0" bIns="0" rtlCol="0">
            <a:noAutofit/>
          </a:bodyPr>
          <a:lstStyle/>
          <a:p>
            <a:pPr algn="ctr"/>
            <a:r>
              <a:rPr lang="en-US" sz="1100" smtClean="0">
                <a:solidFill>
                  <a:srgbClr val="6E6E6E"/>
                </a:solidFill>
                <a:latin typeface="Segoe UI" panose="020B0502040204020203" pitchFamily="34" charset="0"/>
              </a:rPr>
              <a:t>.jar vers UPM</a:t>
            </a:r>
            <a:endParaRPr lang="en-US" sz="1100">
              <a:solidFill>
                <a:srgbClr val="6E6E6E"/>
              </a:solidFill>
              <a:latin typeface="Segoe UI" panose="020B0502040204020203" pitchFamily="34" charset="0"/>
            </a:endParaRPr>
          </a:p>
        </p:txBody>
      </p:sp>
      <p:sp>
        <p:nvSpPr>
          <p:cNvPr id="27" name="Rectangle 26"/>
          <p:cNvSpPr/>
          <p:nvPr/>
        </p:nvSpPr>
        <p:spPr>
          <a:xfrm>
            <a:off x="508000" y="3302000"/>
            <a:ext cx="5461000" cy="15875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8" name="Rectangle 27"/>
          <p:cNvSpPr/>
          <p:nvPr/>
        </p:nvSpPr>
        <p:spPr>
          <a:xfrm>
            <a:off x="508000" y="3302000"/>
            <a:ext cx="63500" cy="15875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9" name="ZoneTexte 28"/>
          <p:cNvSpPr txBox="1"/>
          <p:nvPr/>
        </p:nvSpPr>
        <p:spPr>
          <a:xfrm>
            <a:off x="762000" y="3454400"/>
            <a:ext cx="5029200" cy="369332"/>
          </a:xfrm>
          <a:prstGeom prst="rect">
            <a:avLst/>
          </a:prstGeom>
          <a:noFill/>
        </p:spPr>
        <p:txBody>
          <a:bodyPr vert="horz" wrap="square" lIns="0" tIns="0" rIns="0" bIns="0" rtlCol="0">
            <a:noAutofit/>
          </a:bodyPr>
          <a:lstStyle/>
          <a:p>
            <a:r>
              <a:rPr lang="en-US" sz="1500" b="1" smtClean="0">
                <a:solidFill>
                  <a:srgbClr val="C8102E"/>
                </a:solidFill>
                <a:latin typeface="Segoe UI" panose="020B0502040204020203" pitchFamily="34" charset="0"/>
              </a:rPr>
              <a:t>Boucle de développement rapide</a:t>
            </a:r>
            <a:endParaRPr lang="en-US" sz="1500" b="1">
              <a:solidFill>
                <a:srgbClr val="C8102E"/>
              </a:solidFill>
              <a:latin typeface="Segoe UI" panose="020B0502040204020203" pitchFamily="34" charset="0"/>
            </a:endParaRPr>
          </a:p>
        </p:txBody>
      </p:sp>
      <p:sp>
        <p:nvSpPr>
          <p:cNvPr id="30" name="ZoneTexte 29"/>
          <p:cNvSpPr txBox="1"/>
          <p:nvPr/>
        </p:nvSpPr>
        <p:spPr>
          <a:xfrm>
            <a:off x="762000" y="3784600"/>
            <a:ext cx="5029200" cy="369332"/>
          </a:xfrm>
          <a:prstGeom prst="rect">
            <a:avLst/>
          </a:prstGeom>
          <a:noFill/>
        </p:spPr>
        <p:txBody>
          <a:bodyPr vert="horz" wrap="square" lIns="0" tIns="0" rIns="0" bIns="0" rtlCol="0">
            <a:noAutofit/>
          </a:bodyPr>
          <a:lstStyle/>
          <a:p>
            <a:r>
              <a:rPr lang="fr-FR" sz="1250" smtClean="0">
                <a:solidFill>
                  <a:srgbClr val="212121"/>
                </a:solidFill>
                <a:latin typeface="Segoe UI" panose="020B0502040204020203" pitchFamily="34" charset="0"/>
              </a:rPr>
              <a:t>atlas-run démarre Jira une seule fois. Ensuite, QuickReload réinstalle automatiquement le plugin à chaque atlas-package, sans redémarrer Jira : quelques secondes entre une modification et son test.</a:t>
            </a:r>
            <a:endParaRPr lang="en-US" sz="1250">
              <a:solidFill>
                <a:srgbClr val="212121"/>
              </a:solidFill>
              <a:latin typeface="Segoe UI" panose="020B0502040204020203" pitchFamily="34" charset="0"/>
            </a:endParaRPr>
          </a:p>
        </p:txBody>
      </p:sp>
      <p:sp>
        <p:nvSpPr>
          <p:cNvPr id="31" name="Rectangle 30"/>
          <p:cNvSpPr/>
          <p:nvPr/>
        </p:nvSpPr>
        <p:spPr>
          <a:xfrm>
            <a:off x="6223000" y="3302000"/>
            <a:ext cx="5461000" cy="15875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2" name="Rectangle 31"/>
          <p:cNvSpPr/>
          <p:nvPr/>
        </p:nvSpPr>
        <p:spPr>
          <a:xfrm>
            <a:off x="6223000" y="3302000"/>
            <a:ext cx="63500" cy="15875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3" name="ZoneTexte 32"/>
          <p:cNvSpPr txBox="1"/>
          <p:nvPr/>
        </p:nvSpPr>
        <p:spPr>
          <a:xfrm>
            <a:off x="6477000" y="3454400"/>
            <a:ext cx="5029200" cy="369332"/>
          </a:xfrm>
          <a:prstGeom prst="rect">
            <a:avLst/>
          </a:prstGeom>
          <a:noFill/>
        </p:spPr>
        <p:txBody>
          <a:bodyPr vert="horz" wrap="square" lIns="0" tIns="0" rIns="0" bIns="0" rtlCol="0">
            <a:noAutofit/>
          </a:bodyPr>
          <a:lstStyle/>
          <a:p>
            <a:r>
              <a:rPr lang="en-US" sz="1500" b="1" smtClean="0">
                <a:solidFill>
                  <a:srgbClr val="1C1C1C"/>
                </a:solidFill>
                <a:latin typeface="Segoe UI" panose="020B0502040204020203" pitchFamily="34" charset="0"/>
              </a:rPr>
              <a:t>Débogage</a:t>
            </a:r>
            <a:endParaRPr lang="en-US" sz="1500" b="1">
              <a:solidFill>
                <a:srgbClr val="1C1C1C"/>
              </a:solidFill>
              <a:latin typeface="Segoe UI" panose="020B0502040204020203" pitchFamily="34" charset="0"/>
            </a:endParaRPr>
          </a:p>
        </p:txBody>
      </p:sp>
      <p:sp>
        <p:nvSpPr>
          <p:cNvPr id="34" name="ZoneTexte 33"/>
          <p:cNvSpPr txBox="1"/>
          <p:nvPr/>
        </p:nvSpPr>
        <p:spPr>
          <a:xfrm>
            <a:off x="6477000" y="3784600"/>
            <a:ext cx="5029200" cy="369332"/>
          </a:xfrm>
          <a:prstGeom prst="rect">
            <a:avLst/>
          </a:prstGeom>
          <a:noFill/>
        </p:spPr>
        <p:txBody>
          <a:bodyPr vert="horz" wrap="square" lIns="0" tIns="0" rIns="0" bIns="0" rtlCol="0">
            <a:noAutofit/>
          </a:bodyPr>
          <a:lstStyle/>
          <a:p>
            <a:r>
              <a:rPr lang="fr-FR" sz="1250" smtClean="0">
                <a:solidFill>
                  <a:srgbClr val="212121"/>
                </a:solidFill>
                <a:latin typeface="Segoe UI" panose="020B0502040204020203" pitchFamily="34" charset="0"/>
              </a:rPr>
              <a:t>atlas-debug lance Jira avec un débogueur Java distant (port 5005) : points d'arrêt et inspection des variables directement depuis l'IDE.</a:t>
            </a:r>
            <a:endParaRPr lang="en-US" sz="1250">
              <a:solidFill>
                <a:srgbClr val="212121"/>
              </a:solidFill>
              <a:latin typeface="Segoe UI" panose="020B0502040204020203" pitchFamily="34" charset="0"/>
            </a:endParaRPr>
          </a:p>
        </p:txBody>
      </p:sp>
      <p:sp>
        <p:nvSpPr>
          <p:cNvPr id="35" name="ZoneTexte 34"/>
          <p:cNvSpPr txBox="1"/>
          <p:nvPr/>
        </p:nvSpPr>
        <p:spPr>
          <a:xfrm>
            <a:off x="508000" y="5143500"/>
            <a:ext cx="11176000" cy="369332"/>
          </a:xfrm>
          <a:prstGeom prst="rect">
            <a:avLst/>
          </a:prstGeom>
          <a:noFill/>
        </p:spPr>
        <p:txBody>
          <a:bodyPr vert="horz" wrap="square" lIns="0" tIns="0" rIns="0" bIns="0" rtlCol="0">
            <a:noAutofit/>
          </a:bodyPr>
          <a:lstStyle/>
          <a:p>
            <a:r>
              <a:rPr lang="fr-FR" sz="1150" i="1" smtClean="0">
                <a:solidFill>
                  <a:srgbClr val="6E6E6E"/>
                </a:solidFill>
                <a:latin typeface="Segoe UI" panose="020B0502040204020203" pitchFamily="34" charset="0"/>
              </a:rPr>
              <a:t>Premier lancement : téléchargement de Jira et des dépendances (plusieurs minutes, environ 500 Mo dans target/, à exclure de Git).</a:t>
            </a:r>
            <a:endParaRPr lang="en-US" sz="1150" i="1">
              <a:solidFill>
                <a:srgbClr val="6E6E6E"/>
              </a:solidFill>
              <a:latin typeface="Segoe UI" panose="020B0502040204020203" pitchFamily="34" charset="0"/>
            </a:endParaRPr>
          </a:p>
        </p:txBody>
      </p:sp>
    </p:spTree>
    <p:extLst>
      <p:ext uri="{BB962C8B-B14F-4D97-AF65-F5344CB8AC3E}">
        <p14:creationId xmlns:p14="http://schemas.microsoft.com/office/powerpoint/2010/main" val="24776450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1C1C1C"/>
                </a:solidFill>
                <a:latin typeface="Segoe UI" panose="020B0502040204020203" pitchFamily="34" charset="0"/>
              </a:rPr>
              <a:t>04 · LIVRER</a:t>
            </a:r>
            <a:endParaRPr lang="en-US" sz="1000" b="1">
              <a:solidFill>
                <a:srgbClr val="1C1C1C"/>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fr-FR" sz="2400" b="1" smtClean="0">
                <a:solidFill>
                  <a:srgbClr val="212121"/>
                </a:solidFill>
                <a:latin typeface="Segoe UI" panose="020B0502040204020203" pitchFamily="34" charset="0"/>
              </a:rPr>
              <a:t>Commandes essentielles du SDK Atlassian</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17</a:t>
            </a:r>
            <a:endParaRPr lang="en-US" sz="900">
              <a:solidFill>
                <a:srgbClr val="6E6E6E"/>
              </a:solidFill>
              <a:latin typeface="Segoe UI" panose="020B0502040204020203" pitchFamily="34" charset="0"/>
            </a:endParaRPr>
          </a:p>
        </p:txBody>
      </p:sp>
      <p:graphicFrame>
        <p:nvGraphicFramePr>
          <p:cNvPr id="9" name="Tableau 8"/>
          <p:cNvGraphicFramePr>
            <a:graphicFrameLocks noGrp="1"/>
          </p:cNvGraphicFramePr>
          <p:nvPr>
            <p:extLst>
              <p:ext uri="{D42A27DB-BD31-4B8C-83A1-F6EECF244321}">
                <p14:modId xmlns:p14="http://schemas.microsoft.com/office/powerpoint/2010/main" val="1084919887"/>
              </p:ext>
            </p:extLst>
          </p:nvPr>
        </p:nvGraphicFramePr>
        <p:xfrm>
          <a:off x="508000" y="1270000"/>
          <a:ext cx="11176000" cy="292608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792579743"/>
                    </a:ext>
                  </a:extLst>
                </a:gridCol>
                <a:gridCol w="7366000">
                  <a:extLst>
                    <a:ext uri="{9D8B030D-6E8A-4147-A177-3AD203B41FA5}">
                      <a16:colId xmlns:a16="http://schemas.microsoft.com/office/drawing/2014/main" val="3436752622"/>
                    </a:ext>
                  </a:extLst>
                </a:gridCol>
              </a:tblGrid>
              <a:tr h="0">
                <a:tc>
                  <a:txBody>
                    <a:bodyPr/>
                    <a:lstStyle/>
                    <a:p>
                      <a:r>
                        <a:rPr lang="en-US" sz="1300" b="1" smtClean="0">
                          <a:solidFill>
                            <a:srgbClr val="FFFFFF"/>
                          </a:solidFill>
                          <a:latin typeface="Segoe UI" panose="020B0502040204020203" pitchFamily="34" charset="0"/>
                        </a:rPr>
                        <a:t>Commande</a:t>
                      </a:r>
                      <a:endParaRPr lang="en-US" sz="1300" b="1">
                        <a:solidFill>
                          <a:srgbClr val="FFFFFF"/>
                        </a:solidFill>
                        <a:latin typeface="Segoe UI" panose="020B0502040204020203" pitchFamily="34" charset="0"/>
                      </a:endParaRPr>
                    </a:p>
                  </a:txBody>
                  <a:tcPr marL="101600" marR="101600" marT="63500" marB="63500" anchor="ctr">
                    <a:solidFill>
                      <a:srgbClr val="1C1C1C"/>
                    </a:solidFill>
                  </a:tcPr>
                </a:tc>
                <a:tc>
                  <a:txBody>
                    <a:bodyPr/>
                    <a:lstStyle/>
                    <a:p>
                      <a:r>
                        <a:rPr lang="en-US" sz="1300" b="1" smtClean="0">
                          <a:solidFill>
                            <a:srgbClr val="FFFFFF"/>
                          </a:solidFill>
                          <a:latin typeface="Segoe UI" panose="020B0502040204020203" pitchFamily="34" charset="0"/>
                        </a:rPr>
                        <a:t>Rôle</a:t>
                      </a:r>
                      <a:endParaRPr lang="en-US" sz="1300" b="1">
                        <a:solidFill>
                          <a:srgbClr val="FFFFFF"/>
                        </a:solidFill>
                        <a:latin typeface="Segoe UI" panose="020B0502040204020203" pitchFamily="34" charset="0"/>
                      </a:endParaRPr>
                    </a:p>
                  </a:txBody>
                  <a:tcPr marL="101600" marR="101600" marT="63500" marB="63500" anchor="ctr">
                    <a:solidFill>
                      <a:srgbClr val="1C1C1C"/>
                    </a:solidFill>
                  </a:tcPr>
                </a:tc>
                <a:extLst>
                  <a:ext uri="{0D108BD9-81ED-4DB2-BD59-A6C34878D82A}">
                    <a16:rowId xmlns:a16="http://schemas.microsoft.com/office/drawing/2014/main" val="3843702068"/>
                  </a:ext>
                </a:extLst>
              </a:tr>
              <a:tr h="0">
                <a:tc>
                  <a:txBody>
                    <a:bodyPr/>
                    <a:lstStyle/>
                    <a:p>
                      <a:r>
                        <a:rPr lang="en-US" sz="1300" b="1" smtClean="0">
                          <a:solidFill>
                            <a:srgbClr val="C8102E"/>
                          </a:solidFill>
                          <a:latin typeface="Consolas" panose="020B0609020204030204" pitchFamily="49" charset="0"/>
                        </a:rPr>
                        <a:t>atlas-create-jira-plugin</a:t>
                      </a:r>
                      <a:endParaRPr lang="en-US" sz="1300" b="1">
                        <a:solidFill>
                          <a:srgbClr val="C8102E"/>
                        </a:solidFill>
                        <a:latin typeface="Consolas" panose="020B0609020204030204" pitchFamily="49" charset="0"/>
                      </a:endParaRPr>
                    </a:p>
                  </a:txBody>
                  <a:tcPr marL="101600" marR="101600" marT="63500" marB="63500" anchor="ctr">
                    <a:solidFill>
                      <a:srgbClr val="F5F5F5"/>
                    </a:solidFill>
                  </a:tcPr>
                </a:tc>
                <a:tc>
                  <a:txBody>
                    <a:bodyPr/>
                    <a:lstStyle/>
                    <a:p>
                      <a:r>
                        <a:rPr lang="fr-FR" sz="1300" b="0" smtClean="0">
                          <a:solidFill>
                            <a:srgbClr val="212121"/>
                          </a:solidFill>
                          <a:latin typeface="Segoe UI" panose="020B0502040204020203" pitchFamily="34" charset="0"/>
                        </a:rPr>
                        <a:t>Génère le squelette complet du projet</a:t>
                      </a:r>
                      <a:endParaRPr lang="en-US" sz="1300" b="0">
                        <a:solidFill>
                          <a:srgbClr val="212121"/>
                        </a:solidFill>
                        <a:latin typeface="Segoe UI" panose="020B0502040204020203" pitchFamily="34" charset="0"/>
                      </a:endParaRPr>
                    </a:p>
                  </a:txBody>
                  <a:tcPr marL="101600" marR="101600" marT="63500" marB="63500" anchor="ctr">
                    <a:solidFill>
                      <a:srgbClr val="F5F5F5"/>
                    </a:solidFill>
                  </a:tcPr>
                </a:tc>
                <a:extLst>
                  <a:ext uri="{0D108BD9-81ED-4DB2-BD59-A6C34878D82A}">
                    <a16:rowId xmlns:a16="http://schemas.microsoft.com/office/drawing/2014/main" val="2947690391"/>
                  </a:ext>
                </a:extLst>
              </a:tr>
              <a:tr h="0">
                <a:tc>
                  <a:txBody>
                    <a:bodyPr/>
                    <a:lstStyle/>
                    <a:p>
                      <a:r>
                        <a:rPr lang="en-US" sz="1300" b="1" smtClean="0">
                          <a:solidFill>
                            <a:srgbClr val="C8102E"/>
                          </a:solidFill>
                          <a:latin typeface="Consolas" panose="020B0609020204030204" pitchFamily="49" charset="0"/>
                        </a:rPr>
                        <a:t>atlas-create-jira-plugin-module</a:t>
                      </a:r>
                      <a:endParaRPr lang="en-US" sz="1300" b="1">
                        <a:solidFill>
                          <a:srgbClr val="C8102E"/>
                        </a:solidFill>
                        <a:latin typeface="Consolas" panose="020B0609020204030204" pitchFamily="49" charset="0"/>
                      </a:endParaRPr>
                    </a:p>
                  </a:txBody>
                  <a:tcPr marL="101600" marR="101600" marT="63500" marB="63500" anchor="ctr">
                    <a:solidFill>
                      <a:srgbClr val="FFFFFF"/>
                    </a:solidFill>
                  </a:tcPr>
                </a:tc>
                <a:tc>
                  <a:txBody>
                    <a:bodyPr/>
                    <a:lstStyle/>
                    <a:p>
                      <a:r>
                        <a:rPr lang="en-US" sz="1300" b="0" smtClean="0">
                          <a:solidFill>
                            <a:srgbClr val="212121"/>
                          </a:solidFill>
                          <a:latin typeface="Segoe UI" panose="020B0502040204020203" pitchFamily="34" charset="0"/>
                        </a:rPr>
                        <a:t>Ajoute un module (REST, listener, workflow, champ...)</a:t>
                      </a:r>
                      <a:endParaRPr lang="en-US" sz="1300" b="0">
                        <a:solidFill>
                          <a:srgbClr val="212121"/>
                        </a:solidFill>
                        <a:latin typeface="Segoe UI" panose="020B0502040204020203" pitchFamily="34" charset="0"/>
                      </a:endParaRPr>
                    </a:p>
                  </a:txBody>
                  <a:tcPr marL="101600" marR="101600" marT="63500" marB="63500" anchor="ctr">
                    <a:solidFill>
                      <a:srgbClr val="FFFFFF"/>
                    </a:solidFill>
                  </a:tcPr>
                </a:tc>
                <a:extLst>
                  <a:ext uri="{0D108BD9-81ED-4DB2-BD59-A6C34878D82A}">
                    <a16:rowId xmlns:a16="http://schemas.microsoft.com/office/drawing/2014/main" val="484574587"/>
                  </a:ext>
                </a:extLst>
              </a:tr>
              <a:tr h="0">
                <a:tc>
                  <a:txBody>
                    <a:bodyPr/>
                    <a:lstStyle/>
                    <a:p>
                      <a:r>
                        <a:rPr lang="en-US" sz="1300" b="1" smtClean="0">
                          <a:solidFill>
                            <a:srgbClr val="C8102E"/>
                          </a:solidFill>
                          <a:latin typeface="Consolas" panose="020B0609020204030204" pitchFamily="49" charset="0"/>
                        </a:rPr>
                        <a:t>atlas-run</a:t>
                      </a:r>
                      <a:endParaRPr lang="en-US" sz="1300" b="1">
                        <a:solidFill>
                          <a:srgbClr val="C8102E"/>
                        </a:solidFill>
                        <a:latin typeface="Consolas" panose="020B0609020204030204" pitchFamily="49" charset="0"/>
                      </a:endParaRPr>
                    </a:p>
                  </a:txBody>
                  <a:tcPr marL="101600" marR="101600" marT="63500" marB="63500" anchor="ctr">
                    <a:solidFill>
                      <a:srgbClr val="F5F5F5"/>
                    </a:solidFill>
                  </a:tcPr>
                </a:tc>
                <a:tc>
                  <a:txBody>
                    <a:bodyPr/>
                    <a:lstStyle/>
                    <a:p>
                      <a:r>
                        <a:rPr lang="fr-FR" sz="1300" b="0" smtClean="0">
                          <a:solidFill>
                            <a:srgbClr val="212121"/>
                          </a:solidFill>
                          <a:latin typeface="Segoe UI" panose="020B0502040204020203" pitchFamily="34" charset="0"/>
                        </a:rPr>
                        <a:t>Lance un Jira local avec le plugin installé (http://localhost:2990/jira)</a:t>
                      </a:r>
                      <a:endParaRPr lang="en-US" sz="1300" b="0">
                        <a:solidFill>
                          <a:srgbClr val="212121"/>
                        </a:solidFill>
                        <a:latin typeface="Segoe UI" panose="020B0502040204020203" pitchFamily="34" charset="0"/>
                      </a:endParaRPr>
                    </a:p>
                  </a:txBody>
                  <a:tcPr marL="101600" marR="101600" marT="63500" marB="63500" anchor="ctr">
                    <a:solidFill>
                      <a:srgbClr val="F5F5F5"/>
                    </a:solidFill>
                  </a:tcPr>
                </a:tc>
                <a:extLst>
                  <a:ext uri="{0D108BD9-81ED-4DB2-BD59-A6C34878D82A}">
                    <a16:rowId xmlns:a16="http://schemas.microsoft.com/office/drawing/2014/main" val="2756457532"/>
                  </a:ext>
                </a:extLst>
              </a:tr>
              <a:tr h="0">
                <a:tc>
                  <a:txBody>
                    <a:bodyPr/>
                    <a:lstStyle/>
                    <a:p>
                      <a:r>
                        <a:rPr lang="en-US" sz="1300" b="1" smtClean="0">
                          <a:solidFill>
                            <a:srgbClr val="C8102E"/>
                          </a:solidFill>
                          <a:latin typeface="Consolas" panose="020B0609020204030204" pitchFamily="49" charset="0"/>
                        </a:rPr>
                        <a:t>atlas-debug</a:t>
                      </a:r>
                      <a:endParaRPr lang="en-US" sz="1300" b="1">
                        <a:solidFill>
                          <a:srgbClr val="C8102E"/>
                        </a:solidFill>
                        <a:latin typeface="Consolas" panose="020B0609020204030204" pitchFamily="49" charset="0"/>
                      </a:endParaRPr>
                    </a:p>
                  </a:txBody>
                  <a:tcPr marL="101600" marR="101600" marT="63500" marB="63500" anchor="ctr">
                    <a:solidFill>
                      <a:srgbClr val="FFFFFF"/>
                    </a:solidFill>
                  </a:tcPr>
                </a:tc>
                <a:tc>
                  <a:txBody>
                    <a:bodyPr/>
                    <a:lstStyle/>
                    <a:p>
                      <a:r>
                        <a:rPr lang="fr-FR" sz="1300" b="0" smtClean="0">
                          <a:solidFill>
                            <a:srgbClr val="212121"/>
                          </a:solidFill>
                          <a:latin typeface="Segoe UI" panose="020B0502040204020203" pitchFamily="34" charset="0"/>
                        </a:rPr>
                        <a:t>Idem, avec débogueur Java distant sur le port 5005</a:t>
                      </a:r>
                      <a:endParaRPr lang="en-US" sz="1300" b="0">
                        <a:solidFill>
                          <a:srgbClr val="212121"/>
                        </a:solidFill>
                        <a:latin typeface="Segoe UI" panose="020B0502040204020203" pitchFamily="34" charset="0"/>
                      </a:endParaRPr>
                    </a:p>
                  </a:txBody>
                  <a:tcPr marL="101600" marR="101600" marT="63500" marB="63500" anchor="ctr">
                    <a:solidFill>
                      <a:srgbClr val="FFFFFF"/>
                    </a:solidFill>
                  </a:tcPr>
                </a:tc>
                <a:extLst>
                  <a:ext uri="{0D108BD9-81ED-4DB2-BD59-A6C34878D82A}">
                    <a16:rowId xmlns:a16="http://schemas.microsoft.com/office/drawing/2014/main" val="1344735030"/>
                  </a:ext>
                </a:extLst>
              </a:tr>
              <a:tr h="0">
                <a:tc>
                  <a:txBody>
                    <a:bodyPr/>
                    <a:lstStyle/>
                    <a:p>
                      <a:r>
                        <a:rPr lang="en-US" sz="1300" b="1" smtClean="0">
                          <a:solidFill>
                            <a:srgbClr val="C8102E"/>
                          </a:solidFill>
                          <a:latin typeface="Consolas" panose="020B0609020204030204" pitchFamily="49" charset="0"/>
                        </a:rPr>
                        <a:t>atlas-package</a:t>
                      </a:r>
                      <a:endParaRPr lang="en-US" sz="1300" b="1">
                        <a:solidFill>
                          <a:srgbClr val="C8102E"/>
                        </a:solidFill>
                        <a:latin typeface="Consolas" panose="020B0609020204030204" pitchFamily="49" charset="0"/>
                      </a:endParaRPr>
                    </a:p>
                  </a:txBody>
                  <a:tcPr marL="101600" marR="101600" marT="63500" marB="63500" anchor="ctr">
                    <a:solidFill>
                      <a:srgbClr val="F5F5F5"/>
                    </a:solidFill>
                  </a:tcPr>
                </a:tc>
                <a:tc>
                  <a:txBody>
                    <a:bodyPr/>
                    <a:lstStyle/>
                    <a:p>
                      <a:r>
                        <a:rPr lang="fr-FR" sz="1300" b="0" smtClean="0">
                          <a:solidFill>
                            <a:srgbClr val="212121"/>
                          </a:solidFill>
                          <a:latin typeface="Segoe UI" panose="020B0502040204020203" pitchFamily="34" charset="0"/>
                        </a:rPr>
                        <a:t>Compile, teste et produit le livrable .jar dans target/</a:t>
                      </a:r>
                      <a:endParaRPr lang="en-US" sz="1300" b="0">
                        <a:solidFill>
                          <a:srgbClr val="212121"/>
                        </a:solidFill>
                        <a:latin typeface="Segoe UI" panose="020B0502040204020203" pitchFamily="34" charset="0"/>
                      </a:endParaRPr>
                    </a:p>
                  </a:txBody>
                  <a:tcPr marL="101600" marR="101600" marT="63500" marB="63500" anchor="ctr">
                    <a:solidFill>
                      <a:srgbClr val="F5F5F5"/>
                    </a:solidFill>
                  </a:tcPr>
                </a:tc>
                <a:extLst>
                  <a:ext uri="{0D108BD9-81ED-4DB2-BD59-A6C34878D82A}">
                    <a16:rowId xmlns:a16="http://schemas.microsoft.com/office/drawing/2014/main" val="3415024613"/>
                  </a:ext>
                </a:extLst>
              </a:tr>
              <a:tr h="0">
                <a:tc>
                  <a:txBody>
                    <a:bodyPr/>
                    <a:lstStyle/>
                    <a:p>
                      <a:r>
                        <a:rPr lang="en-US" sz="1300" b="1" smtClean="0">
                          <a:solidFill>
                            <a:srgbClr val="C8102E"/>
                          </a:solidFill>
                          <a:latin typeface="Consolas" panose="020B0609020204030204" pitchFamily="49" charset="0"/>
                        </a:rPr>
                        <a:t>atlas-unit-test</a:t>
                      </a:r>
                      <a:endParaRPr lang="en-US" sz="1300" b="1">
                        <a:solidFill>
                          <a:srgbClr val="C8102E"/>
                        </a:solidFill>
                        <a:latin typeface="Consolas" panose="020B0609020204030204" pitchFamily="49" charset="0"/>
                      </a:endParaRPr>
                    </a:p>
                  </a:txBody>
                  <a:tcPr marL="101600" marR="101600" marT="63500" marB="63500" anchor="ctr">
                    <a:solidFill>
                      <a:srgbClr val="FFFFFF"/>
                    </a:solidFill>
                  </a:tcPr>
                </a:tc>
                <a:tc>
                  <a:txBody>
                    <a:bodyPr/>
                    <a:lstStyle/>
                    <a:p>
                      <a:r>
                        <a:rPr lang="en-US" sz="1300" b="0" smtClean="0">
                          <a:solidFill>
                            <a:srgbClr val="212121"/>
                          </a:solidFill>
                          <a:latin typeface="Segoe UI" panose="020B0502040204020203" pitchFamily="34" charset="0"/>
                        </a:rPr>
                        <a:t>Exécute les tests unitaires</a:t>
                      </a:r>
                      <a:endParaRPr lang="en-US" sz="1300" b="0">
                        <a:solidFill>
                          <a:srgbClr val="212121"/>
                        </a:solidFill>
                        <a:latin typeface="Segoe UI" panose="020B0502040204020203" pitchFamily="34" charset="0"/>
                      </a:endParaRPr>
                    </a:p>
                  </a:txBody>
                  <a:tcPr marL="101600" marR="101600" marT="63500" marB="63500" anchor="ctr">
                    <a:solidFill>
                      <a:srgbClr val="FFFFFF"/>
                    </a:solidFill>
                  </a:tcPr>
                </a:tc>
                <a:extLst>
                  <a:ext uri="{0D108BD9-81ED-4DB2-BD59-A6C34878D82A}">
                    <a16:rowId xmlns:a16="http://schemas.microsoft.com/office/drawing/2014/main" val="229038241"/>
                  </a:ext>
                </a:extLst>
              </a:tr>
              <a:tr h="0">
                <a:tc>
                  <a:txBody>
                    <a:bodyPr/>
                    <a:lstStyle/>
                    <a:p>
                      <a:r>
                        <a:rPr lang="en-US" sz="1300" b="1" smtClean="0">
                          <a:solidFill>
                            <a:srgbClr val="C8102E"/>
                          </a:solidFill>
                          <a:latin typeface="Consolas" panose="020B0609020204030204" pitchFamily="49" charset="0"/>
                        </a:rPr>
                        <a:t>atlas-integration-test</a:t>
                      </a:r>
                      <a:endParaRPr lang="en-US" sz="1300" b="1">
                        <a:solidFill>
                          <a:srgbClr val="C8102E"/>
                        </a:solidFill>
                        <a:latin typeface="Consolas" panose="020B0609020204030204" pitchFamily="49" charset="0"/>
                      </a:endParaRPr>
                    </a:p>
                  </a:txBody>
                  <a:tcPr marL="101600" marR="101600" marT="63500" marB="63500" anchor="ctr">
                    <a:solidFill>
                      <a:srgbClr val="F5F5F5"/>
                    </a:solidFill>
                  </a:tcPr>
                </a:tc>
                <a:tc>
                  <a:txBody>
                    <a:bodyPr/>
                    <a:lstStyle/>
                    <a:p>
                      <a:r>
                        <a:rPr lang="fr-FR" sz="1300" b="0" smtClean="0">
                          <a:solidFill>
                            <a:srgbClr val="212121"/>
                          </a:solidFill>
                          <a:latin typeface="Segoe UI" panose="020B0502040204020203" pitchFamily="34" charset="0"/>
                        </a:rPr>
                        <a:t>Exécute les tests d'intégration dans un Jira réel</a:t>
                      </a:r>
                      <a:endParaRPr lang="en-US" sz="1300" b="0">
                        <a:solidFill>
                          <a:srgbClr val="212121"/>
                        </a:solidFill>
                        <a:latin typeface="Segoe UI" panose="020B0502040204020203" pitchFamily="34" charset="0"/>
                      </a:endParaRPr>
                    </a:p>
                  </a:txBody>
                  <a:tcPr marL="101600" marR="101600" marT="63500" marB="63500" anchor="ctr">
                    <a:solidFill>
                      <a:srgbClr val="F5F5F5"/>
                    </a:solidFill>
                  </a:tcPr>
                </a:tc>
                <a:extLst>
                  <a:ext uri="{0D108BD9-81ED-4DB2-BD59-A6C34878D82A}">
                    <a16:rowId xmlns:a16="http://schemas.microsoft.com/office/drawing/2014/main" val="320002505"/>
                  </a:ext>
                </a:extLst>
              </a:tr>
              <a:tr h="0">
                <a:tc>
                  <a:txBody>
                    <a:bodyPr/>
                    <a:lstStyle/>
                    <a:p>
                      <a:r>
                        <a:rPr lang="en-US" sz="1300" b="1" smtClean="0">
                          <a:solidFill>
                            <a:srgbClr val="C8102E"/>
                          </a:solidFill>
                          <a:latin typeface="Consolas" panose="020B0609020204030204" pitchFamily="49" charset="0"/>
                        </a:rPr>
                        <a:t>atlas-mvn</a:t>
                      </a:r>
                      <a:endParaRPr lang="en-US" sz="1300" b="1">
                        <a:solidFill>
                          <a:srgbClr val="C8102E"/>
                        </a:solidFill>
                        <a:latin typeface="Consolas" panose="020B0609020204030204" pitchFamily="49" charset="0"/>
                      </a:endParaRPr>
                    </a:p>
                  </a:txBody>
                  <a:tcPr marL="101600" marR="101600" marT="63500" marB="63500" anchor="ctr">
                    <a:solidFill>
                      <a:srgbClr val="FFFFFF"/>
                    </a:solidFill>
                  </a:tcPr>
                </a:tc>
                <a:tc>
                  <a:txBody>
                    <a:bodyPr/>
                    <a:lstStyle/>
                    <a:p>
                      <a:r>
                        <a:rPr lang="fr-FR" sz="1300" b="0" smtClean="0">
                          <a:solidFill>
                            <a:srgbClr val="212121"/>
                          </a:solidFill>
                          <a:latin typeface="Segoe UI" panose="020B0502040204020203" pitchFamily="34" charset="0"/>
                        </a:rPr>
                        <a:t>Maven avec la configuration Atlassian</a:t>
                      </a:r>
                      <a:endParaRPr lang="en-US" sz="1300" b="0">
                        <a:solidFill>
                          <a:srgbClr val="212121"/>
                        </a:solidFill>
                        <a:latin typeface="Segoe UI" panose="020B0502040204020203" pitchFamily="34" charset="0"/>
                      </a:endParaRPr>
                    </a:p>
                  </a:txBody>
                  <a:tcPr marL="101600" marR="101600" marT="63500" marB="63500" anchor="ctr">
                    <a:solidFill>
                      <a:srgbClr val="FFFFFF"/>
                    </a:solidFill>
                  </a:tcPr>
                </a:tc>
                <a:extLst>
                  <a:ext uri="{0D108BD9-81ED-4DB2-BD59-A6C34878D82A}">
                    <a16:rowId xmlns:a16="http://schemas.microsoft.com/office/drawing/2014/main" val="3720341683"/>
                  </a:ext>
                </a:extLst>
              </a:tr>
            </a:tbl>
          </a:graphicData>
        </a:graphic>
      </p:graphicFrame>
    </p:spTree>
    <p:extLst>
      <p:ext uri="{BB962C8B-B14F-4D97-AF65-F5344CB8AC3E}">
        <p14:creationId xmlns:p14="http://schemas.microsoft.com/office/powerpoint/2010/main" val="27720466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1C1C1C"/>
                </a:solidFill>
                <a:latin typeface="Segoe UI" panose="020B0502040204020203" pitchFamily="34" charset="0"/>
              </a:rPr>
              <a:t>04 · LIVRER</a:t>
            </a:r>
            <a:endParaRPr lang="en-US" sz="1000" b="1">
              <a:solidFill>
                <a:srgbClr val="1C1C1C"/>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en-US" sz="2400" b="1" smtClean="0">
                <a:solidFill>
                  <a:srgbClr val="212121"/>
                </a:solidFill>
                <a:latin typeface="Segoe UI" panose="020B0502040204020203" pitchFamily="34" charset="0"/>
              </a:rPr>
              <a:t>Tests et qualité</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18</a:t>
            </a:r>
            <a:endParaRPr lang="en-US" sz="900">
              <a:solidFill>
                <a:srgbClr val="6E6E6E"/>
              </a:solidFill>
              <a:latin typeface="Segoe UI" panose="020B0502040204020203" pitchFamily="34" charset="0"/>
            </a:endParaRPr>
          </a:p>
        </p:txBody>
      </p:sp>
      <p:sp>
        <p:nvSpPr>
          <p:cNvPr id="9" name="Rectangle 8"/>
          <p:cNvSpPr/>
          <p:nvPr/>
        </p:nvSpPr>
        <p:spPr>
          <a:xfrm>
            <a:off x="508000" y="1244600"/>
            <a:ext cx="3556000" cy="29845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0" name="Rectangle 9"/>
          <p:cNvSpPr/>
          <p:nvPr/>
        </p:nvSpPr>
        <p:spPr>
          <a:xfrm>
            <a:off x="508000" y="1244600"/>
            <a:ext cx="3556000" cy="5842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500" b="1" smtClean="0">
                <a:solidFill>
                  <a:srgbClr val="FFFFFF"/>
                </a:solidFill>
                <a:latin typeface="Segoe UI" panose="020B0502040204020203" pitchFamily="34" charset="0"/>
              </a:rPr>
              <a:t>Tests unitaires</a:t>
            </a:r>
            <a:endParaRPr lang="en-US" sz="1500" b="1">
              <a:solidFill>
                <a:srgbClr val="FFFFFF"/>
              </a:solidFill>
              <a:latin typeface="Segoe UI" panose="020B0502040204020203" pitchFamily="34" charset="0"/>
            </a:endParaRPr>
          </a:p>
        </p:txBody>
      </p:sp>
      <p:sp>
        <p:nvSpPr>
          <p:cNvPr id="11" name="ZoneTexte 10"/>
          <p:cNvSpPr txBox="1"/>
          <p:nvPr/>
        </p:nvSpPr>
        <p:spPr>
          <a:xfrm>
            <a:off x="711200" y="2032000"/>
            <a:ext cx="3175000" cy="369332"/>
          </a:xfrm>
          <a:prstGeom prst="rect">
            <a:avLst/>
          </a:prstGeom>
          <a:noFill/>
        </p:spPr>
        <p:txBody>
          <a:bodyPr vert="horz" wrap="square" lIns="0" tIns="0" rIns="0" bIns="0" rtlCol="0">
            <a:noAutofit/>
          </a:bodyPr>
          <a:lstStyle/>
          <a:p>
            <a:pPr marL="482600" indent="-203200">
              <a:spcAft>
                <a:spcPts val="900"/>
              </a:spcAft>
              <a:buClr>
                <a:srgbClr val="C8102E"/>
              </a:buClr>
              <a:buSzPct val="70000"/>
              <a:buFont typeface="Arial" panose="020B0604020202020204" pitchFamily="34" charset="0"/>
              <a:buChar char="■"/>
            </a:pPr>
            <a:r>
              <a:rPr lang="fr-FR" sz="1250" smtClean="0">
                <a:solidFill>
                  <a:srgbClr val="212121"/>
                </a:solidFill>
                <a:latin typeface="Segoe UI" panose="020B0502040204020203" pitchFamily="34" charset="0"/>
              </a:rPr>
              <a:t>JUnit + Mockito</a:t>
            </a:r>
          </a:p>
          <a:p>
            <a:pPr marL="482600" indent="-203200">
              <a:spcAft>
                <a:spcPts val="900"/>
              </a:spcAft>
              <a:buClr>
                <a:srgbClr val="C8102E"/>
              </a:buClr>
              <a:buSzPct val="70000"/>
              <a:buFont typeface="Arial" panose="020B0604020202020204" pitchFamily="34" charset="0"/>
              <a:buChar char="■"/>
            </a:pPr>
            <a:r>
              <a:rPr lang="fr-FR" sz="1250" smtClean="0">
                <a:solidFill>
                  <a:srgbClr val="212121"/>
                </a:solidFill>
                <a:latin typeface="Segoe UI" panose="020B0502040204020203" pitchFamily="34" charset="0"/>
              </a:rPr>
              <a:t>Rapides, sans démarrer Jira</a:t>
            </a:r>
          </a:p>
          <a:p>
            <a:pPr marL="482600" indent="-203200">
              <a:spcAft>
                <a:spcPts val="900"/>
              </a:spcAft>
              <a:buClr>
                <a:srgbClr val="C8102E"/>
              </a:buClr>
              <a:buSzPct val="70000"/>
              <a:buFont typeface="Arial" panose="020B0604020202020204" pitchFamily="34" charset="0"/>
              <a:buChar char="■"/>
            </a:pPr>
            <a:r>
              <a:rPr lang="fr-FR" sz="1250" smtClean="0">
                <a:solidFill>
                  <a:srgbClr val="212121"/>
                </a:solidFill>
                <a:latin typeface="Segoe UI" panose="020B0502040204020203" pitchFamily="34" charset="0"/>
              </a:rPr>
              <a:t>Valident la logique métier isolée</a:t>
            </a:r>
          </a:p>
          <a:p>
            <a:pPr marL="482600" indent="-203200">
              <a:spcAft>
                <a:spcPts val="900"/>
              </a:spcAft>
              <a:buClr>
                <a:srgbClr val="C8102E"/>
              </a:buClr>
              <a:buSzPct val="70000"/>
              <a:buFont typeface="Arial" panose="020B0604020202020204" pitchFamily="34" charset="0"/>
              <a:buChar char="■"/>
            </a:pPr>
            <a:r>
              <a:rPr lang="fr-FR" sz="1250" smtClean="0">
                <a:solidFill>
                  <a:srgbClr val="212121"/>
                </a:solidFill>
                <a:latin typeface="Segoe UI" panose="020B0502040204020203" pitchFamily="34" charset="0"/>
              </a:rPr>
              <a:t>atlas-unit-test</a:t>
            </a:r>
            <a:endParaRPr lang="en-US" sz="1250">
              <a:solidFill>
                <a:srgbClr val="212121"/>
              </a:solidFill>
              <a:latin typeface="Segoe UI" panose="020B0502040204020203" pitchFamily="34" charset="0"/>
            </a:endParaRPr>
          </a:p>
        </p:txBody>
      </p:sp>
      <p:sp>
        <p:nvSpPr>
          <p:cNvPr id="12" name="Rectangle 11"/>
          <p:cNvSpPr/>
          <p:nvPr/>
        </p:nvSpPr>
        <p:spPr>
          <a:xfrm>
            <a:off x="4318000" y="1244600"/>
            <a:ext cx="3556000" cy="29845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3" name="Rectangle 12"/>
          <p:cNvSpPr/>
          <p:nvPr/>
        </p:nvSpPr>
        <p:spPr>
          <a:xfrm>
            <a:off x="4318000" y="1244600"/>
            <a:ext cx="3556000" cy="5842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500" b="1" smtClean="0">
                <a:solidFill>
                  <a:srgbClr val="FFFFFF"/>
                </a:solidFill>
                <a:latin typeface="Segoe UI" panose="020B0502040204020203" pitchFamily="34" charset="0"/>
              </a:rPr>
              <a:t>Tests d'intégration</a:t>
            </a:r>
            <a:endParaRPr lang="en-US" sz="1500" b="1">
              <a:solidFill>
                <a:srgbClr val="FFFFFF"/>
              </a:solidFill>
              <a:latin typeface="Segoe UI" panose="020B0502040204020203" pitchFamily="34" charset="0"/>
            </a:endParaRPr>
          </a:p>
        </p:txBody>
      </p:sp>
      <p:sp>
        <p:nvSpPr>
          <p:cNvPr id="14" name="ZoneTexte 13"/>
          <p:cNvSpPr txBox="1"/>
          <p:nvPr/>
        </p:nvSpPr>
        <p:spPr>
          <a:xfrm>
            <a:off x="4521200" y="2032000"/>
            <a:ext cx="3175000" cy="369332"/>
          </a:xfrm>
          <a:prstGeom prst="rect">
            <a:avLst/>
          </a:prstGeom>
          <a:noFill/>
        </p:spPr>
        <p:txBody>
          <a:bodyPr vert="horz" wrap="square" lIns="0" tIns="0" rIns="0" bIns="0" rtlCol="0">
            <a:noAutofit/>
          </a:bodyPr>
          <a:lstStyle/>
          <a:p>
            <a:pPr marL="482600" indent="-203200">
              <a:spcAft>
                <a:spcPts val="900"/>
              </a:spcAft>
              <a:buClr>
                <a:srgbClr val="1C1C1C"/>
              </a:buClr>
              <a:buSzPct val="70000"/>
              <a:buFont typeface="Arial" panose="020B0604020202020204" pitchFamily="34" charset="0"/>
              <a:buChar char="■"/>
            </a:pPr>
            <a:r>
              <a:rPr lang="fr-FR" sz="1250" smtClean="0">
                <a:solidFill>
                  <a:srgbClr val="212121"/>
                </a:solidFill>
                <a:latin typeface="Segoe UI" panose="020B0502040204020203" pitchFamily="34" charset="0"/>
              </a:rPr>
              <a:t>« Wired tests » exécutés dans un Jira réel</a:t>
            </a:r>
          </a:p>
          <a:p>
            <a:pPr marL="482600" indent="-203200">
              <a:spcAft>
                <a:spcPts val="900"/>
              </a:spcAft>
              <a:buClr>
                <a:srgbClr val="1C1C1C"/>
              </a:buClr>
              <a:buSzPct val="70000"/>
              <a:buFont typeface="Arial" panose="020B0604020202020204" pitchFamily="34" charset="0"/>
              <a:buChar char="■"/>
            </a:pPr>
            <a:r>
              <a:rPr lang="fr-FR" sz="1250" smtClean="0">
                <a:solidFill>
                  <a:srgbClr val="212121"/>
                </a:solidFill>
                <a:latin typeface="Segoe UI" panose="020B0502040204020203" pitchFamily="34" charset="0"/>
              </a:rPr>
              <a:t>Valident l'intégration avec l'API Jira</a:t>
            </a:r>
          </a:p>
          <a:p>
            <a:pPr marL="482600" indent="-203200">
              <a:spcAft>
                <a:spcPts val="900"/>
              </a:spcAft>
              <a:buClr>
                <a:srgbClr val="1C1C1C"/>
              </a:buClr>
              <a:buSzPct val="70000"/>
              <a:buFont typeface="Arial" panose="020B0604020202020204" pitchFamily="34" charset="0"/>
              <a:buChar char="■"/>
            </a:pPr>
            <a:r>
              <a:rPr lang="fr-FR" sz="1250" smtClean="0">
                <a:solidFill>
                  <a:srgbClr val="212121"/>
                </a:solidFill>
                <a:latin typeface="Segoe UI" panose="020B0502040204020203" pitchFamily="34" charset="0"/>
              </a:rPr>
              <a:t>atlas-integration-test</a:t>
            </a:r>
            <a:endParaRPr lang="en-US" sz="1250">
              <a:solidFill>
                <a:srgbClr val="212121"/>
              </a:solidFill>
              <a:latin typeface="Segoe UI" panose="020B0502040204020203" pitchFamily="34" charset="0"/>
            </a:endParaRPr>
          </a:p>
        </p:txBody>
      </p:sp>
      <p:sp>
        <p:nvSpPr>
          <p:cNvPr id="15" name="Rectangle 14"/>
          <p:cNvSpPr/>
          <p:nvPr/>
        </p:nvSpPr>
        <p:spPr>
          <a:xfrm>
            <a:off x="8128000" y="1244600"/>
            <a:ext cx="3556000" cy="29845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6" name="Rectangle 15"/>
          <p:cNvSpPr/>
          <p:nvPr/>
        </p:nvSpPr>
        <p:spPr>
          <a:xfrm>
            <a:off x="8128000" y="1244600"/>
            <a:ext cx="3556000" cy="584200"/>
          </a:xfrm>
          <a:prstGeom prst="rect">
            <a:avLst/>
          </a:prstGeom>
          <a:solidFill>
            <a:srgbClr val="870A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500" b="1" smtClean="0">
                <a:solidFill>
                  <a:srgbClr val="FFFFFF"/>
                </a:solidFill>
                <a:latin typeface="Segoe UI" panose="020B0502040204020203" pitchFamily="34" charset="0"/>
              </a:rPr>
              <a:t>Recette fonctionnelle</a:t>
            </a:r>
            <a:endParaRPr lang="en-US" sz="1500" b="1">
              <a:solidFill>
                <a:srgbClr val="FFFFFF"/>
              </a:solidFill>
              <a:latin typeface="Segoe UI" panose="020B0502040204020203" pitchFamily="34" charset="0"/>
            </a:endParaRPr>
          </a:p>
        </p:txBody>
      </p:sp>
      <p:sp>
        <p:nvSpPr>
          <p:cNvPr id="17" name="ZoneTexte 16"/>
          <p:cNvSpPr txBox="1"/>
          <p:nvPr/>
        </p:nvSpPr>
        <p:spPr>
          <a:xfrm>
            <a:off x="8331200" y="2032000"/>
            <a:ext cx="3175000" cy="369332"/>
          </a:xfrm>
          <a:prstGeom prst="rect">
            <a:avLst/>
          </a:prstGeom>
          <a:noFill/>
        </p:spPr>
        <p:txBody>
          <a:bodyPr vert="horz" wrap="square" lIns="0" tIns="0" rIns="0" bIns="0" rtlCol="0">
            <a:noAutofit/>
          </a:bodyPr>
          <a:lstStyle/>
          <a:p>
            <a:pPr marL="482600" indent="-203200">
              <a:spcAft>
                <a:spcPts val="900"/>
              </a:spcAft>
              <a:buClr>
                <a:srgbClr val="870A1E"/>
              </a:buClr>
              <a:buSzPct val="70000"/>
              <a:buFont typeface="Arial" panose="020B0604020202020204" pitchFamily="34" charset="0"/>
              <a:buChar char="■"/>
            </a:pPr>
            <a:r>
              <a:rPr lang="fr-FR" sz="1250" smtClean="0">
                <a:solidFill>
                  <a:srgbClr val="212121"/>
                </a:solidFill>
                <a:latin typeface="Segoe UI" panose="020B0502040204020203" pitchFamily="34" charset="0"/>
              </a:rPr>
              <a:t>Scénarios métier sur l'instance de recette</a:t>
            </a:r>
          </a:p>
          <a:p>
            <a:pPr marL="482600" indent="-203200">
              <a:spcAft>
                <a:spcPts val="900"/>
              </a:spcAft>
              <a:buClr>
                <a:srgbClr val="870A1E"/>
              </a:buClr>
              <a:buSzPct val="70000"/>
              <a:buFont typeface="Arial" panose="020B0604020202020204" pitchFamily="34" charset="0"/>
              <a:buChar char="■"/>
            </a:pPr>
            <a:r>
              <a:rPr lang="fr-FR" sz="1250" smtClean="0">
                <a:solidFill>
                  <a:srgbClr val="212121"/>
                </a:solidFill>
                <a:latin typeface="Segoe UI" panose="020B0502040204020203" pitchFamily="34" charset="0"/>
              </a:rPr>
              <a:t>Validation multi-nœuds (Data Center)</a:t>
            </a:r>
          </a:p>
          <a:p>
            <a:pPr marL="482600" indent="-203200">
              <a:spcAft>
                <a:spcPts val="900"/>
              </a:spcAft>
              <a:buClr>
                <a:srgbClr val="870A1E"/>
              </a:buClr>
              <a:buSzPct val="70000"/>
              <a:buFont typeface="Arial" panose="020B0604020202020204" pitchFamily="34" charset="0"/>
              <a:buChar char="■"/>
            </a:pPr>
            <a:r>
              <a:rPr lang="fr-FR" sz="1250" smtClean="0">
                <a:solidFill>
                  <a:srgbClr val="212121"/>
                </a:solidFill>
                <a:latin typeface="Segoe UI" panose="020B0502040204020203" pitchFamily="34" charset="0"/>
              </a:rPr>
              <a:t>Non-régression avant chaque livraison</a:t>
            </a:r>
            <a:endParaRPr lang="en-US" sz="1250">
              <a:solidFill>
                <a:srgbClr val="212121"/>
              </a:solidFill>
              <a:latin typeface="Segoe UI" panose="020B0502040204020203" pitchFamily="34" charset="0"/>
            </a:endParaRPr>
          </a:p>
        </p:txBody>
      </p:sp>
      <p:sp>
        <p:nvSpPr>
          <p:cNvPr id="18" name="Rectangle 17"/>
          <p:cNvSpPr/>
          <p:nvPr/>
        </p:nvSpPr>
        <p:spPr>
          <a:xfrm>
            <a:off x="508000" y="4445000"/>
            <a:ext cx="11176000" cy="17145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9" name="Rectangle 18"/>
          <p:cNvSpPr/>
          <p:nvPr/>
        </p:nvSpPr>
        <p:spPr>
          <a:xfrm>
            <a:off x="508000" y="4445000"/>
            <a:ext cx="63500" cy="17145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0" name="ZoneTexte 19"/>
          <p:cNvSpPr txBox="1"/>
          <p:nvPr/>
        </p:nvSpPr>
        <p:spPr>
          <a:xfrm>
            <a:off x="787400" y="4597400"/>
            <a:ext cx="5080000" cy="369332"/>
          </a:xfrm>
          <a:prstGeom prst="rect">
            <a:avLst/>
          </a:prstGeom>
          <a:noFill/>
        </p:spPr>
        <p:txBody>
          <a:bodyPr vert="horz" wrap="square" lIns="0" tIns="0" rIns="0" bIns="0" rtlCol="0">
            <a:noAutofit/>
          </a:bodyPr>
          <a:lstStyle/>
          <a:p>
            <a:r>
              <a:rPr lang="en-US" sz="1500" b="1" smtClean="0">
                <a:solidFill>
                  <a:srgbClr val="C8102E"/>
                </a:solidFill>
                <a:latin typeface="Segoe UI" panose="020B0502040204020203" pitchFamily="34" charset="0"/>
              </a:rPr>
              <a:t>Qualité du code</a:t>
            </a:r>
            <a:endParaRPr lang="en-US" sz="1500" b="1">
              <a:solidFill>
                <a:srgbClr val="C8102E"/>
              </a:solidFill>
              <a:latin typeface="Segoe UI" panose="020B0502040204020203" pitchFamily="34" charset="0"/>
            </a:endParaRPr>
          </a:p>
        </p:txBody>
      </p:sp>
      <p:sp>
        <p:nvSpPr>
          <p:cNvPr id="21" name="ZoneTexte 20"/>
          <p:cNvSpPr txBox="1"/>
          <p:nvPr/>
        </p:nvSpPr>
        <p:spPr>
          <a:xfrm>
            <a:off x="787400" y="4978400"/>
            <a:ext cx="10668000" cy="369332"/>
          </a:xfrm>
          <a:prstGeom prst="rect">
            <a:avLst/>
          </a:prstGeom>
          <a:noFill/>
        </p:spPr>
        <p:txBody>
          <a:bodyPr vert="horz" wrap="square" lIns="0" tIns="0" rIns="0" bIns="0" rtlCol="0">
            <a:noAutofit/>
          </a:bodyPr>
          <a:lstStyle/>
          <a:p>
            <a:pPr marL="482600" indent="-203200">
              <a:spcAft>
                <a:spcPts val="600"/>
              </a:spcAft>
              <a:buClr>
                <a:srgbClr val="C8102E"/>
              </a:buClr>
              <a:buSzPct val="70000"/>
              <a:buFont typeface="Arial" panose="020B0604020202020204" pitchFamily="34" charset="0"/>
              <a:buChar char="■"/>
            </a:pPr>
            <a:r>
              <a:rPr lang="fr-FR" sz="1300" smtClean="0">
                <a:solidFill>
                  <a:srgbClr val="212121"/>
                </a:solidFill>
                <a:latin typeface="Segoe UI" panose="020B0502040204020203" pitchFamily="34" charset="0"/>
              </a:rPr>
              <a:t>Revue de code systématique via pull requests</a:t>
            </a:r>
          </a:p>
          <a:p>
            <a:pPr marL="482600" indent="-203200">
              <a:spcAft>
                <a:spcPts val="600"/>
              </a:spcAft>
              <a:buClr>
                <a:srgbClr val="C8102E"/>
              </a:buClr>
              <a:buSzPct val="70000"/>
              <a:buFont typeface="Arial" panose="020B0604020202020204" pitchFamily="34" charset="0"/>
              <a:buChar char="■"/>
            </a:pPr>
            <a:r>
              <a:rPr lang="fr-FR" sz="1300" smtClean="0">
                <a:solidFill>
                  <a:srgbClr val="212121"/>
                </a:solidFill>
                <a:latin typeface="Segoe UI" panose="020B0502040204020203" pitchFamily="34" charset="0"/>
              </a:rPr>
              <a:t>Analyse statique (ex. SonarQube) et scan des dépendances vulnérables</a:t>
            </a:r>
          </a:p>
          <a:p>
            <a:pPr marL="482600" indent="-203200">
              <a:spcAft>
                <a:spcPts val="600"/>
              </a:spcAft>
              <a:buClr>
                <a:srgbClr val="C8102E"/>
              </a:buClr>
              <a:buSzPct val="70000"/>
              <a:buFont typeface="Arial" panose="020B0604020202020204" pitchFamily="34" charset="0"/>
              <a:buChar char="■"/>
            </a:pPr>
            <a:r>
              <a:rPr lang="fr-FR" sz="1300" smtClean="0">
                <a:solidFill>
                  <a:srgbClr val="212121"/>
                </a:solidFill>
                <a:latin typeface="Segoe UI" panose="020B0502040204020203" pitchFamily="34" charset="0"/>
              </a:rPr>
              <a:t>Build et tests automatiques à chaque modification (intégration continue)</a:t>
            </a:r>
            <a:endParaRPr lang="en-US" sz="1300">
              <a:solidFill>
                <a:srgbClr val="212121"/>
              </a:solidFill>
              <a:latin typeface="Segoe UI" panose="020B0502040204020203" pitchFamily="34" charset="0"/>
            </a:endParaRPr>
          </a:p>
        </p:txBody>
      </p:sp>
    </p:spTree>
    <p:extLst>
      <p:ext uri="{BB962C8B-B14F-4D97-AF65-F5344CB8AC3E}">
        <p14:creationId xmlns:p14="http://schemas.microsoft.com/office/powerpoint/2010/main" val="293640101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1C1C1C"/>
                </a:solidFill>
                <a:latin typeface="Segoe UI" panose="020B0502040204020203" pitchFamily="34" charset="0"/>
              </a:rPr>
              <a:t>04 · LIVRER</a:t>
            </a:r>
            <a:endParaRPr lang="en-US" sz="1000" b="1">
              <a:solidFill>
                <a:srgbClr val="1C1C1C"/>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fr-FR" sz="2400" b="1" smtClean="0">
                <a:solidFill>
                  <a:srgbClr val="212121"/>
                </a:solidFill>
                <a:latin typeface="Segoe UI" panose="020B0502040204020203" pitchFamily="34" charset="0"/>
              </a:rPr>
              <a:t>Déploiement : du poste de développement à la production</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19</a:t>
            </a:r>
            <a:endParaRPr lang="en-US" sz="900">
              <a:solidFill>
                <a:srgbClr val="6E6E6E"/>
              </a:solidFill>
              <a:latin typeface="Segoe UI" panose="020B0502040204020203" pitchFamily="34" charset="0"/>
            </a:endParaRPr>
          </a:p>
        </p:txBody>
      </p:sp>
      <p:sp>
        <p:nvSpPr>
          <p:cNvPr id="9" name="Rectangle 8"/>
          <p:cNvSpPr/>
          <p:nvPr/>
        </p:nvSpPr>
        <p:spPr>
          <a:xfrm>
            <a:off x="508000" y="1244600"/>
            <a:ext cx="2413000" cy="812800"/>
          </a:xfrm>
          <a:prstGeom prst="rect">
            <a:avLst/>
          </a:prstGeom>
          <a:solidFill>
            <a:srgbClr val="4B4B4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250" b="1" smtClean="0">
                <a:solidFill>
                  <a:srgbClr val="FFFFFF"/>
                </a:solidFill>
                <a:latin typeface="Segoe UI" panose="020B0502040204020203" pitchFamily="34" charset="0"/>
              </a:rPr>
              <a:t>Développement</a:t>
            </a:r>
          </a:p>
          <a:p>
            <a:pPr algn="ctr"/>
            <a:r>
              <a:rPr lang="en-US" sz="1250" b="1" smtClean="0">
                <a:solidFill>
                  <a:srgbClr val="FFFFFF"/>
                </a:solidFill>
                <a:latin typeface="Segoe UI" panose="020B0502040204020203" pitchFamily="34" charset="0"/>
              </a:rPr>
              <a:t>poste local (atlas-run)</a:t>
            </a:r>
            <a:endParaRPr lang="en-US" sz="1250" b="1">
              <a:solidFill>
                <a:srgbClr val="FFFFFF"/>
              </a:solidFill>
              <a:latin typeface="Segoe UI" panose="020B0502040204020203" pitchFamily="34" charset="0"/>
            </a:endParaRPr>
          </a:p>
        </p:txBody>
      </p:sp>
      <p:sp>
        <p:nvSpPr>
          <p:cNvPr id="10" name="Flèche droite 9"/>
          <p:cNvSpPr/>
          <p:nvPr/>
        </p:nvSpPr>
        <p:spPr>
          <a:xfrm>
            <a:off x="3009900" y="1524000"/>
            <a:ext cx="330200" cy="254000"/>
          </a:xfrm>
          <a:prstGeom prst="rightArrow">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1" name="Rectangle 10"/>
          <p:cNvSpPr/>
          <p:nvPr/>
        </p:nvSpPr>
        <p:spPr>
          <a:xfrm>
            <a:off x="3429000" y="1244600"/>
            <a:ext cx="2413000" cy="8128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250" b="1" smtClean="0">
                <a:solidFill>
                  <a:srgbClr val="FFFFFF"/>
                </a:solidFill>
                <a:latin typeface="Segoe UI" panose="020B0502040204020203" pitchFamily="34" charset="0"/>
              </a:rPr>
              <a:t>Recette</a:t>
            </a:r>
          </a:p>
          <a:p>
            <a:pPr algn="ctr"/>
            <a:r>
              <a:rPr lang="en-US" sz="1250" b="1" smtClean="0">
                <a:solidFill>
                  <a:srgbClr val="FFFFFF"/>
                </a:solidFill>
                <a:latin typeface="Segoe UI" panose="020B0502040204020203" pitchFamily="34" charset="0"/>
              </a:rPr>
              <a:t>Jira DC iso-production</a:t>
            </a:r>
            <a:endParaRPr lang="en-US" sz="1250" b="1">
              <a:solidFill>
                <a:srgbClr val="FFFFFF"/>
              </a:solidFill>
              <a:latin typeface="Segoe UI" panose="020B0502040204020203" pitchFamily="34" charset="0"/>
            </a:endParaRPr>
          </a:p>
        </p:txBody>
      </p:sp>
      <p:sp>
        <p:nvSpPr>
          <p:cNvPr id="12" name="Flèche droite 11"/>
          <p:cNvSpPr/>
          <p:nvPr/>
        </p:nvSpPr>
        <p:spPr>
          <a:xfrm>
            <a:off x="5930900" y="1524000"/>
            <a:ext cx="330200" cy="254000"/>
          </a:xfrm>
          <a:prstGeom prst="rightArrow">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3" name="Rectangle 12"/>
          <p:cNvSpPr/>
          <p:nvPr/>
        </p:nvSpPr>
        <p:spPr>
          <a:xfrm>
            <a:off x="6350000" y="1244600"/>
            <a:ext cx="2413000" cy="812800"/>
          </a:xfrm>
          <a:prstGeom prst="rect">
            <a:avLst/>
          </a:prstGeom>
          <a:solidFill>
            <a:srgbClr val="870A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250" b="1" smtClean="0">
                <a:solidFill>
                  <a:srgbClr val="FFFFFF"/>
                </a:solidFill>
                <a:latin typeface="Segoe UI" panose="020B0502040204020203" pitchFamily="34" charset="0"/>
              </a:rPr>
              <a:t>Pré-production</a:t>
            </a:r>
          </a:p>
          <a:p>
            <a:pPr algn="ctr"/>
            <a:r>
              <a:rPr lang="en-US" sz="1250" b="1" smtClean="0">
                <a:solidFill>
                  <a:srgbClr val="FFFFFF"/>
                </a:solidFill>
                <a:latin typeface="Segoe UI" panose="020B0502040204020203" pitchFamily="34" charset="0"/>
              </a:rPr>
              <a:t>validation finale</a:t>
            </a:r>
            <a:endParaRPr lang="en-US" sz="1250" b="1">
              <a:solidFill>
                <a:srgbClr val="FFFFFF"/>
              </a:solidFill>
              <a:latin typeface="Segoe UI" panose="020B0502040204020203" pitchFamily="34" charset="0"/>
            </a:endParaRPr>
          </a:p>
        </p:txBody>
      </p:sp>
      <p:sp>
        <p:nvSpPr>
          <p:cNvPr id="14" name="Flèche droite 13"/>
          <p:cNvSpPr/>
          <p:nvPr/>
        </p:nvSpPr>
        <p:spPr>
          <a:xfrm>
            <a:off x="8851900" y="1524000"/>
            <a:ext cx="330200" cy="254000"/>
          </a:xfrm>
          <a:prstGeom prst="rightArrow">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5" name="Rectangle 14"/>
          <p:cNvSpPr/>
          <p:nvPr/>
        </p:nvSpPr>
        <p:spPr>
          <a:xfrm>
            <a:off x="9271000" y="1244600"/>
            <a:ext cx="2413000" cy="8128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250" b="1" smtClean="0">
                <a:solidFill>
                  <a:srgbClr val="FFFFFF"/>
                </a:solidFill>
                <a:latin typeface="Segoe UI" panose="020B0502040204020203" pitchFamily="34" charset="0"/>
              </a:rPr>
              <a:t>Production</a:t>
            </a:r>
          </a:p>
          <a:p>
            <a:pPr algn="ctr"/>
            <a:r>
              <a:rPr lang="en-US" sz="1250" b="1" smtClean="0">
                <a:solidFill>
                  <a:srgbClr val="FFFFFF"/>
                </a:solidFill>
                <a:latin typeface="Segoe UI" panose="020B0502040204020203" pitchFamily="34" charset="0"/>
              </a:rPr>
              <a:t>mise à disposition</a:t>
            </a:r>
            <a:endParaRPr lang="en-US" sz="1250" b="1">
              <a:solidFill>
                <a:srgbClr val="FFFFFF"/>
              </a:solidFill>
              <a:latin typeface="Segoe UI" panose="020B0502040204020203" pitchFamily="34" charset="0"/>
            </a:endParaRPr>
          </a:p>
        </p:txBody>
      </p:sp>
      <p:sp>
        <p:nvSpPr>
          <p:cNvPr id="16" name="ZoneTexte 15"/>
          <p:cNvSpPr txBox="1"/>
          <p:nvPr/>
        </p:nvSpPr>
        <p:spPr>
          <a:xfrm>
            <a:off x="508000" y="2362200"/>
            <a:ext cx="5461000" cy="369332"/>
          </a:xfrm>
          <a:prstGeom prst="rect">
            <a:avLst/>
          </a:prstGeom>
          <a:noFill/>
        </p:spPr>
        <p:txBody>
          <a:bodyPr vert="horz" wrap="square" lIns="0" tIns="0" rIns="0" bIns="0" rtlCol="0">
            <a:noAutofit/>
          </a:bodyPr>
          <a:lstStyle/>
          <a:p>
            <a:r>
              <a:rPr lang="en-US" sz="1500" b="1" smtClean="0">
                <a:solidFill>
                  <a:srgbClr val="C8102E"/>
                </a:solidFill>
                <a:latin typeface="Segoe UI" panose="020B0502040204020203" pitchFamily="34" charset="0"/>
              </a:rPr>
              <a:t>Procédure d'installation</a:t>
            </a:r>
            <a:endParaRPr lang="en-US" sz="1500" b="1">
              <a:solidFill>
                <a:srgbClr val="C8102E"/>
              </a:solidFill>
              <a:latin typeface="Segoe UI" panose="020B0502040204020203" pitchFamily="34" charset="0"/>
            </a:endParaRPr>
          </a:p>
        </p:txBody>
      </p:sp>
      <p:sp>
        <p:nvSpPr>
          <p:cNvPr id="17" name="ZoneTexte 16"/>
          <p:cNvSpPr txBox="1"/>
          <p:nvPr/>
        </p:nvSpPr>
        <p:spPr>
          <a:xfrm>
            <a:off x="508000" y="2692400"/>
            <a:ext cx="5461000" cy="369332"/>
          </a:xfrm>
          <a:prstGeom prst="rect">
            <a:avLst/>
          </a:prstGeom>
          <a:noFill/>
        </p:spPr>
        <p:txBody>
          <a:bodyPr vert="horz" wrap="square" lIns="0" tIns="0" rIns="0" bIns="0" rtlCol="0">
            <a:noAutofit/>
          </a:bodyPr>
          <a:lstStyle/>
          <a:p>
            <a:r>
              <a:rPr lang="fr-FR" sz="1300" smtClean="0">
                <a:solidFill>
                  <a:srgbClr val="212121"/>
                </a:solidFill>
                <a:latin typeface="Segoe UI" panose="020B0502040204020203" pitchFamily="34" charset="0"/>
              </a:rPr>
              <a:t>1.  Connexion avec un compte administrateur Jira</a:t>
            </a:r>
          </a:p>
          <a:p>
            <a:r>
              <a:rPr lang="fr-FR" sz="1300" smtClean="0">
                <a:solidFill>
                  <a:srgbClr val="212121"/>
                </a:solidFill>
                <a:latin typeface="Segoe UI" panose="020B0502040204020203" pitchFamily="34" charset="0"/>
              </a:rPr>
              <a:t>2.  Administration &gt; Gérer les applications</a:t>
            </a:r>
          </a:p>
          <a:p>
            <a:r>
              <a:rPr lang="fr-FR" sz="1300" smtClean="0">
                <a:solidFill>
                  <a:srgbClr val="212121"/>
                </a:solidFill>
                <a:latin typeface="Segoe UI" panose="020B0502040204020203" pitchFamily="34" charset="0"/>
              </a:rPr>
              <a:t>3.  « Importer une application », puis sélection du .jar</a:t>
            </a:r>
          </a:p>
          <a:p>
            <a:r>
              <a:rPr lang="fr-FR" sz="1300" smtClean="0">
                <a:solidFill>
                  <a:srgbClr val="212121"/>
                </a:solidFill>
                <a:latin typeface="Segoe UI" panose="020B0502040204020203" pitchFamily="34" charset="0"/>
              </a:rPr>
              <a:t>4.  Vérifier que tous les modules sont activés</a:t>
            </a:r>
            <a:endParaRPr lang="en-US" sz="1300">
              <a:solidFill>
                <a:srgbClr val="212121"/>
              </a:solidFill>
              <a:latin typeface="Segoe UI" panose="020B0502040204020203" pitchFamily="34" charset="0"/>
            </a:endParaRPr>
          </a:p>
        </p:txBody>
      </p:sp>
      <p:sp>
        <p:nvSpPr>
          <p:cNvPr id="18" name="ZoneTexte 17"/>
          <p:cNvSpPr txBox="1"/>
          <p:nvPr/>
        </p:nvSpPr>
        <p:spPr>
          <a:xfrm>
            <a:off x="508000" y="4191000"/>
            <a:ext cx="5461000" cy="369332"/>
          </a:xfrm>
          <a:prstGeom prst="rect">
            <a:avLst/>
          </a:prstGeom>
          <a:noFill/>
        </p:spPr>
        <p:txBody>
          <a:bodyPr vert="horz" wrap="square" lIns="0" tIns="0" rIns="0" bIns="0" rtlCol="0">
            <a:noAutofit/>
          </a:bodyPr>
          <a:lstStyle/>
          <a:p>
            <a:r>
              <a:rPr lang="en-US" sz="1500" b="1" smtClean="0">
                <a:solidFill>
                  <a:srgbClr val="C8102E"/>
                </a:solidFill>
                <a:latin typeface="Segoe UI" panose="020B0502040204020203" pitchFamily="34" charset="0"/>
              </a:rPr>
              <a:t>Bonnes pratiques de livraison</a:t>
            </a:r>
            <a:endParaRPr lang="en-US" sz="1500" b="1">
              <a:solidFill>
                <a:srgbClr val="C8102E"/>
              </a:solidFill>
              <a:latin typeface="Segoe UI" panose="020B0502040204020203" pitchFamily="34" charset="0"/>
            </a:endParaRPr>
          </a:p>
        </p:txBody>
      </p:sp>
      <p:sp>
        <p:nvSpPr>
          <p:cNvPr id="19" name="ZoneTexte 18"/>
          <p:cNvSpPr txBox="1"/>
          <p:nvPr/>
        </p:nvSpPr>
        <p:spPr>
          <a:xfrm>
            <a:off x="508000" y="4546600"/>
            <a:ext cx="5461000" cy="369332"/>
          </a:xfrm>
          <a:prstGeom prst="rect">
            <a:avLst/>
          </a:prstGeom>
          <a:noFill/>
        </p:spPr>
        <p:txBody>
          <a:bodyPr vert="horz" wrap="square" lIns="0" tIns="0" rIns="0" bIns="0" rtlCol="0">
            <a:noAutofit/>
          </a:bodyPr>
          <a:lstStyle/>
          <a:p>
            <a:pPr marL="482600" indent="-203200">
              <a:spcAft>
                <a:spcPts val="600"/>
              </a:spcAft>
              <a:buClr>
                <a:srgbClr val="C8102E"/>
              </a:buClr>
              <a:buSzPct val="70000"/>
              <a:buFont typeface="Arial" panose="020B0604020202020204" pitchFamily="34" charset="0"/>
              <a:buChar char="■"/>
            </a:pPr>
            <a:r>
              <a:rPr lang="fr-FR" sz="1300" smtClean="0">
                <a:solidFill>
                  <a:srgbClr val="212121"/>
                </a:solidFill>
                <a:latin typeface="Segoe UI" panose="020B0502040204020203" pitchFamily="34" charset="0"/>
              </a:rPr>
              <a:t>Artefacts versionnés et archivés (Nexus / Artifactory)</a:t>
            </a:r>
          </a:p>
          <a:p>
            <a:pPr marL="482600" indent="-203200">
              <a:spcAft>
                <a:spcPts val="600"/>
              </a:spcAft>
              <a:buClr>
                <a:srgbClr val="C8102E"/>
              </a:buClr>
              <a:buSzPct val="70000"/>
              <a:buFont typeface="Arial" panose="020B0604020202020204" pitchFamily="34" charset="0"/>
              <a:buChar char="■"/>
            </a:pPr>
            <a:r>
              <a:rPr lang="fr-FR" sz="1300" smtClean="0">
                <a:solidFill>
                  <a:srgbClr val="212121"/>
                </a:solidFill>
                <a:latin typeface="Segoe UI" panose="020B0502040204020203" pitchFamily="34" charset="0"/>
              </a:rPr>
              <a:t>Note de version (changelog) à chaque livraison</a:t>
            </a:r>
          </a:p>
          <a:p>
            <a:pPr marL="482600" indent="-203200">
              <a:spcAft>
                <a:spcPts val="600"/>
              </a:spcAft>
              <a:buClr>
                <a:srgbClr val="C8102E"/>
              </a:buClr>
              <a:buSzPct val="70000"/>
              <a:buFont typeface="Arial" panose="020B0604020202020204" pitchFamily="34" charset="0"/>
              <a:buChar char="■"/>
            </a:pPr>
            <a:r>
              <a:rPr lang="fr-FR" sz="1300" smtClean="0">
                <a:solidFill>
                  <a:srgbClr val="212121"/>
                </a:solidFill>
                <a:latin typeface="Segoe UI" panose="020B0502040204020203" pitchFamily="34" charset="0"/>
              </a:rPr>
              <a:t>Mise en production en période de faible activité</a:t>
            </a:r>
            <a:endParaRPr lang="en-US" sz="1300">
              <a:solidFill>
                <a:srgbClr val="212121"/>
              </a:solidFill>
              <a:latin typeface="Segoe UI" panose="020B0502040204020203" pitchFamily="34" charset="0"/>
            </a:endParaRPr>
          </a:p>
        </p:txBody>
      </p:sp>
      <p:sp>
        <p:nvSpPr>
          <p:cNvPr id="20" name="Rectangle 19"/>
          <p:cNvSpPr/>
          <p:nvPr/>
        </p:nvSpPr>
        <p:spPr>
          <a:xfrm>
            <a:off x="6350000" y="2362200"/>
            <a:ext cx="5334000" cy="11684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1" name="Rectangle 20"/>
          <p:cNvSpPr/>
          <p:nvPr/>
        </p:nvSpPr>
        <p:spPr>
          <a:xfrm>
            <a:off x="6350000" y="2362200"/>
            <a:ext cx="63500" cy="1168400"/>
          </a:xfrm>
          <a:prstGeom prst="rect">
            <a:avLst/>
          </a:prstGeom>
          <a:solidFill>
            <a:srgbClr val="0087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2" name="ZoneTexte 21"/>
          <p:cNvSpPr txBox="1"/>
          <p:nvPr/>
        </p:nvSpPr>
        <p:spPr>
          <a:xfrm>
            <a:off x="6604000" y="2514600"/>
            <a:ext cx="4902200" cy="369332"/>
          </a:xfrm>
          <a:prstGeom prst="rect">
            <a:avLst/>
          </a:prstGeom>
          <a:noFill/>
        </p:spPr>
        <p:txBody>
          <a:bodyPr vert="horz" wrap="square" lIns="0" tIns="0" rIns="0" bIns="0" rtlCol="0">
            <a:noAutofit/>
          </a:bodyPr>
          <a:lstStyle/>
          <a:p>
            <a:r>
              <a:rPr lang="en-US" sz="1400" b="1" smtClean="0">
                <a:solidFill>
                  <a:srgbClr val="00875A"/>
                </a:solidFill>
                <a:latin typeface="Segoe UI" panose="020B0502040204020203" pitchFamily="34" charset="0"/>
              </a:rPr>
              <a:t>Zéro interruption</a:t>
            </a:r>
            <a:endParaRPr lang="en-US" sz="1400" b="1">
              <a:solidFill>
                <a:srgbClr val="00875A"/>
              </a:solidFill>
              <a:latin typeface="Segoe UI" panose="020B0502040204020203" pitchFamily="34" charset="0"/>
            </a:endParaRPr>
          </a:p>
        </p:txBody>
      </p:sp>
      <p:sp>
        <p:nvSpPr>
          <p:cNvPr id="23" name="ZoneTexte 22"/>
          <p:cNvSpPr txBox="1"/>
          <p:nvPr/>
        </p:nvSpPr>
        <p:spPr>
          <a:xfrm>
            <a:off x="6604000" y="2844800"/>
            <a:ext cx="4902200" cy="369332"/>
          </a:xfrm>
          <a:prstGeom prst="rect">
            <a:avLst/>
          </a:prstGeom>
          <a:noFill/>
        </p:spPr>
        <p:txBody>
          <a:bodyPr vert="horz" wrap="square" lIns="0" tIns="0" rIns="0" bIns="0" rtlCol="0">
            <a:noAutofit/>
          </a:bodyPr>
          <a:lstStyle/>
          <a:p>
            <a:r>
              <a:rPr lang="fr-FR" sz="1250" smtClean="0">
                <a:solidFill>
                  <a:srgbClr val="212121"/>
                </a:solidFill>
                <a:latin typeface="Segoe UI" panose="020B0502040204020203" pitchFamily="34" charset="0"/>
              </a:rPr>
              <a:t>Installation à chaud, répliquée automatiquement sur tous les nœuds du cluster.</a:t>
            </a:r>
            <a:endParaRPr lang="en-US" sz="1250">
              <a:solidFill>
                <a:srgbClr val="212121"/>
              </a:solidFill>
              <a:latin typeface="Segoe UI" panose="020B0502040204020203" pitchFamily="34" charset="0"/>
            </a:endParaRPr>
          </a:p>
        </p:txBody>
      </p:sp>
      <p:sp>
        <p:nvSpPr>
          <p:cNvPr id="24" name="Rectangle 23"/>
          <p:cNvSpPr/>
          <p:nvPr/>
        </p:nvSpPr>
        <p:spPr>
          <a:xfrm>
            <a:off x="6350000" y="3683000"/>
            <a:ext cx="5334000" cy="11684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5" name="Rectangle 24"/>
          <p:cNvSpPr/>
          <p:nvPr/>
        </p:nvSpPr>
        <p:spPr>
          <a:xfrm>
            <a:off x="6350000" y="3683000"/>
            <a:ext cx="63500" cy="11684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6" name="ZoneTexte 25"/>
          <p:cNvSpPr txBox="1"/>
          <p:nvPr/>
        </p:nvSpPr>
        <p:spPr>
          <a:xfrm>
            <a:off x="6604000" y="3835400"/>
            <a:ext cx="4902200" cy="369332"/>
          </a:xfrm>
          <a:prstGeom prst="rect">
            <a:avLst/>
          </a:prstGeom>
          <a:noFill/>
        </p:spPr>
        <p:txBody>
          <a:bodyPr vert="horz" wrap="square" lIns="0" tIns="0" rIns="0" bIns="0" rtlCol="0">
            <a:noAutofit/>
          </a:bodyPr>
          <a:lstStyle/>
          <a:p>
            <a:r>
              <a:rPr lang="en-US" sz="1400" b="1" smtClean="0">
                <a:solidFill>
                  <a:srgbClr val="1C1C1C"/>
                </a:solidFill>
                <a:latin typeface="Segoe UI" panose="020B0502040204020203" pitchFamily="34" charset="0"/>
              </a:rPr>
              <a:t>Retour arrière</a:t>
            </a:r>
            <a:endParaRPr lang="en-US" sz="1400" b="1">
              <a:solidFill>
                <a:srgbClr val="1C1C1C"/>
              </a:solidFill>
              <a:latin typeface="Segoe UI" panose="020B0502040204020203" pitchFamily="34" charset="0"/>
            </a:endParaRPr>
          </a:p>
        </p:txBody>
      </p:sp>
      <p:sp>
        <p:nvSpPr>
          <p:cNvPr id="27" name="ZoneTexte 26"/>
          <p:cNvSpPr txBox="1"/>
          <p:nvPr/>
        </p:nvSpPr>
        <p:spPr>
          <a:xfrm>
            <a:off x="6604000" y="4165600"/>
            <a:ext cx="4902200" cy="369332"/>
          </a:xfrm>
          <a:prstGeom prst="rect">
            <a:avLst/>
          </a:prstGeom>
          <a:noFill/>
        </p:spPr>
        <p:txBody>
          <a:bodyPr vert="horz" wrap="square" lIns="0" tIns="0" rIns="0" bIns="0" rtlCol="0">
            <a:noAutofit/>
          </a:bodyPr>
          <a:lstStyle/>
          <a:p>
            <a:r>
              <a:rPr lang="fr-FR" sz="1250" smtClean="0">
                <a:solidFill>
                  <a:srgbClr val="212121"/>
                </a:solidFill>
                <a:latin typeface="Segoe UI" panose="020B0502040204020203" pitchFamily="34" charset="0"/>
              </a:rPr>
              <a:t>Désactiver le plugin ou réinstaller la version précédente en quelques secondes.</a:t>
            </a:r>
            <a:endParaRPr lang="en-US" sz="1250">
              <a:solidFill>
                <a:srgbClr val="212121"/>
              </a:solidFill>
              <a:latin typeface="Segoe UI" panose="020B0502040204020203" pitchFamily="34" charset="0"/>
            </a:endParaRPr>
          </a:p>
        </p:txBody>
      </p:sp>
      <p:sp>
        <p:nvSpPr>
          <p:cNvPr id="28" name="Rectangle 27"/>
          <p:cNvSpPr/>
          <p:nvPr/>
        </p:nvSpPr>
        <p:spPr>
          <a:xfrm>
            <a:off x="6350000" y="5003800"/>
            <a:ext cx="5334000" cy="12192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9" name="Rectangle 28"/>
          <p:cNvSpPr/>
          <p:nvPr/>
        </p:nvSpPr>
        <p:spPr>
          <a:xfrm>
            <a:off x="6350000" y="5003800"/>
            <a:ext cx="63500" cy="1219200"/>
          </a:xfrm>
          <a:prstGeom prst="rect">
            <a:avLst/>
          </a:prstGeom>
          <a:solidFill>
            <a:srgbClr val="DE6E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0" name="ZoneTexte 29"/>
          <p:cNvSpPr txBox="1"/>
          <p:nvPr/>
        </p:nvSpPr>
        <p:spPr>
          <a:xfrm>
            <a:off x="6604000" y="5156200"/>
            <a:ext cx="4902200" cy="369332"/>
          </a:xfrm>
          <a:prstGeom prst="rect">
            <a:avLst/>
          </a:prstGeom>
          <a:noFill/>
        </p:spPr>
        <p:txBody>
          <a:bodyPr vert="horz" wrap="square" lIns="0" tIns="0" rIns="0" bIns="0" rtlCol="0">
            <a:noAutofit/>
          </a:bodyPr>
          <a:lstStyle/>
          <a:p>
            <a:r>
              <a:rPr lang="en-US" sz="1400" b="1" smtClean="0">
                <a:solidFill>
                  <a:srgbClr val="DE6E00"/>
                </a:solidFill>
                <a:latin typeface="Segoe UI" panose="020B0502040204020203" pitchFamily="34" charset="0"/>
              </a:rPr>
              <a:t>Point de vigilance</a:t>
            </a:r>
            <a:endParaRPr lang="en-US" sz="1400" b="1">
              <a:solidFill>
                <a:srgbClr val="DE6E00"/>
              </a:solidFill>
              <a:latin typeface="Segoe UI" panose="020B0502040204020203" pitchFamily="34" charset="0"/>
            </a:endParaRPr>
          </a:p>
        </p:txBody>
      </p:sp>
      <p:sp>
        <p:nvSpPr>
          <p:cNvPr id="31" name="ZoneTexte 30"/>
          <p:cNvSpPr txBox="1"/>
          <p:nvPr/>
        </p:nvSpPr>
        <p:spPr>
          <a:xfrm>
            <a:off x="6604000" y="5486400"/>
            <a:ext cx="4902200" cy="369332"/>
          </a:xfrm>
          <a:prstGeom prst="rect">
            <a:avLst/>
          </a:prstGeom>
          <a:noFill/>
        </p:spPr>
        <p:txBody>
          <a:bodyPr vert="horz" wrap="square" lIns="0" tIns="0" rIns="0" bIns="0" rtlCol="0">
            <a:noAutofit/>
          </a:bodyPr>
          <a:lstStyle/>
          <a:p>
            <a:r>
              <a:rPr lang="fr-FR" sz="1200" smtClean="0">
                <a:solidFill>
                  <a:srgbClr val="212121"/>
                </a:solidFill>
                <a:latin typeface="Segoe UI" panose="020B0502040204020203" pitchFamily="34" charset="0"/>
              </a:rPr>
              <a:t>L'import manuel de .jar peut être désactivé par défaut sur les versions récentes (paramètre système de l'UPM) : à valider avec l'exploitation.</a:t>
            </a:r>
            <a:endParaRPr lang="en-US" sz="1200">
              <a:solidFill>
                <a:srgbClr val="212121"/>
              </a:solidFill>
              <a:latin typeface="Segoe UI" panose="020B0502040204020203" pitchFamily="34" charset="0"/>
            </a:endParaRPr>
          </a:p>
        </p:txBody>
      </p:sp>
    </p:spTree>
    <p:extLst>
      <p:ext uri="{BB962C8B-B14F-4D97-AF65-F5344CB8AC3E}">
        <p14:creationId xmlns:p14="http://schemas.microsoft.com/office/powerpoint/2010/main" val="104321427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C8102E"/>
                </a:solidFill>
                <a:latin typeface="Segoe UI" panose="020B0502040204020203" pitchFamily="34" charset="0"/>
              </a:rPr>
              <a:t>05 · PÉRENNISER</a:t>
            </a:r>
            <a:endParaRPr lang="en-US" sz="1000" b="1">
              <a:solidFill>
                <a:srgbClr val="C8102E"/>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en-US" sz="2400" b="1" smtClean="0">
                <a:solidFill>
                  <a:srgbClr val="212121"/>
                </a:solidFill>
                <a:latin typeface="Segoe UI" panose="020B0502040204020203" pitchFamily="34" charset="0"/>
              </a:rPr>
              <a:t>Bonnes pratiques</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20</a:t>
            </a:r>
            <a:endParaRPr lang="en-US" sz="900">
              <a:solidFill>
                <a:srgbClr val="6E6E6E"/>
              </a:solidFill>
              <a:latin typeface="Segoe UI" panose="020B0502040204020203" pitchFamily="34" charset="0"/>
            </a:endParaRPr>
          </a:p>
        </p:txBody>
      </p:sp>
      <p:sp>
        <p:nvSpPr>
          <p:cNvPr id="9" name="Rectangle 8"/>
          <p:cNvSpPr/>
          <p:nvPr/>
        </p:nvSpPr>
        <p:spPr>
          <a:xfrm>
            <a:off x="508000" y="1244600"/>
            <a:ext cx="3556000" cy="49784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0" name="Rectangle 9"/>
          <p:cNvSpPr/>
          <p:nvPr/>
        </p:nvSpPr>
        <p:spPr>
          <a:xfrm>
            <a:off x="508000" y="1244600"/>
            <a:ext cx="3556000" cy="5842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500" b="1" smtClean="0">
                <a:solidFill>
                  <a:srgbClr val="FFFFFF"/>
                </a:solidFill>
                <a:latin typeface="Segoe UI" panose="020B0502040204020203" pitchFamily="34" charset="0"/>
              </a:rPr>
              <a:t>Code &amp; architecture</a:t>
            </a:r>
            <a:endParaRPr lang="en-US" sz="1500" b="1">
              <a:solidFill>
                <a:srgbClr val="FFFFFF"/>
              </a:solidFill>
              <a:latin typeface="Segoe UI" panose="020B0502040204020203" pitchFamily="34" charset="0"/>
            </a:endParaRPr>
          </a:p>
        </p:txBody>
      </p:sp>
      <p:sp>
        <p:nvSpPr>
          <p:cNvPr id="11" name="ZoneTexte 10"/>
          <p:cNvSpPr txBox="1"/>
          <p:nvPr/>
        </p:nvSpPr>
        <p:spPr>
          <a:xfrm>
            <a:off x="711200" y="2032000"/>
            <a:ext cx="3175000" cy="369332"/>
          </a:xfrm>
          <a:prstGeom prst="rect">
            <a:avLst/>
          </a:prstGeom>
          <a:noFill/>
        </p:spPr>
        <p:txBody>
          <a:bodyPr vert="horz" wrap="square" lIns="0" tIns="0" rIns="0" bIns="0" rtlCol="0">
            <a:noAutofit/>
          </a:bodyPr>
          <a:lstStyle/>
          <a:p>
            <a:pPr marL="482600" indent="-203200">
              <a:spcAft>
                <a:spcPts val="900"/>
              </a:spcAft>
              <a:buClr>
                <a:srgbClr val="C8102E"/>
              </a:buClr>
              <a:buSzPct val="70000"/>
              <a:buFont typeface="Arial" panose="020B0604020202020204" pitchFamily="34" charset="0"/>
              <a:buChar char="■"/>
            </a:pPr>
            <a:r>
              <a:rPr lang="fr-FR" sz="1250" smtClean="0">
                <a:solidFill>
                  <a:srgbClr val="212121"/>
                </a:solidFill>
                <a:latin typeface="Segoe UI" panose="020B0502040204020203" pitchFamily="34" charset="0"/>
              </a:rPr>
              <a:t>Un plugin = un périmètre fonctionnel clair</a:t>
            </a:r>
          </a:p>
          <a:p>
            <a:pPr marL="482600" indent="-203200">
              <a:spcAft>
                <a:spcPts val="900"/>
              </a:spcAft>
              <a:buClr>
                <a:srgbClr val="C8102E"/>
              </a:buClr>
              <a:buSzPct val="70000"/>
              <a:buFont typeface="Arial" panose="020B0604020202020204" pitchFamily="34" charset="0"/>
              <a:buChar char="■"/>
            </a:pPr>
            <a:r>
              <a:rPr lang="fr-FR" sz="1250" smtClean="0">
                <a:solidFill>
                  <a:srgbClr val="212121"/>
                </a:solidFill>
                <a:latin typeface="Segoe UI" panose="020B0502040204020203" pitchFamily="34" charset="0"/>
              </a:rPr>
              <a:t>Clés et packages préfixés (com.mabanque...)</a:t>
            </a:r>
          </a:p>
          <a:p>
            <a:pPr marL="482600" indent="-203200">
              <a:spcAft>
                <a:spcPts val="900"/>
              </a:spcAft>
              <a:buClr>
                <a:srgbClr val="C8102E"/>
              </a:buClr>
              <a:buSzPct val="70000"/>
              <a:buFont typeface="Arial" panose="020B0604020202020204" pitchFamily="34" charset="0"/>
              <a:buChar char="■"/>
            </a:pPr>
            <a:r>
              <a:rPr lang="fr-FR" sz="1250" smtClean="0">
                <a:solidFill>
                  <a:srgbClr val="212121"/>
                </a:solidFill>
                <a:latin typeface="Segoe UI" panose="020B0502040204020203" pitchFamily="34" charset="0"/>
              </a:rPr>
              <a:t>Uniquement les API publiques de Jira</a:t>
            </a:r>
          </a:p>
          <a:p>
            <a:pPr marL="482600" indent="-203200">
              <a:spcAft>
                <a:spcPts val="900"/>
              </a:spcAft>
              <a:buClr>
                <a:srgbClr val="C8102E"/>
              </a:buClr>
              <a:buSzPct val="70000"/>
              <a:buFont typeface="Arial" panose="020B0604020202020204" pitchFamily="34" charset="0"/>
              <a:buChar char="■"/>
            </a:pPr>
            <a:r>
              <a:rPr lang="fr-FR" sz="1250" smtClean="0">
                <a:solidFill>
                  <a:srgbClr val="212121"/>
                </a:solidFill>
                <a:latin typeface="Segoe UI" panose="020B0502040204020203" pitchFamily="34" charset="0"/>
              </a:rPr>
              <a:t>Code cluster-safe (cache, verrous, scheduler)</a:t>
            </a:r>
          </a:p>
          <a:p>
            <a:pPr marL="482600" indent="-203200">
              <a:spcAft>
                <a:spcPts val="900"/>
              </a:spcAft>
              <a:buClr>
                <a:srgbClr val="C8102E"/>
              </a:buClr>
              <a:buSzPct val="70000"/>
              <a:buFont typeface="Arial" panose="020B0604020202020204" pitchFamily="34" charset="0"/>
              <a:buChar char="■"/>
            </a:pPr>
            <a:r>
              <a:rPr lang="fr-FR" sz="1250" smtClean="0">
                <a:solidFill>
                  <a:srgbClr val="212121"/>
                </a:solidFill>
                <a:latin typeface="Segoe UI" panose="020B0502040204020203" pitchFamily="34" charset="0"/>
              </a:rPr>
              <a:t>Logs via SLF4J, jamais System.out</a:t>
            </a:r>
          </a:p>
          <a:p>
            <a:pPr marL="482600" indent="-203200">
              <a:spcAft>
                <a:spcPts val="9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À chaque montée de version de Jira</a:t>
            </a:r>
            <a:r>
              <a:rPr lang="fr-FR" sz="1250" smtClean="0">
                <a:solidFill>
                  <a:srgbClr val="212121"/>
                </a:solidFill>
                <a:latin typeface="Segoe UI" panose="020B0502040204020203" pitchFamily="34" charset="0"/>
              </a:rPr>
              <a:t> : recompiler et retester</a:t>
            </a:r>
            <a:endParaRPr lang="en-US" sz="1250">
              <a:solidFill>
                <a:srgbClr val="212121"/>
              </a:solidFill>
              <a:latin typeface="Segoe UI" panose="020B0502040204020203" pitchFamily="34" charset="0"/>
            </a:endParaRPr>
          </a:p>
        </p:txBody>
      </p:sp>
      <p:sp>
        <p:nvSpPr>
          <p:cNvPr id="12" name="Rectangle 11"/>
          <p:cNvSpPr/>
          <p:nvPr/>
        </p:nvSpPr>
        <p:spPr>
          <a:xfrm>
            <a:off x="4318000" y="1244600"/>
            <a:ext cx="3556000" cy="49784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3" name="Rectangle 12"/>
          <p:cNvSpPr/>
          <p:nvPr/>
        </p:nvSpPr>
        <p:spPr>
          <a:xfrm>
            <a:off x="4318000" y="1244600"/>
            <a:ext cx="3556000" cy="5842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500" b="1" smtClean="0">
                <a:solidFill>
                  <a:srgbClr val="FFFFFF"/>
                </a:solidFill>
                <a:latin typeface="Segoe UI" panose="020B0502040204020203" pitchFamily="34" charset="0"/>
              </a:rPr>
              <a:t>Industrialisation</a:t>
            </a:r>
            <a:endParaRPr lang="en-US" sz="1500" b="1">
              <a:solidFill>
                <a:srgbClr val="FFFFFF"/>
              </a:solidFill>
              <a:latin typeface="Segoe UI" panose="020B0502040204020203" pitchFamily="34" charset="0"/>
            </a:endParaRPr>
          </a:p>
        </p:txBody>
      </p:sp>
      <p:sp>
        <p:nvSpPr>
          <p:cNvPr id="14" name="ZoneTexte 13"/>
          <p:cNvSpPr txBox="1"/>
          <p:nvPr/>
        </p:nvSpPr>
        <p:spPr>
          <a:xfrm>
            <a:off x="4521200" y="2032000"/>
            <a:ext cx="3175000" cy="369332"/>
          </a:xfrm>
          <a:prstGeom prst="rect">
            <a:avLst/>
          </a:prstGeom>
          <a:noFill/>
        </p:spPr>
        <p:txBody>
          <a:bodyPr vert="horz" wrap="square" lIns="0" tIns="0" rIns="0" bIns="0" rtlCol="0">
            <a:noAutofit/>
          </a:bodyPr>
          <a:lstStyle/>
          <a:p>
            <a:pPr marL="482600" indent="-203200">
              <a:spcAft>
                <a:spcPts val="900"/>
              </a:spcAft>
              <a:buClr>
                <a:srgbClr val="1C1C1C"/>
              </a:buClr>
              <a:buSzPct val="70000"/>
              <a:buFont typeface="Arial" panose="020B0604020202020204" pitchFamily="34" charset="0"/>
              <a:buChar char="■"/>
            </a:pPr>
            <a:r>
              <a:rPr lang="fr-FR" sz="1250" smtClean="0">
                <a:solidFill>
                  <a:srgbClr val="212121"/>
                </a:solidFill>
                <a:latin typeface="Segoe UI" panose="020B0502040204020203" pitchFamily="34" charset="0"/>
              </a:rPr>
              <a:t>Git + revue de code (pull requests)</a:t>
            </a:r>
          </a:p>
          <a:p>
            <a:pPr marL="482600" indent="-203200">
              <a:spcAft>
                <a:spcPts val="900"/>
              </a:spcAft>
              <a:buClr>
                <a:srgbClr val="1C1C1C"/>
              </a:buClr>
              <a:buSzPct val="70000"/>
              <a:buFont typeface="Arial" panose="020B0604020202020204" pitchFamily="34" charset="0"/>
              <a:buChar char="■"/>
            </a:pPr>
            <a:r>
              <a:rPr lang="fr-FR" sz="1250" b="1" smtClean="0">
                <a:solidFill>
                  <a:srgbClr val="212121"/>
                </a:solidFill>
                <a:latin typeface="Segoe UI" panose="020B0502040204020203" pitchFamily="34" charset="0"/>
              </a:rPr>
              <a:t>Intégration continue</a:t>
            </a:r>
            <a:r>
              <a:rPr lang="fr-FR" sz="1250" smtClean="0">
                <a:solidFill>
                  <a:srgbClr val="212121"/>
                </a:solidFill>
                <a:latin typeface="Segoe UI" panose="020B0502040204020203" pitchFamily="34" charset="0"/>
              </a:rPr>
              <a:t> : build et tests automatiques</a:t>
            </a:r>
          </a:p>
          <a:p>
            <a:pPr marL="482600" indent="-203200">
              <a:spcAft>
                <a:spcPts val="900"/>
              </a:spcAft>
              <a:buClr>
                <a:srgbClr val="1C1C1C"/>
              </a:buClr>
              <a:buSzPct val="70000"/>
              <a:buFont typeface="Arial" panose="020B0604020202020204" pitchFamily="34" charset="0"/>
              <a:buChar char="■"/>
            </a:pPr>
            <a:r>
              <a:rPr lang="fr-FR" sz="1250" smtClean="0">
                <a:solidFill>
                  <a:srgbClr val="212121"/>
                </a:solidFill>
                <a:latin typeface="Segoe UI" panose="020B0502040204020203" pitchFamily="34" charset="0"/>
              </a:rPr>
              <a:t>Versioning sémantique (1.2.0) + changelog</a:t>
            </a:r>
          </a:p>
          <a:p>
            <a:pPr marL="482600" indent="-203200">
              <a:spcAft>
                <a:spcPts val="900"/>
              </a:spcAft>
              <a:buClr>
                <a:srgbClr val="1C1C1C"/>
              </a:buClr>
              <a:buSzPct val="70000"/>
              <a:buFont typeface="Arial" panose="020B0604020202020204" pitchFamily="34" charset="0"/>
              <a:buChar char="■"/>
            </a:pPr>
            <a:r>
              <a:rPr lang="fr-FR" sz="1250" smtClean="0">
                <a:solidFill>
                  <a:srgbClr val="212121"/>
                </a:solidFill>
                <a:latin typeface="Segoe UI" panose="020B0502040204020203" pitchFamily="34" charset="0"/>
              </a:rPr>
              <a:t>Dépôt d'artefacts (Nexus / Artifactory)</a:t>
            </a:r>
          </a:p>
          <a:p>
            <a:pPr marL="482600" indent="-203200">
              <a:spcAft>
                <a:spcPts val="900"/>
              </a:spcAft>
              <a:buClr>
                <a:srgbClr val="1C1C1C"/>
              </a:buClr>
              <a:buSzPct val="70000"/>
              <a:buFont typeface="Arial" panose="020B0604020202020204" pitchFamily="34" charset="0"/>
              <a:buChar char="■"/>
            </a:pPr>
            <a:r>
              <a:rPr lang="fr-FR" sz="1250" smtClean="0">
                <a:solidFill>
                  <a:srgbClr val="212121"/>
                </a:solidFill>
                <a:latin typeface="Segoe UI" panose="020B0502040204020203" pitchFamily="34" charset="0"/>
              </a:rPr>
              <a:t>Documentation technique et utilisateur</a:t>
            </a:r>
            <a:endParaRPr lang="en-US" sz="1250">
              <a:solidFill>
                <a:srgbClr val="212121"/>
              </a:solidFill>
              <a:latin typeface="Segoe UI" panose="020B0502040204020203" pitchFamily="34" charset="0"/>
            </a:endParaRPr>
          </a:p>
        </p:txBody>
      </p:sp>
      <p:sp>
        <p:nvSpPr>
          <p:cNvPr id="15" name="Rectangle 14"/>
          <p:cNvSpPr/>
          <p:nvPr/>
        </p:nvSpPr>
        <p:spPr>
          <a:xfrm>
            <a:off x="8128000" y="1244600"/>
            <a:ext cx="3556000" cy="49784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6" name="Rectangle 15"/>
          <p:cNvSpPr/>
          <p:nvPr/>
        </p:nvSpPr>
        <p:spPr>
          <a:xfrm>
            <a:off x="8128000" y="1244600"/>
            <a:ext cx="3556000" cy="584200"/>
          </a:xfrm>
          <a:prstGeom prst="rect">
            <a:avLst/>
          </a:prstGeom>
          <a:solidFill>
            <a:srgbClr val="870A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500" b="1" smtClean="0">
                <a:solidFill>
                  <a:srgbClr val="FFFFFF"/>
                </a:solidFill>
                <a:latin typeface="Segoe UI" panose="020B0502040204020203" pitchFamily="34" charset="0"/>
              </a:rPr>
              <a:t>Sécurité &amp; performance</a:t>
            </a:r>
            <a:endParaRPr lang="en-US" sz="1500" b="1">
              <a:solidFill>
                <a:srgbClr val="FFFFFF"/>
              </a:solidFill>
              <a:latin typeface="Segoe UI" panose="020B0502040204020203" pitchFamily="34" charset="0"/>
            </a:endParaRPr>
          </a:p>
        </p:txBody>
      </p:sp>
      <p:sp>
        <p:nvSpPr>
          <p:cNvPr id="17" name="ZoneTexte 16"/>
          <p:cNvSpPr txBox="1"/>
          <p:nvPr/>
        </p:nvSpPr>
        <p:spPr>
          <a:xfrm>
            <a:off x="8331200" y="2032000"/>
            <a:ext cx="3175000" cy="369332"/>
          </a:xfrm>
          <a:prstGeom prst="rect">
            <a:avLst/>
          </a:prstGeom>
          <a:noFill/>
        </p:spPr>
        <p:txBody>
          <a:bodyPr vert="horz" wrap="square" lIns="0" tIns="0" rIns="0" bIns="0" rtlCol="0">
            <a:noAutofit/>
          </a:bodyPr>
          <a:lstStyle/>
          <a:p>
            <a:pPr marL="482600" indent="-203200">
              <a:spcAft>
                <a:spcPts val="900"/>
              </a:spcAft>
              <a:buClr>
                <a:srgbClr val="870A1E"/>
              </a:buClr>
              <a:buSzPct val="70000"/>
              <a:buFont typeface="Arial" panose="020B0604020202020204" pitchFamily="34" charset="0"/>
              <a:buChar char="■"/>
            </a:pPr>
            <a:r>
              <a:rPr lang="fr-FR" sz="1250" smtClean="0">
                <a:solidFill>
                  <a:srgbClr val="212121"/>
                </a:solidFill>
                <a:latin typeface="Segoe UI" panose="020B0502040204020203" pitchFamily="34" charset="0"/>
              </a:rPr>
              <a:t>Vérifier les permissions côté serveur</a:t>
            </a:r>
          </a:p>
          <a:p>
            <a:pPr marL="482600" indent="-203200">
              <a:spcAft>
                <a:spcPts val="900"/>
              </a:spcAft>
              <a:buClr>
                <a:srgbClr val="870A1E"/>
              </a:buClr>
              <a:buSzPct val="70000"/>
              <a:buFont typeface="Arial" panose="020B0604020202020204" pitchFamily="34" charset="0"/>
              <a:buChar char="■"/>
            </a:pPr>
            <a:r>
              <a:rPr lang="fr-FR" sz="1250" smtClean="0">
                <a:solidFill>
                  <a:srgbClr val="212121"/>
                </a:solidFill>
                <a:latin typeface="Segoe UI" panose="020B0502040204020203" pitchFamily="34" charset="0"/>
              </a:rPr>
              <a:t>Aucun secret en dur dans le code</a:t>
            </a:r>
          </a:p>
          <a:p>
            <a:pPr marL="482600" indent="-203200">
              <a:spcAft>
                <a:spcPts val="900"/>
              </a:spcAft>
              <a:buClr>
                <a:srgbClr val="870A1E"/>
              </a:buClr>
              <a:buSzPct val="70000"/>
              <a:buFont typeface="Arial" panose="020B0604020202020204" pitchFamily="34" charset="0"/>
              <a:buChar char="■"/>
            </a:pPr>
            <a:r>
              <a:rPr lang="fr-FR" sz="1250" smtClean="0">
                <a:solidFill>
                  <a:srgbClr val="212121"/>
                </a:solidFill>
                <a:latin typeface="Segoe UI" panose="020B0502040204020203" pitchFamily="34" charset="0"/>
              </a:rPr>
              <a:t>Traitements lourds en asynchrone, hors des listeners</a:t>
            </a:r>
          </a:p>
          <a:p>
            <a:pPr marL="482600" indent="-203200">
              <a:spcAft>
                <a:spcPts val="900"/>
              </a:spcAft>
              <a:buClr>
                <a:srgbClr val="870A1E"/>
              </a:buClr>
              <a:buSzPct val="70000"/>
              <a:buFont typeface="Arial" panose="020B0604020202020204" pitchFamily="34" charset="0"/>
              <a:buChar char="■"/>
            </a:pPr>
            <a:r>
              <a:rPr lang="fr-FR" sz="1250" smtClean="0">
                <a:solidFill>
                  <a:srgbClr val="212121"/>
                </a:solidFill>
                <a:latin typeface="Segoe UI" panose="020B0502040204020203" pitchFamily="34" charset="0"/>
              </a:rPr>
              <a:t>Dépendances à jour et sans vulnérabilité connue</a:t>
            </a:r>
          </a:p>
          <a:p>
            <a:pPr marL="482600" indent="-203200">
              <a:spcAft>
                <a:spcPts val="900"/>
              </a:spcAft>
              <a:buClr>
                <a:srgbClr val="870A1E"/>
              </a:buClr>
              <a:buSzPct val="70000"/>
              <a:buFont typeface="Arial" panose="020B0604020202020204" pitchFamily="34" charset="0"/>
              <a:buChar char="■"/>
            </a:pPr>
            <a:r>
              <a:rPr lang="fr-FR" sz="1250" smtClean="0">
                <a:solidFill>
                  <a:srgbClr val="212121"/>
                </a:solidFill>
                <a:latin typeface="Segoe UI" panose="020B0502040204020203" pitchFamily="34" charset="0"/>
              </a:rPr>
              <a:t>Tests de charge sur la recette Data Center</a:t>
            </a:r>
            <a:endParaRPr lang="en-US" sz="1250">
              <a:solidFill>
                <a:srgbClr val="212121"/>
              </a:solidFill>
              <a:latin typeface="Segoe UI" panose="020B0502040204020203" pitchFamily="34" charset="0"/>
            </a:endParaRPr>
          </a:p>
        </p:txBody>
      </p:sp>
    </p:spTree>
    <p:extLst>
      <p:ext uri="{BB962C8B-B14F-4D97-AF65-F5344CB8AC3E}">
        <p14:creationId xmlns:p14="http://schemas.microsoft.com/office/powerpoint/2010/main" val="311529499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C8102E"/>
                </a:solidFill>
                <a:latin typeface="Segoe UI" panose="020B0502040204020203" pitchFamily="34" charset="0"/>
              </a:rPr>
              <a:t>05 · PÉRENNISER</a:t>
            </a:r>
            <a:endParaRPr lang="en-US" sz="1000" b="1">
              <a:solidFill>
                <a:srgbClr val="C8102E"/>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fr-FR" sz="2400" b="1" smtClean="0">
                <a:solidFill>
                  <a:srgbClr val="212121"/>
                </a:solidFill>
                <a:latin typeface="Segoe UI" panose="020B0502040204020203" pitchFamily="34" charset="0"/>
              </a:rPr>
              <a:t>Cas concret : besoin métier (« jira-clarification-loop »)</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21</a:t>
            </a:r>
            <a:endParaRPr lang="en-US" sz="900">
              <a:solidFill>
                <a:srgbClr val="6E6E6E"/>
              </a:solidFill>
              <a:latin typeface="Segoe UI" panose="020B0502040204020203" pitchFamily="34" charset="0"/>
            </a:endParaRPr>
          </a:p>
        </p:txBody>
      </p:sp>
      <p:sp>
        <p:nvSpPr>
          <p:cNvPr id="9" name="Rectangle 8"/>
          <p:cNvSpPr/>
          <p:nvPr/>
        </p:nvSpPr>
        <p:spPr>
          <a:xfrm>
            <a:off x="508000" y="1244600"/>
            <a:ext cx="5334000" cy="22225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0" name="Rectangle 9"/>
          <p:cNvSpPr/>
          <p:nvPr/>
        </p:nvSpPr>
        <p:spPr>
          <a:xfrm>
            <a:off x="508000" y="1244600"/>
            <a:ext cx="63500" cy="22225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1" name="ZoneTexte 10"/>
          <p:cNvSpPr txBox="1"/>
          <p:nvPr/>
        </p:nvSpPr>
        <p:spPr>
          <a:xfrm>
            <a:off x="762000" y="1397000"/>
            <a:ext cx="4902200" cy="369332"/>
          </a:xfrm>
          <a:prstGeom prst="rect">
            <a:avLst/>
          </a:prstGeom>
          <a:noFill/>
        </p:spPr>
        <p:txBody>
          <a:bodyPr vert="horz" wrap="square" lIns="0" tIns="0" rIns="0" bIns="0" rtlCol="0">
            <a:noAutofit/>
          </a:bodyPr>
          <a:lstStyle/>
          <a:p>
            <a:r>
              <a:rPr lang="en-US" sz="1500" b="1" smtClean="0">
                <a:solidFill>
                  <a:srgbClr val="C8102E"/>
                </a:solidFill>
                <a:latin typeface="Segoe UI" panose="020B0502040204020203" pitchFamily="34" charset="0"/>
              </a:rPr>
              <a:t>1. Le besoin fonctionnel</a:t>
            </a:r>
            <a:endParaRPr lang="en-US" sz="1500" b="1">
              <a:solidFill>
                <a:srgbClr val="C8102E"/>
              </a:solidFill>
              <a:latin typeface="Segoe UI" panose="020B0502040204020203" pitchFamily="34" charset="0"/>
            </a:endParaRPr>
          </a:p>
        </p:txBody>
      </p:sp>
      <p:sp>
        <p:nvSpPr>
          <p:cNvPr id="12" name="ZoneTexte 11"/>
          <p:cNvSpPr txBox="1"/>
          <p:nvPr/>
        </p:nvSpPr>
        <p:spPr>
          <a:xfrm>
            <a:off x="762000" y="1727200"/>
            <a:ext cx="4902200" cy="369332"/>
          </a:xfrm>
          <a:prstGeom prst="rect">
            <a:avLst/>
          </a:prstGeom>
          <a:noFill/>
        </p:spPr>
        <p:txBody>
          <a:bodyPr vert="horz" wrap="square" lIns="0" tIns="0" rIns="0" bIns="0" rtlCol="0">
            <a:noAutofit/>
          </a:bodyPr>
          <a:lstStyle/>
          <a:p>
            <a:r>
              <a:rPr lang="fr-FR" sz="1250" smtClean="0">
                <a:solidFill>
                  <a:srgbClr val="212121"/>
                </a:solidFill>
                <a:latin typeface="Segoe UI" panose="020B0502040204020203" pitchFamily="34" charset="0"/>
              </a:rPr>
              <a:t>Lors de l'instruction d'un ticket, la personne en charge a régulièrement besoin de demander une précision ou un document à un autre collaborateur, de lui passer temporairement la main, puis de récupérer automatiquement le ticket dès que la réponse est fournie.</a:t>
            </a:r>
            <a:endParaRPr lang="en-US" sz="1250">
              <a:solidFill>
                <a:srgbClr val="212121"/>
              </a:solidFill>
              <a:latin typeface="Segoe UI" panose="020B0502040204020203" pitchFamily="34" charset="0"/>
            </a:endParaRPr>
          </a:p>
        </p:txBody>
      </p:sp>
      <p:sp>
        <p:nvSpPr>
          <p:cNvPr id="13" name="Rectangle 12"/>
          <p:cNvSpPr/>
          <p:nvPr/>
        </p:nvSpPr>
        <p:spPr>
          <a:xfrm>
            <a:off x="508000" y="3721100"/>
            <a:ext cx="5334000" cy="24765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4" name="Rectangle 13"/>
          <p:cNvSpPr/>
          <p:nvPr/>
        </p:nvSpPr>
        <p:spPr>
          <a:xfrm>
            <a:off x="508000" y="3721100"/>
            <a:ext cx="63500" cy="24765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5" name="ZoneTexte 14"/>
          <p:cNvSpPr txBox="1"/>
          <p:nvPr/>
        </p:nvSpPr>
        <p:spPr>
          <a:xfrm>
            <a:off x="762000" y="3873500"/>
            <a:ext cx="4902200" cy="369332"/>
          </a:xfrm>
          <a:prstGeom prst="rect">
            <a:avLst/>
          </a:prstGeom>
          <a:noFill/>
        </p:spPr>
        <p:txBody>
          <a:bodyPr vert="horz" wrap="square" lIns="0" tIns="0" rIns="0" bIns="0" rtlCol="0">
            <a:noAutofit/>
          </a:bodyPr>
          <a:lstStyle/>
          <a:p>
            <a:r>
              <a:rPr lang="fr-FR" sz="1500" b="1" smtClean="0">
                <a:solidFill>
                  <a:srgbClr val="1C1C1C"/>
                </a:solidFill>
                <a:latin typeface="Segoe UI" panose="020B0502040204020203" pitchFamily="34" charset="0"/>
              </a:rPr>
              <a:t>2. Les limites de l'approche par scripts (SIL)</a:t>
            </a:r>
            <a:endParaRPr lang="en-US" sz="1500" b="1">
              <a:solidFill>
                <a:srgbClr val="1C1C1C"/>
              </a:solidFill>
              <a:latin typeface="Segoe UI" panose="020B0502040204020203" pitchFamily="34" charset="0"/>
            </a:endParaRPr>
          </a:p>
        </p:txBody>
      </p:sp>
      <p:sp>
        <p:nvSpPr>
          <p:cNvPr id="16" name="ZoneTexte 15"/>
          <p:cNvSpPr txBox="1"/>
          <p:nvPr/>
        </p:nvSpPr>
        <p:spPr>
          <a:xfrm>
            <a:off x="762000" y="4203700"/>
            <a:ext cx="4902200" cy="369332"/>
          </a:xfrm>
          <a:prstGeom prst="rect">
            <a:avLst/>
          </a:prstGeom>
          <a:noFill/>
        </p:spPr>
        <p:txBody>
          <a:bodyPr vert="horz" wrap="square" lIns="0" tIns="0" rIns="0" bIns="0" rtlCol="0">
            <a:noAutofit/>
          </a:bodyPr>
          <a:lstStyle/>
          <a:p>
            <a:r>
              <a:rPr lang="fr-FR" sz="1250" smtClean="0">
                <a:solidFill>
                  <a:srgbClr val="212121"/>
                </a:solidFill>
                <a:latin typeface="Segoe UI" panose="020B0502040204020203" pitchFamily="34" charset="0"/>
              </a:rPr>
              <a:t>La solution historique en scripts SIL imposait de créer 4 champs personnalisés techniques (previousAssignee, question...), des écrans de transition dédiés et des post-fonctions à dupliquer sur chaque workflow de chaque projet.</a:t>
            </a:r>
            <a:endParaRPr lang="en-US" sz="1250">
              <a:solidFill>
                <a:srgbClr val="212121"/>
              </a:solidFill>
              <a:latin typeface="Segoe UI" panose="020B0502040204020203" pitchFamily="34" charset="0"/>
            </a:endParaRPr>
          </a:p>
        </p:txBody>
      </p:sp>
      <p:sp>
        <p:nvSpPr>
          <p:cNvPr id="17" name="Rectangle 16"/>
          <p:cNvSpPr/>
          <p:nvPr/>
        </p:nvSpPr>
        <p:spPr>
          <a:xfrm>
            <a:off x="6223000" y="1244600"/>
            <a:ext cx="5461000" cy="49530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8" name="Rectangle 17"/>
          <p:cNvSpPr/>
          <p:nvPr/>
        </p:nvSpPr>
        <p:spPr>
          <a:xfrm>
            <a:off x="6223000" y="1244600"/>
            <a:ext cx="5461000" cy="5588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fr-FR" sz="1500" b="1" smtClean="0">
                <a:solidFill>
                  <a:srgbClr val="FFFFFF"/>
                </a:solidFill>
                <a:latin typeface="Segoe UI" panose="020B0502040204020203" pitchFamily="34" charset="0"/>
              </a:rPr>
              <a:t>3. Pourquoi un plugin Java natif ?</a:t>
            </a:r>
            <a:endParaRPr lang="en-US" sz="1500" b="1">
              <a:solidFill>
                <a:srgbClr val="FFFFFF"/>
              </a:solidFill>
              <a:latin typeface="Segoe UI" panose="020B0502040204020203" pitchFamily="34" charset="0"/>
            </a:endParaRPr>
          </a:p>
        </p:txBody>
      </p:sp>
      <p:sp>
        <p:nvSpPr>
          <p:cNvPr id="19" name="ZoneTexte 18"/>
          <p:cNvSpPr txBox="1"/>
          <p:nvPr/>
        </p:nvSpPr>
        <p:spPr>
          <a:xfrm>
            <a:off x="6451600" y="1981200"/>
            <a:ext cx="5029200" cy="369332"/>
          </a:xfrm>
          <a:prstGeom prst="rect">
            <a:avLst/>
          </a:prstGeom>
          <a:noFill/>
        </p:spPr>
        <p:txBody>
          <a:bodyPr vert="horz" wrap="square" lIns="0" tIns="0" rIns="0" bIns="0" rtlCol="0">
            <a:noAutofit/>
          </a:bodyPr>
          <a:lstStyle/>
          <a:p>
            <a:pPr marL="482600" indent="-203200">
              <a:spcAft>
                <a:spcPts val="8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Zéro modification de workflow</a:t>
            </a:r>
            <a:r>
              <a:rPr lang="fr-FR" sz="1250" smtClean="0">
                <a:solidFill>
                  <a:srgbClr val="212121"/>
                </a:solidFill>
                <a:latin typeface="Segoe UI" panose="020B0502040204020203" pitchFamily="34" charset="0"/>
              </a:rPr>
              <a:t> : un panneau latéral unique disponible immédiatement sur tous les projets</a:t>
            </a:r>
          </a:p>
          <a:p>
            <a:pPr marL="482600" indent="-203200">
              <a:spcAft>
                <a:spcPts val="8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Aucun champ personnalisé technique</a:t>
            </a:r>
            <a:r>
              <a:rPr lang="fr-FR" sz="1250" smtClean="0">
                <a:solidFill>
                  <a:srgbClr val="212121"/>
                </a:solidFill>
                <a:latin typeface="Segoe UI" panose="020B0502040204020203" pitchFamily="34" charset="0"/>
              </a:rPr>
              <a:t> : stockage propre au plugin via SAL PluginSettings</a:t>
            </a:r>
          </a:p>
          <a:p>
            <a:pPr marL="482600" indent="-203200">
              <a:spcAft>
                <a:spcPts val="8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Boucle d'assignation automatique</a:t>
            </a:r>
            <a:r>
              <a:rPr lang="fr-FR" sz="1250" smtClean="0">
                <a:solidFill>
                  <a:srgbClr val="212121"/>
                </a:solidFill>
                <a:latin typeface="Segoe UI" panose="020B0502040204020203" pitchFamily="34" charset="0"/>
              </a:rPr>
              <a:t> : A sollicite B (assigné -&gt; B), B répond (assigné -&gt; A)</a:t>
            </a:r>
          </a:p>
          <a:p>
            <a:pPr marL="482600" indent="-203200">
              <a:spcAft>
                <a:spcPts val="8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Recherche globale</a:t>
            </a:r>
            <a:r>
              <a:rPr lang="fr-FR" sz="1250" smtClean="0">
                <a:solidFill>
                  <a:srgbClr val="212121"/>
                </a:solidFill>
                <a:latin typeface="Segoe UI" panose="020B0502040204020203" pitchFamily="34" charset="0"/>
              </a:rPr>
              <a:t> : sélection intuitive de n'importe quel utilisateur Jira avec autocomplétion</a:t>
            </a:r>
          </a:p>
          <a:p>
            <a:pPr marL="482600" indent="-203200">
              <a:spcAft>
                <a:spcPts val="8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Pièces jointes intégrées</a:t>
            </a:r>
            <a:r>
              <a:rPr lang="fr-FR" sz="1250" smtClean="0">
                <a:solidFill>
                  <a:srgbClr val="212121"/>
                </a:solidFill>
                <a:latin typeface="Segoe UI" panose="020B0502040204020203" pitchFamily="34" charset="0"/>
              </a:rPr>
              <a:t> : dépôt direct d'un fichier lors de la demande ou de la réponse</a:t>
            </a:r>
          </a:p>
          <a:p>
            <a:pPr marL="482600" indent="-203200">
              <a:spcAft>
                <a:spcPts val="8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Contrôle strict des droits</a:t>
            </a:r>
            <a:r>
              <a:rPr lang="fr-FR" sz="1250" smtClean="0">
                <a:solidFill>
                  <a:srgbClr val="212121"/>
                </a:solidFill>
                <a:latin typeface="Segoe UI" panose="020B0502040204020203" pitchFamily="34" charset="0"/>
              </a:rPr>
              <a:t> : seuls les acteurs légitimes peuvent agir sur le ticket</a:t>
            </a:r>
            <a:endParaRPr lang="en-US" sz="1250">
              <a:solidFill>
                <a:srgbClr val="212121"/>
              </a:solidFill>
              <a:latin typeface="Segoe UI" panose="020B0502040204020203" pitchFamily="34" charset="0"/>
            </a:endParaRPr>
          </a:p>
        </p:txBody>
      </p:sp>
    </p:spTree>
    <p:extLst>
      <p:ext uri="{BB962C8B-B14F-4D97-AF65-F5344CB8AC3E}">
        <p14:creationId xmlns:p14="http://schemas.microsoft.com/office/powerpoint/2010/main" val="203852030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C8102E"/>
                </a:solidFill>
                <a:latin typeface="Segoe UI" panose="020B0502040204020203" pitchFamily="34" charset="0"/>
              </a:rPr>
              <a:t>05 · PÉRENNISER</a:t>
            </a:r>
            <a:endParaRPr lang="en-US" sz="1000" b="1">
              <a:solidFill>
                <a:srgbClr val="C8102E"/>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fr-FR" sz="2400" b="1" smtClean="0">
                <a:solidFill>
                  <a:srgbClr val="212121"/>
                </a:solidFill>
                <a:latin typeface="Segoe UI" panose="020B0502040204020203" pitchFamily="34" charset="0"/>
              </a:rPr>
              <a:t>Cas concret : parcours fonctionnel et règles métier</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22</a:t>
            </a:r>
            <a:endParaRPr lang="en-US" sz="900">
              <a:solidFill>
                <a:srgbClr val="6E6E6E"/>
              </a:solidFill>
              <a:latin typeface="Segoe UI" panose="020B0502040204020203" pitchFamily="34" charset="0"/>
            </a:endParaRPr>
          </a:p>
        </p:txBody>
      </p:sp>
      <p:sp>
        <p:nvSpPr>
          <p:cNvPr id="9" name="Rectangle 8"/>
          <p:cNvSpPr/>
          <p:nvPr/>
        </p:nvSpPr>
        <p:spPr>
          <a:xfrm>
            <a:off x="508000" y="1219200"/>
            <a:ext cx="2565400" cy="4318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250" b="1" smtClean="0">
                <a:solidFill>
                  <a:srgbClr val="FFFFFF"/>
                </a:solidFill>
                <a:latin typeface="Segoe UI" panose="020B0502040204020203" pitchFamily="34" charset="0"/>
              </a:rPr>
              <a:t>1. Demande</a:t>
            </a:r>
            <a:endParaRPr lang="en-US" sz="1250" b="1">
              <a:solidFill>
                <a:srgbClr val="FFFFFF"/>
              </a:solidFill>
              <a:latin typeface="Segoe UI" panose="020B0502040204020203" pitchFamily="34" charset="0"/>
            </a:endParaRPr>
          </a:p>
        </p:txBody>
      </p:sp>
      <p:sp>
        <p:nvSpPr>
          <p:cNvPr id="10" name="Rectangle 9"/>
          <p:cNvSpPr/>
          <p:nvPr/>
        </p:nvSpPr>
        <p:spPr>
          <a:xfrm>
            <a:off x="508000" y="1651000"/>
            <a:ext cx="2565400" cy="8636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fr-FR" sz="1100" smtClean="0">
                <a:solidFill>
                  <a:srgbClr val="212121"/>
                </a:solidFill>
                <a:latin typeface="Segoe UI" panose="020B0502040204020203" pitchFamily="34" charset="0"/>
              </a:rPr>
              <a:t>L'assigné choisit un destinataire, saisit son commentaire et joint un fichier</a:t>
            </a:r>
            <a:endParaRPr lang="en-US" sz="1100">
              <a:solidFill>
                <a:srgbClr val="212121"/>
              </a:solidFill>
              <a:latin typeface="Segoe UI" panose="020B0502040204020203" pitchFamily="34" charset="0"/>
            </a:endParaRPr>
          </a:p>
        </p:txBody>
      </p:sp>
      <p:sp>
        <p:nvSpPr>
          <p:cNvPr id="11" name="Flèche droite 10"/>
          <p:cNvSpPr/>
          <p:nvPr/>
        </p:nvSpPr>
        <p:spPr>
          <a:xfrm>
            <a:off x="3124200" y="1727200"/>
            <a:ext cx="203200" cy="228600"/>
          </a:xfrm>
          <a:prstGeom prst="rightArrow">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2" name="Rectangle 11"/>
          <p:cNvSpPr/>
          <p:nvPr/>
        </p:nvSpPr>
        <p:spPr>
          <a:xfrm>
            <a:off x="3378200" y="1219200"/>
            <a:ext cx="2565400" cy="431800"/>
          </a:xfrm>
          <a:prstGeom prst="rect">
            <a:avLst/>
          </a:prstGeom>
          <a:solidFill>
            <a:srgbClr val="870A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250" b="1" smtClean="0">
                <a:solidFill>
                  <a:srgbClr val="FFFFFF"/>
                </a:solidFill>
                <a:latin typeface="Segoe UI" panose="020B0502040204020203" pitchFamily="34" charset="0"/>
              </a:rPr>
              <a:t>2. Assignation</a:t>
            </a:r>
            <a:endParaRPr lang="en-US" sz="1250" b="1">
              <a:solidFill>
                <a:srgbClr val="FFFFFF"/>
              </a:solidFill>
              <a:latin typeface="Segoe UI" panose="020B0502040204020203" pitchFamily="34" charset="0"/>
            </a:endParaRPr>
          </a:p>
        </p:txBody>
      </p:sp>
      <p:sp>
        <p:nvSpPr>
          <p:cNvPr id="13" name="Rectangle 12"/>
          <p:cNvSpPr/>
          <p:nvPr/>
        </p:nvSpPr>
        <p:spPr>
          <a:xfrm>
            <a:off x="3378200" y="1651000"/>
            <a:ext cx="2565400" cy="8636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fr-FR" sz="1100" smtClean="0">
                <a:solidFill>
                  <a:srgbClr val="212121"/>
                </a:solidFill>
                <a:latin typeface="Segoe UI" panose="020B0502040204020203" pitchFamily="34" charset="0"/>
              </a:rPr>
              <a:t>Statut EN ATTENTE, commentaire tracé et ticket assigné au destinataire</a:t>
            </a:r>
            <a:endParaRPr lang="en-US" sz="1100">
              <a:solidFill>
                <a:srgbClr val="212121"/>
              </a:solidFill>
              <a:latin typeface="Segoe UI" panose="020B0502040204020203" pitchFamily="34" charset="0"/>
            </a:endParaRPr>
          </a:p>
        </p:txBody>
      </p:sp>
      <p:sp>
        <p:nvSpPr>
          <p:cNvPr id="14" name="Flèche droite 13"/>
          <p:cNvSpPr/>
          <p:nvPr/>
        </p:nvSpPr>
        <p:spPr>
          <a:xfrm>
            <a:off x="5994400" y="1727200"/>
            <a:ext cx="203200" cy="228600"/>
          </a:xfrm>
          <a:prstGeom prst="rightArrow">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5" name="Rectangle 14"/>
          <p:cNvSpPr/>
          <p:nvPr/>
        </p:nvSpPr>
        <p:spPr>
          <a:xfrm>
            <a:off x="6248400" y="1219200"/>
            <a:ext cx="2565400" cy="431800"/>
          </a:xfrm>
          <a:prstGeom prst="rect">
            <a:avLst/>
          </a:prstGeom>
          <a:solidFill>
            <a:srgbClr val="4B4B4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250" b="1" smtClean="0">
                <a:solidFill>
                  <a:srgbClr val="FFFFFF"/>
                </a:solidFill>
                <a:latin typeface="Segoe UI" panose="020B0502040204020203" pitchFamily="34" charset="0"/>
              </a:rPr>
              <a:t>3. Réponse</a:t>
            </a:r>
            <a:endParaRPr lang="en-US" sz="1250" b="1">
              <a:solidFill>
                <a:srgbClr val="FFFFFF"/>
              </a:solidFill>
              <a:latin typeface="Segoe UI" panose="020B0502040204020203" pitchFamily="34" charset="0"/>
            </a:endParaRPr>
          </a:p>
        </p:txBody>
      </p:sp>
      <p:sp>
        <p:nvSpPr>
          <p:cNvPr id="16" name="Rectangle 15"/>
          <p:cNvSpPr/>
          <p:nvPr/>
        </p:nvSpPr>
        <p:spPr>
          <a:xfrm>
            <a:off x="6248400" y="1651000"/>
            <a:ext cx="2565400" cy="8636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fr-FR" sz="1100" smtClean="0">
                <a:solidFill>
                  <a:srgbClr val="212121"/>
                </a:solidFill>
                <a:latin typeface="Segoe UI" panose="020B0502040204020203" pitchFamily="34" charset="0"/>
              </a:rPr>
              <a:t>Le destinataire saisit sa réponse et joint le justificatif attendu</a:t>
            </a:r>
            <a:endParaRPr lang="en-US" sz="1100">
              <a:solidFill>
                <a:srgbClr val="212121"/>
              </a:solidFill>
              <a:latin typeface="Segoe UI" panose="020B0502040204020203" pitchFamily="34" charset="0"/>
            </a:endParaRPr>
          </a:p>
        </p:txBody>
      </p:sp>
      <p:sp>
        <p:nvSpPr>
          <p:cNvPr id="17" name="Flèche droite 16"/>
          <p:cNvSpPr/>
          <p:nvPr/>
        </p:nvSpPr>
        <p:spPr>
          <a:xfrm>
            <a:off x="8864600" y="1727200"/>
            <a:ext cx="203200" cy="228600"/>
          </a:xfrm>
          <a:prstGeom prst="rightArrow">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8" name="Rectangle 17"/>
          <p:cNvSpPr/>
          <p:nvPr/>
        </p:nvSpPr>
        <p:spPr>
          <a:xfrm>
            <a:off x="9118600" y="1219200"/>
            <a:ext cx="2565400" cy="4318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250" b="1" smtClean="0">
                <a:solidFill>
                  <a:srgbClr val="FFFFFF"/>
                </a:solidFill>
                <a:latin typeface="Segoe UI" panose="020B0502040204020203" pitchFamily="34" charset="0"/>
              </a:rPr>
              <a:t>4. Retour auto</a:t>
            </a:r>
            <a:endParaRPr lang="en-US" sz="1250" b="1">
              <a:solidFill>
                <a:srgbClr val="FFFFFF"/>
              </a:solidFill>
              <a:latin typeface="Segoe UI" panose="020B0502040204020203" pitchFamily="34" charset="0"/>
            </a:endParaRPr>
          </a:p>
        </p:txBody>
      </p:sp>
      <p:sp>
        <p:nvSpPr>
          <p:cNvPr id="19" name="Rectangle 18"/>
          <p:cNvSpPr/>
          <p:nvPr/>
        </p:nvSpPr>
        <p:spPr>
          <a:xfrm>
            <a:off x="9118600" y="1651000"/>
            <a:ext cx="2565400" cy="8636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fr-FR" sz="1100" smtClean="0">
                <a:solidFill>
                  <a:srgbClr val="212121"/>
                </a:solidFill>
                <a:latin typeface="Segoe UI" panose="020B0502040204020203" pitchFamily="34" charset="0"/>
              </a:rPr>
              <a:t>Statut RÉPONDU, réponse tracée et ticket réassigné à l'auteur initial</a:t>
            </a:r>
            <a:endParaRPr lang="en-US" sz="1100">
              <a:solidFill>
                <a:srgbClr val="212121"/>
              </a:solidFill>
              <a:latin typeface="Segoe UI" panose="020B0502040204020203" pitchFamily="34" charset="0"/>
            </a:endParaRPr>
          </a:p>
        </p:txBody>
      </p:sp>
      <p:graphicFrame>
        <p:nvGraphicFramePr>
          <p:cNvPr id="20" name="Tableau 19"/>
          <p:cNvGraphicFramePr>
            <a:graphicFrameLocks noGrp="1"/>
          </p:cNvGraphicFramePr>
          <p:nvPr>
            <p:extLst>
              <p:ext uri="{D42A27DB-BD31-4B8C-83A1-F6EECF244321}">
                <p14:modId xmlns:p14="http://schemas.microsoft.com/office/powerpoint/2010/main" val="2612280425"/>
              </p:ext>
            </p:extLst>
          </p:nvPr>
        </p:nvGraphicFramePr>
        <p:xfrm>
          <a:off x="508000" y="2717800"/>
          <a:ext cx="11176000" cy="2143760"/>
        </p:xfrm>
        <a:graphic>
          <a:graphicData uri="http://schemas.openxmlformats.org/drawingml/2006/table">
            <a:tbl>
              <a:tblPr firstRow="1" bandRow="1">
                <a:tableStyleId>{5C22544A-7EE6-4342-B048-85BDC9FD1C3A}</a:tableStyleId>
              </a:tblPr>
              <a:tblGrid>
                <a:gridCol w="2222500">
                  <a:extLst>
                    <a:ext uri="{9D8B030D-6E8A-4147-A177-3AD203B41FA5}">
                      <a16:colId xmlns:a16="http://schemas.microsoft.com/office/drawing/2014/main" val="2684196024"/>
                    </a:ext>
                  </a:extLst>
                </a:gridCol>
                <a:gridCol w="2857500">
                  <a:extLst>
                    <a:ext uri="{9D8B030D-6E8A-4147-A177-3AD203B41FA5}">
                      <a16:colId xmlns:a16="http://schemas.microsoft.com/office/drawing/2014/main" val="73415143"/>
                    </a:ext>
                  </a:extLst>
                </a:gridCol>
                <a:gridCol w="6096000">
                  <a:extLst>
                    <a:ext uri="{9D8B030D-6E8A-4147-A177-3AD203B41FA5}">
                      <a16:colId xmlns:a16="http://schemas.microsoft.com/office/drawing/2014/main" val="1147609596"/>
                    </a:ext>
                  </a:extLst>
                </a:gridCol>
              </a:tblGrid>
              <a:tr h="0">
                <a:tc>
                  <a:txBody>
                    <a:bodyPr/>
                    <a:lstStyle/>
                    <a:p>
                      <a:r>
                        <a:rPr lang="en-US" sz="1100" b="1" smtClean="0">
                          <a:solidFill>
                            <a:srgbClr val="FFFFFF"/>
                          </a:solidFill>
                          <a:latin typeface="Segoe UI" panose="020B0502040204020203" pitchFamily="34" charset="0"/>
                        </a:rPr>
                        <a:t>Action</a:t>
                      </a:r>
                      <a:endParaRPr lang="en-US" sz="1100" b="1">
                        <a:solidFill>
                          <a:srgbClr val="FFFFFF"/>
                        </a:solidFill>
                        <a:latin typeface="Segoe UI" panose="020B0502040204020203" pitchFamily="34" charset="0"/>
                      </a:endParaRPr>
                    </a:p>
                  </a:txBody>
                  <a:tcPr marL="101600" marR="101600" marT="63500" marB="63500" anchor="ctr">
                    <a:solidFill>
                      <a:srgbClr val="1C1C1C"/>
                    </a:solidFill>
                  </a:tcPr>
                </a:tc>
                <a:tc>
                  <a:txBody>
                    <a:bodyPr/>
                    <a:lstStyle/>
                    <a:p>
                      <a:r>
                        <a:rPr lang="en-US" sz="1100" b="1" smtClean="0">
                          <a:solidFill>
                            <a:srgbClr val="FFFFFF"/>
                          </a:solidFill>
                          <a:latin typeface="Segoe UI" panose="020B0502040204020203" pitchFamily="34" charset="0"/>
                        </a:rPr>
                        <a:t>Qui est autorisé ?</a:t>
                      </a:r>
                      <a:endParaRPr lang="en-US" sz="1100" b="1">
                        <a:solidFill>
                          <a:srgbClr val="FFFFFF"/>
                        </a:solidFill>
                        <a:latin typeface="Segoe UI" panose="020B0502040204020203" pitchFamily="34" charset="0"/>
                      </a:endParaRPr>
                    </a:p>
                  </a:txBody>
                  <a:tcPr marL="101600" marR="101600" marT="63500" marB="63500" anchor="ctr">
                    <a:solidFill>
                      <a:srgbClr val="1C1C1C"/>
                    </a:solidFill>
                  </a:tcPr>
                </a:tc>
                <a:tc>
                  <a:txBody>
                    <a:bodyPr/>
                    <a:lstStyle/>
                    <a:p>
                      <a:r>
                        <a:rPr lang="en-US" sz="1100" b="1" smtClean="0">
                          <a:solidFill>
                            <a:srgbClr val="FFFFFF"/>
                          </a:solidFill>
                          <a:latin typeface="Segoe UI" panose="020B0502040204020203" pitchFamily="34" charset="0"/>
                        </a:rPr>
                        <a:t>Contrôles appliqués (serveur + formulaire)</a:t>
                      </a:r>
                      <a:endParaRPr lang="en-US" sz="1100" b="1">
                        <a:solidFill>
                          <a:srgbClr val="FFFFFF"/>
                        </a:solidFill>
                        <a:latin typeface="Segoe UI" panose="020B0502040204020203" pitchFamily="34" charset="0"/>
                      </a:endParaRPr>
                    </a:p>
                  </a:txBody>
                  <a:tcPr marL="101600" marR="101600" marT="63500" marB="63500" anchor="ctr">
                    <a:solidFill>
                      <a:srgbClr val="1C1C1C"/>
                    </a:solidFill>
                  </a:tcPr>
                </a:tc>
                <a:extLst>
                  <a:ext uri="{0D108BD9-81ED-4DB2-BD59-A6C34878D82A}">
                    <a16:rowId xmlns:a16="http://schemas.microsoft.com/office/drawing/2014/main" val="1752508628"/>
                  </a:ext>
                </a:extLst>
              </a:tr>
              <a:tr h="0">
                <a:tc>
                  <a:txBody>
                    <a:bodyPr/>
                    <a:lstStyle/>
                    <a:p>
                      <a:r>
                        <a:rPr lang="en-US" sz="1100" b="1" smtClean="0">
                          <a:solidFill>
                            <a:srgbClr val="212121"/>
                          </a:solidFill>
                          <a:latin typeface="Segoe UI" panose="020B0502040204020203" pitchFamily="34" charset="0"/>
                        </a:rPr>
                        <a:t>Demander une précision</a:t>
                      </a:r>
                      <a:endParaRPr lang="en-US" sz="1100" b="1">
                        <a:solidFill>
                          <a:srgbClr val="212121"/>
                        </a:solidFill>
                        <a:latin typeface="Segoe UI" panose="020B0502040204020203" pitchFamily="34" charset="0"/>
                      </a:endParaRPr>
                    </a:p>
                  </a:txBody>
                  <a:tcPr marL="101600" marR="101600" marT="63500" marB="63500" anchor="ctr">
                    <a:solidFill>
                      <a:srgbClr val="F5F5F5"/>
                    </a:solidFill>
                  </a:tcPr>
                </a:tc>
                <a:tc>
                  <a:txBody>
                    <a:bodyPr/>
                    <a:lstStyle/>
                    <a:p>
                      <a:r>
                        <a:rPr lang="fr-FR" sz="1100" b="0" smtClean="0">
                          <a:solidFill>
                            <a:srgbClr val="212121"/>
                          </a:solidFill>
                          <a:latin typeface="Segoe UI" panose="020B0502040204020203" pitchFamily="34" charset="0"/>
                        </a:rPr>
                        <a:t>Uniquement l'assigné actuel du ticket</a:t>
                      </a:r>
                      <a:endParaRPr lang="en-US" sz="1100" b="0">
                        <a:solidFill>
                          <a:srgbClr val="212121"/>
                        </a:solidFill>
                        <a:latin typeface="Segoe UI" panose="020B0502040204020203" pitchFamily="34" charset="0"/>
                      </a:endParaRPr>
                    </a:p>
                  </a:txBody>
                  <a:tcPr marL="101600" marR="101600" marT="63500" marB="63500" anchor="ctr">
                    <a:solidFill>
                      <a:srgbClr val="F5F5F5"/>
                    </a:solidFill>
                  </a:tcPr>
                </a:tc>
                <a:tc>
                  <a:txBody>
                    <a:bodyPr/>
                    <a:lstStyle/>
                    <a:p>
                      <a:r>
                        <a:rPr lang="fr-FR" sz="1100" b="0" smtClean="0">
                          <a:solidFill>
                            <a:srgbClr val="212121"/>
                          </a:solidFill>
                          <a:latin typeface="Segoe UI" panose="020B0502040204020203" pitchFamily="34" charset="0"/>
                        </a:rPr>
                        <a:t>Ticket ouvert, aucune demande en attente, destinataire actif avec droit BROWSE_PROJECTS et distinct de soi-même</a:t>
                      </a:r>
                      <a:endParaRPr lang="en-US" sz="1100" b="0">
                        <a:solidFill>
                          <a:srgbClr val="212121"/>
                        </a:solidFill>
                        <a:latin typeface="Segoe UI" panose="020B0502040204020203" pitchFamily="34" charset="0"/>
                      </a:endParaRPr>
                    </a:p>
                  </a:txBody>
                  <a:tcPr marL="101600" marR="101600" marT="63500" marB="63500" anchor="ctr">
                    <a:solidFill>
                      <a:srgbClr val="F5F5F5"/>
                    </a:solidFill>
                  </a:tcPr>
                </a:tc>
                <a:extLst>
                  <a:ext uri="{0D108BD9-81ED-4DB2-BD59-A6C34878D82A}">
                    <a16:rowId xmlns:a16="http://schemas.microsoft.com/office/drawing/2014/main" val="256724090"/>
                  </a:ext>
                </a:extLst>
              </a:tr>
              <a:tr h="0">
                <a:tc>
                  <a:txBody>
                    <a:bodyPr/>
                    <a:lstStyle/>
                    <a:p>
                      <a:r>
                        <a:rPr lang="en-US" sz="1100" b="1" smtClean="0">
                          <a:solidFill>
                            <a:srgbClr val="212121"/>
                          </a:solidFill>
                          <a:latin typeface="Segoe UI" panose="020B0502040204020203" pitchFamily="34" charset="0"/>
                        </a:rPr>
                        <a:t>Répondre à la demande</a:t>
                      </a:r>
                      <a:endParaRPr lang="en-US" sz="1100" b="1">
                        <a:solidFill>
                          <a:srgbClr val="212121"/>
                        </a:solidFill>
                        <a:latin typeface="Segoe UI" panose="020B0502040204020203" pitchFamily="34" charset="0"/>
                      </a:endParaRPr>
                    </a:p>
                  </a:txBody>
                  <a:tcPr marL="101600" marR="101600" marT="63500" marB="63500" anchor="ctr">
                    <a:solidFill>
                      <a:srgbClr val="FFFFFF"/>
                    </a:solidFill>
                  </a:tcPr>
                </a:tc>
                <a:tc>
                  <a:txBody>
                    <a:bodyPr/>
                    <a:lstStyle/>
                    <a:p>
                      <a:r>
                        <a:rPr lang="en-US" sz="1100" b="0" smtClean="0">
                          <a:solidFill>
                            <a:srgbClr val="212121"/>
                          </a:solidFill>
                          <a:latin typeface="Segoe UI" panose="020B0502040204020203" pitchFamily="34" charset="0"/>
                        </a:rPr>
                        <a:t>Uniquement le destinataire désigné</a:t>
                      </a:r>
                      <a:endParaRPr lang="en-US" sz="1100" b="0">
                        <a:solidFill>
                          <a:srgbClr val="212121"/>
                        </a:solidFill>
                        <a:latin typeface="Segoe UI" panose="020B0502040204020203" pitchFamily="34" charset="0"/>
                      </a:endParaRPr>
                    </a:p>
                  </a:txBody>
                  <a:tcPr marL="101600" marR="101600" marT="63500" marB="63500" anchor="ctr">
                    <a:solidFill>
                      <a:srgbClr val="FFFFFF"/>
                    </a:solidFill>
                  </a:tcPr>
                </a:tc>
                <a:tc>
                  <a:txBody>
                    <a:bodyPr/>
                    <a:lstStyle/>
                    <a:p>
                      <a:r>
                        <a:rPr lang="fr-FR" sz="1100" b="0" smtClean="0">
                          <a:solidFill>
                            <a:srgbClr val="212121"/>
                          </a:solidFill>
                          <a:latin typeface="Segoe UI" panose="020B0502040204020203" pitchFamily="34" charset="0"/>
                        </a:rPr>
                        <a:t>Demande en statut PENDING, commentaire obligatoire, pièce jointe optionnelle, réassignation auto à l'auteur</a:t>
                      </a:r>
                      <a:endParaRPr lang="en-US" sz="1100" b="0">
                        <a:solidFill>
                          <a:srgbClr val="212121"/>
                        </a:solidFill>
                        <a:latin typeface="Segoe UI" panose="020B0502040204020203" pitchFamily="34" charset="0"/>
                      </a:endParaRPr>
                    </a:p>
                  </a:txBody>
                  <a:tcPr marL="101600" marR="101600" marT="63500" marB="63500" anchor="ctr">
                    <a:solidFill>
                      <a:srgbClr val="FFFFFF"/>
                    </a:solidFill>
                  </a:tcPr>
                </a:tc>
                <a:extLst>
                  <a:ext uri="{0D108BD9-81ED-4DB2-BD59-A6C34878D82A}">
                    <a16:rowId xmlns:a16="http://schemas.microsoft.com/office/drawing/2014/main" val="1417990755"/>
                  </a:ext>
                </a:extLst>
              </a:tr>
              <a:tr h="0">
                <a:tc>
                  <a:txBody>
                    <a:bodyPr/>
                    <a:lstStyle/>
                    <a:p>
                      <a:r>
                        <a:rPr lang="en-US" sz="1100" b="1" smtClean="0">
                          <a:solidFill>
                            <a:srgbClr val="212121"/>
                          </a:solidFill>
                          <a:latin typeface="Segoe UI" panose="020B0502040204020203" pitchFamily="34" charset="0"/>
                        </a:rPr>
                        <a:t>Annuler la demande</a:t>
                      </a:r>
                      <a:endParaRPr lang="en-US" sz="1100" b="1">
                        <a:solidFill>
                          <a:srgbClr val="212121"/>
                        </a:solidFill>
                        <a:latin typeface="Segoe UI" panose="020B0502040204020203" pitchFamily="34" charset="0"/>
                      </a:endParaRPr>
                    </a:p>
                  </a:txBody>
                  <a:tcPr marL="101600" marR="101600" marT="63500" marB="63500" anchor="ctr">
                    <a:solidFill>
                      <a:srgbClr val="F5F5F5"/>
                    </a:solidFill>
                  </a:tcPr>
                </a:tc>
                <a:tc>
                  <a:txBody>
                    <a:bodyPr/>
                    <a:lstStyle/>
                    <a:p>
                      <a:r>
                        <a:rPr lang="fr-FR" sz="1100" b="0" smtClean="0">
                          <a:solidFill>
                            <a:srgbClr val="212121"/>
                          </a:solidFill>
                          <a:latin typeface="Segoe UI" panose="020B0502040204020203" pitchFamily="34" charset="0"/>
                        </a:rPr>
                        <a:t>Uniquement l'auteur de la demande</a:t>
                      </a:r>
                      <a:endParaRPr lang="en-US" sz="1100" b="0">
                        <a:solidFill>
                          <a:srgbClr val="212121"/>
                        </a:solidFill>
                        <a:latin typeface="Segoe UI" panose="020B0502040204020203" pitchFamily="34" charset="0"/>
                      </a:endParaRPr>
                    </a:p>
                  </a:txBody>
                  <a:tcPr marL="101600" marR="101600" marT="63500" marB="63500" anchor="ctr">
                    <a:solidFill>
                      <a:srgbClr val="F5F5F5"/>
                    </a:solidFill>
                  </a:tcPr>
                </a:tc>
                <a:tc>
                  <a:txBody>
                    <a:bodyPr/>
                    <a:lstStyle/>
                    <a:p>
                      <a:r>
                        <a:rPr lang="fr-FR" sz="1100" b="0" smtClean="0">
                          <a:solidFill>
                            <a:srgbClr val="212121"/>
                          </a:solidFill>
                          <a:latin typeface="Segoe UI" panose="020B0502040204020203" pitchFamily="34" charset="0"/>
                        </a:rPr>
                        <a:t>Demande en statut PENDING, passage en CANCELLED et réassignation immédiate à l'auteur initial</a:t>
                      </a:r>
                      <a:endParaRPr lang="en-US" sz="1100" b="0">
                        <a:solidFill>
                          <a:srgbClr val="212121"/>
                        </a:solidFill>
                        <a:latin typeface="Segoe UI" panose="020B0502040204020203" pitchFamily="34" charset="0"/>
                      </a:endParaRPr>
                    </a:p>
                  </a:txBody>
                  <a:tcPr marL="101600" marR="101600" marT="63500" marB="63500" anchor="ctr">
                    <a:solidFill>
                      <a:srgbClr val="F5F5F5"/>
                    </a:solidFill>
                  </a:tcPr>
                </a:tc>
                <a:extLst>
                  <a:ext uri="{0D108BD9-81ED-4DB2-BD59-A6C34878D82A}">
                    <a16:rowId xmlns:a16="http://schemas.microsoft.com/office/drawing/2014/main" val="2337003825"/>
                  </a:ext>
                </a:extLst>
              </a:tr>
              <a:tr h="0">
                <a:tc>
                  <a:txBody>
                    <a:bodyPr/>
                    <a:lstStyle/>
                    <a:p>
                      <a:r>
                        <a:rPr lang="en-US" sz="1100" b="1" smtClean="0">
                          <a:solidFill>
                            <a:srgbClr val="212121"/>
                          </a:solidFill>
                          <a:latin typeface="Segoe UI" panose="020B0502040204020203" pitchFamily="34" charset="0"/>
                        </a:rPr>
                        <a:t>Consulter le panneau</a:t>
                      </a:r>
                      <a:endParaRPr lang="en-US" sz="1100" b="1">
                        <a:solidFill>
                          <a:srgbClr val="212121"/>
                        </a:solidFill>
                        <a:latin typeface="Segoe UI" panose="020B0502040204020203" pitchFamily="34" charset="0"/>
                      </a:endParaRPr>
                    </a:p>
                  </a:txBody>
                  <a:tcPr marL="101600" marR="101600" marT="63500" marB="63500" anchor="ctr">
                    <a:solidFill>
                      <a:srgbClr val="FFFFFF"/>
                    </a:solidFill>
                  </a:tcPr>
                </a:tc>
                <a:tc>
                  <a:txBody>
                    <a:bodyPr/>
                    <a:lstStyle/>
                    <a:p>
                      <a:r>
                        <a:rPr lang="en-US" sz="1100" b="0" smtClean="0">
                          <a:solidFill>
                            <a:srgbClr val="212121"/>
                          </a:solidFill>
                          <a:latin typeface="Segoe UI" panose="020B0502040204020203" pitchFamily="34" charset="0"/>
                        </a:rPr>
                        <a:t>Tout lecteur du ticket</a:t>
                      </a:r>
                      <a:endParaRPr lang="en-US" sz="1100" b="0">
                        <a:solidFill>
                          <a:srgbClr val="212121"/>
                        </a:solidFill>
                        <a:latin typeface="Segoe UI" panose="020B0502040204020203" pitchFamily="34" charset="0"/>
                      </a:endParaRPr>
                    </a:p>
                  </a:txBody>
                  <a:tcPr marL="101600" marR="101600" marT="63500" marB="63500" anchor="ctr">
                    <a:solidFill>
                      <a:srgbClr val="FFFFFF"/>
                    </a:solidFill>
                  </a:tcPr>
                </a:tc>
                <a:tc>
                  <a:txBody>
                    <a:bodyPr/>
                    <a:lstStyle/>
                    <a:p>
                      <a:r>
                        <a:rPr lang="fr-FR" sz="1100" b="0" smtClean="0">
                          <a:solidFill>
                            <a:srgbClr val="212121"/>
                          </a:solidFill>
                          <a:latin typeface="Segoe UI" panose="020B0502040204020203" pitchFamily="34" charset="0"/>
                        </a:rPr>
                        <a:t>Historique complet en lecture seule + bandeau explicatif indiquant qui peut effectuer la prochaine action</a:t>
                      </a:r>
                      <a:endParaRPr lang="en-US" sz="1100" b="0">
                        <a:solidFill>
                          <a:srgbClr val="212121"/>
                        </a:solidFill>
                        <a:latin typeface="Segoe UI" panose="020B0502040204020203" pitchFamily="34" charset="0"/>
                      </a:endParaRPr>
                    </a:p>
                  </a:txBody>
                  <a:tcPr marL="101600" marR="101600" marT="63500" marB="63500" anchor="ctr">
                    <a:solidFill>
                      <a:srgbClr val="FFFFFF"/>
                    </a:solidFill>
                  </a:tcPr>
                </a:tc>
                <a:extLst>
                  <a:ext uri="{0D108BD9-81ED-4DB2-BD59-A6C34878D82A}">
                    <a16:rowId xmlns:a16="http://schemas.microsoft.com/office/drawing/2014/main" val="4079674591"/>
                  </a:ext>
                </a:extLst>
              </a:tr>
            </a:tbl>
          </a:graphicData>
        </a:graphic>
      </p:graphicFrame>
    </p:spTree>
    <p:extLst>
      <p:ext uri="{BB962C8B-B14F-4D97-AF65-F5344CB8AC3E}">
        <p14:creationId xmlns:p14="http://schemas.microsoft.com/office/powerpoint/2010/main" val="260820088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C8102E"/>
                </a:solidFill>
                <a:latin typeface="Segoe UI" panose="020B0502040204020203" pitchFamily="34" charset="0"/>
              </a:rPr>
              <a:t>05 · PÉRENNISER</a:t>
            </a:r>
            <a:endParaRPr lang="en-US" sz="1000" b="1">
              <a:solidFill>
                <a:srgbClr val="C8102E"/>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fr-FR" sz="2400" b="1" smtClean="0">
                <a:solidFill>
                  <a:srgbClr val="212121"/>
                </a:solidFill>
                <a:latin typeface="Segoe UI" panose="020B0502040204020203" pitchFamily="34" charset="0"/>
              </a:rPr>
              <a:t>Cas concret : construction pas à pas (1/2 : Back-end)</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23</a:t>
            </a:r>
            <a:endParaRPr lang="en-US" sz="900">
              <a:solidFill>
                <a:srgbClr val="6E6E6E"/>
              </a:solidFill>
              <a:latin typeface="Segoe UI" panose="020B0502040204020203" pitchFamily="34" charset="0"/>
            </a:endParaRPr>
          </a:p>
        </p:txBody>
      </p:sp>
      <p:sp>
        <p:nvSpPr>
          <p:cNvPr id="9" name="Rectangle 8"/>
          <p:cNvSpPr/>
          <p:nvPr/>
        </p:nvSpPr>
        <p:spPr>
          <a:xfrm>
            <a:off x="508000" y="1219200"/>
            <a:ext cx="11176000" cy="14986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0" name="Rectangle 9"/>
          <p:cNvSpPr/>
          <p:nvPr/>
        </p:nvSpPr>
        <p:spPr>
          <a:xfrm>
            <a:off x="508000" y="1219200"/>
            <a:ext cx="63500" cy="14986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1" name="ZoneTexte 10"/>
          <p:cNvSpPr txBox="1"/>
          <p:nvPr/>
        </p:nvSpPr>
        <p:spPr>
          <a:xfrm>
            <a:off x="762000" y="1371600"/>
            <a:ext cx="10744200" cy="369332"/>
          </a:xfrm>
          <a:prstGeom prst="rect">
            <a:avLst/>
          </a:prstGeom>
          <a:noFill/>
        </p:spPr>
        <p:txBody>
          <a:bodyPr vert="horz" wrap="square" lIns="0" tIns="0" rIns="0" bIns="0" rtlCol="0">
            <a:noAutofit/>
          </a:bodyPr>
          <a:lstStyle/>
          <a:p>
            <a:r>
              <a:rPr lang="fr-FR" sz="1450" b="1" smtClean="0">
                <a:solidFill>
                  <a:srgbClr val="1C1C1C"/>
                </a:solidFill>
                <a:latin typeface="Segoe UI" panose="020B0502040204020203" pitchFamily="34" charset="0"/>
              </a:rPr>
              <a:t>Étape 1 : Configuration Maven &amp; OSGi (pom.xml)</a:t>
            </a:r>
            <a:endParaRPr lang="en-US" sz="1450" b="1">
              <a:solidFill>
                <a:srgbClr val="1C1C1C"/>
              </a:solidFill>
              <a:latin typeface="Segoe UI" panose="020B0502040204020203" pitchFamily="34" charset="0"/>
            </a:endParaRPr>
          </a:p>
        </p:txBody>
      </p:sp>
      <p:sp>
        <p:nvSpPr>
          <p:cNvPr id="12" name="ZoneTexte 11"/>
          <p:cNvSpPr txBox="1"/>
          <p:nvPr/>
        </p:nvSpPr>
        <p:spPr>
          <a:xfrm>
            <a:off x="762000" y="1701800"/>
            <a:ext cx="10744200" cy="369332"/>
          </a:xfrm>
          <a:prstGeom prst="rect">
            <a:avLst/>
          </a:prstGeom>
          <a:noFill/>
        </p:spPr>
        <p:txBody>
          <a:bodyPr vert="horz" wrap="square" lIns="0" tIns="0" rIns="0" bIns="0" rtlCol="0">
            <a:noAutofit/>
          </a:bodyPr>
          <a:lstStyle/>
          <a:p>
            <a:r>
              <a:rPr lang="en-US" sz="1200" smtClean="0">
                <a:solidFill>
                  <a:srgbClr val="212121"/>
                </a:solidFill>
                <a:latin typeface="Segoe UI" panose="020B0502040204020203" pitchFamily="34" charset="0"/>
              </a:rPr>
              <a:t>Ciblage de Jira Data Center 10.3.5 et Java 17. Ajout d'Atlassian Spring Scanner 2 pour la détection des annotations (@Named, @Inject, @ComponentImport) et des dépendances spring-beans / spring-context en scope provided. Embarquement inline de Gson (&lt;Embed-Dependency&gt;gson;inline=true&lt;/Embed-Dependency&gt;) pour respecter l'isolation OSGi DMZ de Jira 10.</a:t>
            </a:r>
            <a:endParaRPr lang="en-US" sz="1200">
              <a:solidFill>
                <a:srgbClr val="212121"/>
              </a:solidFill>
              <a:latin typeface="Segoe UI" panose="020B0502040204020203" pitchFamily="34" charset="0"/>
            </a:endParaRPr>
          </a:p>
        </p:txBody>
      </p:sp>
      <p:sp>
        <p:nvSpPr>
          <p:cNvPr id="13" name="Rectangle 12"/>
          <p:cNvSpPr/>
          <p:nvPr/>
        </p:nvSpPr>
        <p:spPr>
          <a:xfrm>
            <a:off x="508000" y="2895600"/>
            <a:ext cx="11176000" cy="14986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4" name="Rectangle 13"/>
          <p:cNvSpPr/>
          <p:nvPr/>
        </p:nvSpPr>
        <p:spPr>
          <a:xfrm>
            <a:off x="508000" y="2895600"/>
            <a:ext cx="63500" cy="14986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5" name="ZoneTexte 14"/>
          <p:cNvSpPr txBox="1"/>
          <p:nvPr/>
        </p:nvSpPr>
        <p:spPr>
          <a:xfrm>
            <a:off x="762000" y="3048000"/>
            <a:ext cx="10744200" cy="369332"/>
          </a:xfrm>
          <a:prstGeom prst="rect">
            <a:avLst/>
          </a:prstGeom>
          <a:noFill/>
        </p:spPr>
        <p:txBody>
          <a:bodyPr vert="horz" wrap="square" lIns="0" tIns="0" rIns="0" bIns="0" rtlCol="0">
            <a:noAutofit/>
          </a:bodyPr>
          <a:lstStyle/>
          <a:p>
            <a:r>
              <a:rPr lang="fr-FR" sz="1450" b="1" smtClean="0">
                <a:solidFill>
                  <a:srgbClr val="C8102E"/>
                </a:solidFill>
                <a:latin typeface="Segoe UI" panose="020B0502040204020203" pitchFamily="34" charset="0"/>
              </a:rPr>
              <a:t>Étape 2 : Déclaration des modules dans atlassian-plugin.xml</a:t>
            </a:r>
            <a:endParaRPr lang="en-US" sz="1450" b="1">
              <a:solidFill>
                <a:srgbClr val="C8102E"/>
              </a:solidFill>
              <a:latin typeface="Segoe UI" panose="020B0502040204020203" pitchFamily="34" charset="0"/>
            </a:endParaRPr>
          </a:p>
        </p:txBody>
      </p:sp>
      <p:sp>
        <p:nvSpPr>
          <p:cNvPr id="16" name="ZoneTexte 15"/>
          <p:cNvSpPr txBox="1"/>
          <p:nvPr/>
        </p:nvSpPr>
        <p:spPr>
          <a:xfrm>
            <a:off x="762000" y="3378200"/>
            <a:ext cx="10744200" cy="369332"/>
          </a:xfrm>
          <a:prstGeom prst="rect">
            <a:avLst/>
          </a:prstGeom>
          <a:noFill/>
        </p:spPr>
        <p:txBody>
          <a:bodyPr vert="horz" wrap="square" lIns="0" tIns="0" rIns="0" bIns="0" rtlCol="0">
            <a:noAutofit/>
          </a:bodyPr>
          <a:lstStyle/>
          <a:p>
            <a:r>
              <a:rPr lang="en-US" sz="1200" smtClean="0">
                <a:solidFill>
                  <a:srgbClr val="212121"/>
                </a:solidFill>
                <a:latin typeface="Segoe UI" panose="020B0502040204020203" pitchFamily="34" charset="0"/>
              </a:rPr>
              <a:t>Déclaration de 3 modules complémentaires : (1) web-panel « clarification-panel » injecté dans atl.jira.view.issue.right.context pour afficher le bloc à droite du ticket, (2) web-resource « clarification-resources-v3 » chargé sur le contexte jira.view.issue, et (3) rest « clarification-rest » exposé sur /clarification en version 1.0.</a:t>
            </a:r>
            <a:endParaRPr lang="en-US" sz="1200">
              <a:solidFill>
                <a:srgbClr val="212121"/>
              </a:solidFill>
              <a:latin typeface="Segoe UI" panose="020B0502040204020203" pitchFamily="34" charset="0"/>
            </a:endParaRPr>
          </a:p>
        </p:txBody>
      </p:sp>
      <p:sp>
        <p:nvSpPr>
          <p:cNvPr id="17" name="Rectangle 16"/>
          <p:cNvSpPr/>
          <p:nvPr/>
        </p:nvSpPr>
        <p:spPr>
          <a:xfrm>
            <a:off x="508000" y="4572000"/>
            <a:ext cx="11176000" cy="16764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8" name="Rectangle 17"/>
          <p:cNvSpPr/>
          <p:nvPr/>
        </p:nvSpPr>
        <p:spPr>
          <a:xfrm>
            <a:off x="508000" y="4572000"/>
            <a:ext cx="63500" cy="1676400"/>
          </a:xfrm>
          <a:prstGeom prst="rect">
            <a:avLst/>
          </a:prstGeom>
          <a:solidFill>
            <a:srgbClr val="870A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9" name="ZoneTexte 18"/>
          <p:cNvSpPr txBox="1"/>
          <p:nvPr/>
        </p:nvSpPr>
        <p:spPr>
          <a:xfrm>
            <a:off x="762000" y="4724400"/>
            <a:ext cx="10744200" cy="369332"/>
          </a:xfrm>
          <a:prstGeom prst="rect">
            <a:avLst/>
          </a:prstGeom>
          <a:noFill/>
        </p:spPr>
        <p:txBody>
          <a:bodyPr vert="horz" wrap="square" lIns="0" tIns="0" rIns="0" bIns="0" rtlCol="0">
            <a:noAutofit/>
          </a:bodyPr>
          <a:lstStyle/>
          <a:p>
            <a:r>
              <a:rPr lang="fr-FR" sz="1450" b="1" smtClean="0">
                <a:solidFill>
                  <a:srgbClr val="870A1E"/>
                </a:solidFill>
                <a:latin typeface="Segoe UI" panose="020B0502040204020203" pitchFamily="34" charset="0"/>
              </a:rPr>
              <a:t>Étape 3 : Couche métier Java (api/ et impl/)</a:t>
            </a:r>
            <a:endParaRPr lang="en-US" sz="1450" b="1">
              <a:solidFill>
                <a:srgbClr val="870A1E"/>
              </a:solidFill>
              <a:latin typeface="Segoe UI" panose="020B0502040204020203" pitchFamily="34" charset="0"/>
            </a:endParaRPr>
          </a:p>
        </p:txBody>
      </p:sp>
      <p:sp>
        <p:nvSpPr>
          <p:cNvPr id="20" name="ZoneTexte 19"/>
          <p:cNvSpPr txBox="1"/>
          <p:nvPr/>
        </p:nvSpPr>
        <p:spPr>
          <a:xfrm>
            <a:off x="762000" y="5054600"/>
            <a:ext cx="10744200" cy="369332"/>
          </a:xfrm>
          <a:prstGeom prst="rect">
            <a:avLst/>
          </a:prstGeom>
          <a:noFill/>
        </p:spPr>
        <p:txBody>
          <a:bodyPr vert="horz" wrap="square" lIns="0" tIns="0" rIns="0" bIns="0" rtlCol="0">
            <a:noAutofit/>
          </a:bodyPr>
          <a:lstStyle/>
          <a:p>
            <a:r>
              <a:rPr lang="fr-FR" sz="1200" smtClean="0">
                <a:solidFill>
                  <a:srgbClr val="212121"/>
                </a:solidFill>
                <a:latin typeface="Segoe UI" panose="020B0502040204020203" pitchFamily="34" charset="0"/>
              </a:rPr>
              <a:t>Création du contrat ClarificationService, du modèle ClarificationEntry, de l'objet ClarificationPermissions et de l'exception ClarificationException (portant le champ en erreur et le code HTTP). Implémentation dans ClarificationServiceImpl : persistance JSON par ticket via PluginSettingsFactory, contrôle des droits via PermissionManager, réassignation via IssueManager et commentaire structuré via CommentManager.</a:t>
            </a:r>
            <a:endParaRPr lang="en-US" sz="1200">
              <a:solidFill>
                <a:srgbClr val="212121"/>
              </a:solidFill>
              <a:latin typeface="Segoe UI" panose="020B0502040204020203" pitchFamily="34" charset="0"/>
            </a:endParaRPr>
          </a:p>
        </p:txBody>
      </p:sp>
    </p:spTree>
    <p:extLst>
      <p:ext uri="{BB962C8B-B14F-4D97-AF65-F5344CB8AC3E}">
        <p14:creationId xmlns:p14="http://schemas.microsoft.com/office/powerpoint/2010/main" val="202995152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C8102E"/>
                </a:solidFill>
                <a:latin typeface="Segoe UI" panose="020B0502040204020203" pitchFamily="34" charset="0"/>
              </a:rPr>
              <a:t>05 · PÉRENNISER</a:t>
            </a:r>
            <a:endParaRPr lang="en-US" sz="1000" b="1">
              <a:solidFill>
                <a:srgbClr val="C8102E"/>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fr-FR" sz="2400" b="1" smtClean="0">
                <a:solidFill>
                  <a:srgbClr val="212121"/>
                </a:solidFill>
                <a:latin typeface="Segoe UI" panose="020B0502040204020203" pitchFamily="34" charset="0"/>
              </a:rPr>
              <a:t>Cas concret : construction pas à pas (2/2 : REST &amp; UI)</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24</a:t>
            </a:r>
            <a:endParaRPr lang="en-US" sz="900">
              <a:solidFill>
                <a:srgbClr val="6E6E6E"/>
              </a:solidFill>
              <a:latin typeface="Segoe UI" panose="020B0502040204020203" pitchFamily="34" charset="0"/>
            </a:endParaRPr>
          </a:p>
        </p:txBody>
      </p:sp>
      <p:sp>
        <p:nvSpPr>
          <p:cNvPr id="9" name="Rectangle 8"/>
          <p:cNvSpPr/>
          <p:nvPr/>
        </p:nvSpPr>
        <p:spPr>
          <a:xfrm>
            <a:off x="508000" y="1219200"/>
            <a:ext cx="5397500" cy="50038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0" name="Rectangle 9"/>
          <p:cNvSpPr/>
          <p:nvPr/>
        </p:nvSpPr>
        <p:spPr>
          <a:xfrm>
            <a:off x="508000" y="1219200"/>
            <a:ext cx="5397500" cy="584200"/>
          </a:xfrm>
          <a:prstGeom prst="rect">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fr-FR" sz="1500" b="1" smtClean="0">
                <a:solidFill>
                  <a:srgbClr val="FFFFFF"/>
                </a:solidFill>
                <a:latin typeface="Segoe UI" panose="020B0502040204020203" pitchFamily="34" charset="0"/>
              </a:rPr>
              <a:t>Étape 4 : API REST (ClarificationRestResource)</a:t>
            </a:r>
            <a:endParaRPr lang="en-US" sz="1500" b="1">
              <a:solidFill>
                <a:srgbClr val="FFFFFF"/>
              </a:solidFill>
              <a:latin typeface="Segoe UI" panose="020B0502040204020203" pitchFamily="34" charset="0"/>
            </a:endParaRPr>
          </a:p>
        </p:txBody>
      </p:sp>
      <p:sp>
        <p:nvSpPr>
          <p:cNvPr id="11" name="ZoneTexte 10"/>
          <p:cNvSpPr txBox="1"/>
          <p:nvPr/>
        </p:nvSpPr>
        <p:spPr>
          <a:xfrm>
            <a:off x="711200" y="2006600"/>
            <a:ext cx="5016500" cy="369332"/>
          </a:xfrm>
          <a:prstGeom prst="rect">
            <a:avLst/>
          </a:prstGeom>
          <a:noFill/>
        </p:spPr>
        <p:txBody>
          <a:bodyPr vert="horz" wrap="square" lIns="0" tIns="0" rIns="0" bIns="0" rtlCol="0">
            <a:noAutofit/>
          </a:bodyPr>
          <a:lstStyle/>
          <a:p>
            <a:pPr marL="482600" indent="-203200">
              <a:spcAft>
                <a:spcPts val="900"/>
              </a:spcAft>
              <a:buClr>
                <a:srgbClr val="1C1C1C"/>
              </a:buClr>
              <a:buSzPct val="70000"/>
              <a:buFont typeface="Arial" panose="020B0604020202020204" pitchFamily="34" charset="0"/>
              <a:buChar char="■"/>
            </a:pPr>
            <a:r>
              <a:rPr lang="fr-FR" sz="1200" b="1" smtClean="0">
                <a:solidFill>
                  <a:srgbClr val="212121"/>
                </a:solidFill>
                <a:latin typeface="Segoe UI" panose="020B0502040204020203" pitchFamily="34" charset="0"/>
              </a:rPr>
              <a:t>GET /rest/clarification/1.0/issue/{key}</a:t>
            </a:r>
            <a:r>
              <a:rPr lang="fr-FR" sz="1200" smtClean="0">
                <a:solidFill>
                  <a:srgbClr val="212121"/>
                </a:solidFill>
                <a:latin typeface="Segoe UI" panose="020B0502040204020203" pitchFamily="34" charset="0"/>
              </a:rPr>
              <a:t> : retourne l'historique complet et les permissions calculées pour l'utilisateur connecté</a:t>
            </a:r>
          </a:p>
          <a:p>
            <a:pPr marL="482600" indent="-203200">
              <a:spcAft>
                <a:spcPts val="900"/>
              </a:spcAft>
              <a:buClr>
                <a:srgbClr val="1C1C1C"/>
              </a:buClr>
              <a:buSzPct val="70000"/>
              <a:buFont typeface="Arial" panose="020B0604020202020204" pitchFamily="34" charset="0"/>
              <a:buChar char="■"/>
            </a:pPr>
            <a:r>
              <a:rPr lang="fr-FR" sz="1200" b="1" smtClean="0">
                <a:solidFill>
                  <a:srgbClr val="212121"/>
                </a:solidFill>
                <a:latin typeface="Segoe UI" panose="020B0502040204020203" pitchFamily="34" charset="0"/>
              </a:rPr>
              <a:t>POST .../request</a:t>
            </a:r>
            <a:r>
              <a:rPr lang="fr-FR" sz="1200" smtClean="0">
                <a:solidFill>
                  <a:srgbClr val="212121"/>
                </a:solidFill>
                <a:latin typeface="Segoe UI" panose="020B0502040204020203" pitchFamily="34" charset="0"/>
              </a:rPr>
              <a:t> : vérifie les droits et les champs, supporte validateOnly=true avant upload de pièce jointe</a:t>
            </a:r>
          </a:p>
          <a:p>
            <a:pPr marL="482600" indent="-203200">
              <a:spcAft>
                <a:spcPts val="900"/>
              </a:spcAft>
              <a:buClr>
                <a:srgbClr val="1C1C1C"/>
              </a:buClr>
              <a:buSzPct val="70000"/>
              <a:buFont typeface="Arial" panose="020B0604020202020204" pitchFamily="34" charset="0"/>
              <a:buChar char="■"/>
            </a:pPr>
            <a:r>
              <a:rPr lang="fr-FR" sz="1200" b="1" smtClean="0">
                <a:solidFill>
                  <a:srgbClr val="212121"/>
                </a:solidFill>
                <a:latin typeface="Segoe UI" panose="020B0502040204020203" pitchFamily="34" charset="0"/>
              </a:rPr>
              <a:t>POST .../reply</a:t>
            </a:r>
            <a:r>
              <a:rPr lang="fr-FR" sz="1200" smtClean="0">
                <a:solidFill>
                  <a:srgbClr val="212121"/>
                </a:solidFill>
                <a:latin typeface="Segoe UI" panose="020B0502040204020203" pitchFamily="34" charset="0"/>
              </a:rPr>
              <a:t> : enregistre la réponse du destinataire et réassigne le ticket au demandeur</a:t>
            </a:r>
          </a:p>
          <a:p>
            <a:pPr marL="482600" indent="-203200">
              <a:spcAft>
                <a:spcPts val="900"/>
              </a:spcAft>
              <a:buClr>
                <a:srgbClr val="1C1C1C"/>
              </a:buClr>
              <a:buSzPct val="70000"/>
              <a:buFont typeface="Arial" panose="020B0604020202020204" pitchFamily="34" charset="0"/>
              <a:buChar char="■"/>
            </a:pPr>
            <a:r>
              <a:rPr lang="fr-FR" sz="1200" b="1" smtClean="0">
                <a:solidFill>
                  <a:srgbClr val="212121"/>
                </a:solidFill>
                <a:latin typeface="Segoe UI" panose="020B0502040204020203" pitchFamily="34" charset="0"/>
              </a:rPr>
              <a:t>POST .../cancel</a:t>
            </a:r>
            <a:r>
              <a:rPr lang="fr-FR" sz="1200" smtClean="0">
                <a:solidFill>
                  <a:srgbClr val="212121"/>
                </a:solidFill>
                <a:latin typeface="Segoe UI" panose="020B0502040204020203" pitchFamily="34" charset="0"/>
              </a:rPr>
              <a:t> : permet à l'auteur d'annuler sa demande et de récupérer le ticket</a:t>
            </a:r>
          </a:p>
          <a:p>
            <a:pPr marL="482600" indent="-203200">
              <a:spcAft>
                <a:spcPts val="900"/>
              </a:spcAft>
              <a:buClr>
                <a:srgbClr val="1C1C1C"/>
              </a:buClr>
              <a:buSzPct val="70000"/>
              <a:buFont typeface="Arial" panose="020B0604020202020204" pitchFamily="34" charset="0"/>
              <a:buChar char="■"/>
            </a:pPr>
            <a:r>
              <a:rPr lang="fr-FR" sz="1200" b="1" smtClean="0">
                <a:solidFill>
                  <a:srgbClr val="212121"/>
                </a:solidFill>
                <a:latin typeface="Segoe UI" panose="020B0502040204020203" pitchFamily="34" charset="0"/>
              </a:rPr>
              <a:t>Réponses d'erreur JSON normalisées</a:t>
            </a:r>
            <a:r>
              <a:rPr lang="fr-FR" sz="1200" smtClean="0">
                <a:solidFill>
                  <a:srgbClr val="212121"/>
                </a:solidFill>
                <a:latin typeface="Segoe UI" panose="020B0502040204020203" pitchFamily="34" charset="0"/>
              </a:rPr>
              <a:t> : { error, field } avec codes HTTP 400, 401 ou 403</a:t>
            </a:r>
            <a:endParaRPr lang="en-US" sz="1200">
              <a:solidFill>
                <a:srgbClr val="212121"/>
              </a:solidFill>
              <a:latin typeface="Segoe UI" panose="020B0502040204020203" pitchFamily="34" charset="0"/>
            </a:endParaRPr>
          </a:p>
        </p:txBody>
      </p:sp>
      <p:sp>
        <p:nvSpPr>
          <p:cNvPr id="12" name="Rectangle 11"/>
          <p:cNvSpPr/>
          <p:nvPr/>
        </p:nvSpPr>
        <p:spPr>
          <a:xfrm>
            <a:off x="6286500" y="1219200"/>
            <a:ext cx="5397500" cy="50038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13" name="Rectangle 12"/>
          <p:cNvSpPr/>
          <p:nvPr/>
        </p:nvSpPr>
        <p:spPr>
          <a:xfrm>
            <a:off x="6286500" y="1219200"/>
            <a:ext cx="5397500" cy="5842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500" b="1" smtClean="0">
                <a:solidFill>
                  <a:srgbClr val="FFFFFF"/>
                </a:solidFill>
                <a:latin typeface="Segoe UI" panose="020B0502040204020203" pitchFamily="34" charset="0"/>
              </a:rPr>
              <a:t>Étape 5 : Front-end (Velocity, JS &amp; CSS)</a:t>
            </a:r>
            <a:endParaRPr lang="en-US" sz="1500" b="1">
              <a:solidFill>
                <a:srgbClr val="FFFFFF"/>
              </a:solidFill>
              <a:latin typeface="Segoe UI" panose="020B0502040204020203" pitchFamily="34" charset="0"/>
            </a:endParaRPr>
          </a:p>
        </p:txBody>
      </p:sp>
      <p:sp>
        <p:nvSpPr>
          <p:cNvPr id="14" name="ZoneTexte 13"/>
          <p:cNvSpPr txBox="1"/>
          <p:nvPr/>
        </p:nvSpPr>
        <p:spPr>
          <a:xfrm>
            <a:off x="6489700" y="2006600"/>
            <a:ext cx="5016500" cy="369332"/>
          </a:xfrm>
          <a:prstGeom prst="rect">
            <a:avLst/>
          </a:prstGeom>
          <a:noFill/>
        </p:spPr>
        <p:txBody>
          <a:bodyPr vert="horz" wrap="square" lIns="0" tIns="0" rIns="0" bIns="0" rtlCol="0">
            <a:noAutofit/>
          </a:bodyPr>
          <a:lstStyle/>
          <a:p>
            <a:pPr marL="482600" indent="-203200">
              <a:spcAft>
                <a:spcPts val="900"/>
              </a:spcAft>
              <a:buClr>
                <a:srgbClr val="C8102E"/>
              </a:buClr>
              <a:buSzPct val="70000"/>
              <a:buFont typeface="Arial" panose="020B0604020202020204" pitchFamily="34" charset="0"/>
              <a:buChar char="■"/>
            </a:pPr>
            <a:r>
              <a:rPr lang="fr-FR" sz="1200" b="1" smtClean="0">
                <a:solidFill>
                  <a:srgbClr val="212121"/>
                </a:solidFill>
                <a:latin typeface="Segoe UI" panose="020B0502040204020203" pitchFamily="34" charset="0"/>
              </a:rPr>
              <a:t>Template clarification-panel.vm</a:t>
            </a:r>
            <a:r>
              <a:rPr lang="fr-FR" sz="1200" smtClean="0">
                <a:solidFill>
                  <a:srgbClr val="212121"/>
                </a:solidFill>
                <a:latin typeface="Segoe UI" panose="020B0502040204020203" pitchFamily="34" charset="0"/>
              </a:rPr>
              <a:t> : structure du panneau latéral et des modales AUI Dialog2 rendues côté serveur</a:t>
            </a:r>
          </a:p>
          <a:p>
            <a:pPr marL="482600" indent="-203200">
              <a:spcAft>
                <a:spcPts val="900"/>
              </a:spcAft>
              <a:buClr>
                <a:srgbClr val="C8102E"/>
              </a:buClr>
              <a:buSzPct val="70000"/>
              <a:buFont typeface="Arial" panose="020B0604020202020204" pitchFamily="34" charset="0"/>
              <a:buChar char="■"/>
            </a:pPr>
            <a:r>
              <a:rPr lang="fr-FR" sz="1200" b="1" smtClean="0">
                <a:solidFill>
                  <a:srgbClr val="212121"/>
                </a:solidFill>
                <a:latin typeface="Segoe UI" panose="020B0502040204020203" pitchFamily="34" charset="0"/>
              </a:rPr>
              <a:t>Recherche globale d'utilisateurs</a:t>
            </a:r>
            <a:r>
              <a:rPr lang="fr-FR" sz="1200" smtClean="0">
                <a:solidFill>
                  <a:srgbClr val="212121"/>
                </a:solidFill>
                <a:latin typeface="Segoe UI" panose="020B0502040204020203" pitchFamily="34" charset="0"/>
              </a:rPr>
              <a:t> : autocomplétion connectée à /rest/api/2/user/picker (debounce 250 ms)</a:t>
            </a:r>
          </a:p>
          <a:p>
            <a:pPr marL="482600" indent="-203200">
              <a:spcAft>
                <a:spcPts val="900"/>
              </a:spcAft>
              <a:buClr>
                <a:srgbClr val="C8102E"/>
              </a:buClr>
              <a:buSzPct val="70000"/>
              <a:buFont typeface="Arial" panose="020B0604020202020204" pitchFamily="34" charset="0"/>
              <a:buChar char="■"/>
            </a:pPr>
            <a:r>
              <a:rPr lang="fr-FR" sz="1200" b="1" smtClean="0">
                <a:solidFill>
                  <a:srgbClr val="212121"/>
                </a:solidFill>
                <a:latin typeface="Segoe UI" panose="020B0502040204020203" pitchFamily="34" charset="0"/>
              </a:rPr>
              <a:t>Gestion des pièces jointes</a:t>
            </a:r>
            <a:r>
              <a:rPr lang="fr-FR" sz="1200" smtClean="0">
                <a:solidFill>
                  <a:srgbClr val="212121"/>
                </a:solidFill>
                <a:latin typeface="Segoe UI" panose="020B0502040204020203" pitchFamily="34" charset="0"/>
              </a:rPr>
              <a:t> : validation métier préalable, puis POST multipart vers /rest/api/2/issue/{key}/attachments</a:t>
            </a:r>
          </a:p>
          <a:p>
            <a:pPr marL="482600" indent="-203200">
              <a:spcAft>
                <a:spcPts val="900"/>
              </a:spcAft>
              <a:buClr>
                <a:srgbClr val="C8102E"/>
              </a:buClr>
              <a:buSzPct val="70000"/>
              <a:buFont typeface="Arial" panose="020B0604020202020204" pitchFamily="34" charset="0"/>
              <a:buChar char="■"/>
            </a:pPr>
            <a:r>
              <a:rPr lang="fr-FR" sz="1200" b="1" smtClean="0">
                <a:solidFill>
                  <a:srgbClr val="212121"/>
                </a:solidFill>
                <a:latin typeface="Segoe UI" panose="020B0502040204020203" pitchFamily="34" charset="0"/>
              </a:rPr>
              <a:t>Ergonomie formulaire</a:t>
            </a:r>
            <a:r>
              <a:rPr lang="fr-FR" sz="1200" smtClean="0">
                <a:solidFill>
                  <a:srgbClr val="212121"/>
                </a:solidFill>
                <a:latin typeface="Segoe UI" panose="020B0502040204020203" pitchFamily="34" charset="0"/>
              </a:rPr>
              <a:t> : libellés épurés (Destinataire, Commentaire, Pièce jointe) et erreurs affichées sous chaque champ</a:t>
            </a:r>
          </a:p>
          <a:p>
            <a:pPr marL="482600" indent="-203200">
              <a:spcAft>
                <a:spcPts val="900"/>
              </a:spcAft>
              <a:buClr>
                <a:srgbClr val="C8102E"/>
              </a:buClr>
              <a:buSzPct val="70000"/>
              <a:buFont typeface="Arial" panose="020B0604020202020204" pitchFamily="34" charset="0"/>
              <a:buChar char="■"/>
            </a:pPr>
            <a:r>
              <a:rPr lang="fr-FR" sz="1200" b="1" smtClean="0">
                <a:solidFill>
                  <a:srgbClr val="212121"/>
                </a:solidFill>
                <a:latin typeface="Segoe UI" panose="020B0502040204020203" pitchFamily="34" charset="0"/>
              </a:rPr>
              <a:t>Support de la navigation dynamique Jira</a:t>
            </a:r>
            <a:r>
              <a:rPr lang="fr-FR" sz="1200" smtClean="0">
                <a:solidFill>
                  <a:srgbClr val="212121"/>
                </a:solidFill>
                <a:latin typeface="Segoe UI" panose="020B0502040204020203" pitchFamily="34" charset="0"/>
              </a:rPr>
              <a:t> : écoute de JIRA.Events.NEW_CONTENT_ADDED</a:t>
            </a:r>
            <a:endParaRPr lang="en-US" sz="1200">
              <a:solidFill>
                <a:srgbClr val="212121"/>
              </a:solidFill>
              <a:latin typeface="Segoe UI" panose="020B0502040204020203" pitchFamily="34" charset="0"/>
            </a:endParaRPr>
          </a:p>
        </p:txBody>
      </p:sp>
    </p:spTree>
    <p:extLst>
      <p:ext uri="{BB962C8B-B14F-4D97-AF65-F5344CB8AC3E}">
        <p14:creationId xmlns:p14="http://schemas.microsoft.com/office/powerpoint/2010/main" val="314082003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C8102E"/>
                </a:solidFill>
                <a:latin typeface="Segoe UI" panose="020B0502040204020203" pitchFamily="34" charset="0"/>
              </a:rPr>
              <a:t>05 · PÉRENNISER</a:t>
            </a:r>
            <a:endParaRPr lang="en-US" sz="1000" b="1">
              <a:solidFill>
                <a:srgbClr val="C8102E"/>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fr-FR" sz="2400" b="1" smtClean="0">
                <a:solidFill>
                  <a:srgbClr val="212121"/>
                </a:solidFill>
                <a:latin typeface="Segoe UI" panose="020B0502040204020203" pitchFamily="34" charset="0"/>
              </a:rPr>
              <a:t>Cas concret : importer et activer le plugin dans Jira</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25</a:t>
            </a:r>
            <a:endParaRPr lang="en-US" sz="900">
              <a:solidFill>
                <a:srgbClr val="6E6E6E"/>
              </a:solidFill>
              <a:latin typeface="Segoe UI" panose="020B0502040204020203" pitchFamily="34" charset="0"/>
            </a:endParaRPr>
          </a:p>
        </p:txBody>
      </p:sp>
      <p:sp>
        <p:nvSpPr>
          <p:cNvPr id="9" name="Ellipse 8"/>
          <p:cNvSpPr/>
          <p:nvPr/>
        </p:nvSpPr>
        <p:spPr>
          <a:xfrm>
            <a:off x="508000" y="1244600"/>
            <a:ext cx="381000" cy="381000"/>
          </a:xfrm>
          <a:prstGeom prst="ellipse">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1</a:t>
            </a:r>
            <a:endParaRPr lang="en-US" sz="1300" b="1">
              <a:solidFill>
                <a:srgbClr val="FFFFFF"/>
              </a:solidFill>
              <a:latin typeface="Segoe UI" panose="020B0502040204020203" pitchFamily="34" charset="0"/>
            </a:endParaRPr>
          </a:p>
        </p:txBody>
      </p:sp>
      <p:sp>
        <p:nvSpPr>
          <p:cNvPr id="10" name="ZoneTexte 9"/>
          <p:cNvSpPr txBox="1"/>
          <p:nvPr/>
        </p:nvSpPr>
        <p:spPr>
          <a:xfrm>
            <a:off x="1041400" y="1270000"/>
            <a:ext cx="4953000" cy="369332"/>
          </a:xfrm>
          <a:prstGeom prst="rect">
            <a:avLst/>
          </a:prstGeom>
          <a:noFill/>
        </p:spPr>
        <p:txBody>
          <a:bodyPr vert="horz" wrap="square" lIns="0" tIns="0" rIns="0" bIns="0" rtlCol="0">
            <a:noAutofit/>
          </a:bodyPr>
          <a:lstStyle/>
          <a:p>
            <a:r>
              <a:rPr lang="en-US" sz="1400" b="1" smtClean="0">
                <a:solidFill>
                  <a:srgbClr val="212121"/>
                </a:solidFill>
                <a:latin typeface="Segoe UI" panose="020B0502040204020203" pitchFamily="34" charset="0"/>
              </a:rPr>
              <a:t>Générer le package .jar</a:t>
            </a:r>
            <a:endParaRPr lang="en-US" sz="1400" b="1">
              <a:solidFill>
                <a:srgbClr val="212121"/>
              </a:solidFill>
              <a:latin typeface="Segoe UI" panose="020B0502040204020203" pitchFamily="34" charset="0"/>
            </a:endParaRPr>
          </a:p>
        </p:txBody>
      </p:sp>
      <p:sp>
        <p:nvSpPr>
          <p:cNvPr id="11" name="ZoneTexte 10"/>
          <p:cNvSpPr txBox="1"/>
          <p:nvPr/>
        </p:nvSpPr>
        <p:spPr>
          <a:xfrm>
            <a:off x="1041400" y="1549400"/>
            <a:ext cx="4953000" cy="369332"/>
          </a:xfrm>
          <a:prstGeom prst="rect">
            <a:avLst/>
          </a:prstGeom>
          <a:noFill/>
        </p:spPr>
        <p:txBody>
          <a:bodyPr vert="horz" wrap="square" lIns="0" tIns="0" rIns="0" bIns="0" rtlCol="0">
            <a:noAutofit/>
          </a:bodyPr>
          <a:lstStyle/>
          <a:p>
            <a:r>
              <a:rPr lang="fr-FR" sz="1150" smtClean="0">
                <a:solidFill>
                  <a:srgbClr val="6E6E6E"/>
                </a:solidFill>
                <a:latin typeface="Segoe UI" panose="020B0502040204020203" pitchFamily="34" charset="0"/>
              </a:rPr>
              <a:t>Exécuter atlas-package dans le dossier du projet pour produire target/jira-clarification-loop-1.0.0-SNAPSHOT.jar.</a:t>
            </a:r>
            <a:endParaRPr lang="en-US" sz="1150">
              <a:solidFill>
                <a:srgbClr val="6E6E6E"/>
              </a:solidFill>
              <a:latin typeface="Segoe UI" panose="020B0502040204020203" pitchFamily="34" charset="0"/>
            </a:endParaRPr>
          </a:p>
        </p:txBody>
      </p:sp>
      <p:sp>
        <p:nvSpPr>
          <p:cNvPr id="12" name="Ellipse 11"/>
          <p:cNvSpPr/>
          <p:nvPr/>
        </p:nvSpPr>
        <p:spPr>
          <a:xfrm>
            <a:off x="508000" y="2489200"/>
            <a:ext cx="381000" cy="381000"/>
          </a:xfrm>
          <a:prstGeom prst="ellipse">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2</a:t>
            </a:r>
            <a:endParaRPr lang="en-US" sz="1300" b="1">
              <a:solidFill>
                <a:srgbClr val="FFFFFF"/>
              </a:solidFill>
              <a:latin typeface="Segoe UI" panose="020B0502040204020203" pitchFamily="34" charset="0"/>
            </a:endParaRPr>
          </a:p>
        </p:txBody>
      </p:sp>
      <p:sp>
        <p:nvSpPr>
          <p:cNvPr id="13" name="ZoneTexte 12"/>
          <p:cNvSpPr txBox="1"/>
          <p:nvPr/>
        </p:nvSpPr>
        <p:spPr>
          <a:xfrm>
            <a:off x="1041400" y="2514600"/>
            <a:ext cx="4953000" cy="369332"/>
          </a:xfrm>
          <a:prstGeom prst="rect">
            <a:avLst/>
          </a:prstGeom>
          <a:noFill/>
        </p:spPr>
        <p:txBody>
          <a:bodyPr vert="horz" wrap="square" lIns="0" tIns="0" rIns="0" bIns="0" rtlCol="0">
            <a:noAutofit/>
          </a:bodyPr>
          <a:lstStyle/>
          <a:p>
            <a:r>
              <a:rPr lang="fr-FR" sz="1400" b="1" smtClean="0">
                <a:solidFill>
                  <a:srgbClr val="212121"/>
                </a:solidFill>
                <a:latin typeface="Segoe UI" panose="020B0502040204020203" pitchFamily="34" charset="0"/>
              </a:rPr>
              <a:t>Ouvrir la gestion des applications</a:t>
            </a:r>
            <a:endParaRPr lang="en-US" sz="1400" b="1">
              <a:solidFill>
                <a:srgbClr val="212121"/>
              </a:solidFill>
              <a:latin typeface="Segoe UI" panose="020B0502040204020203" pitchFamily="34" charset="0"/>
            </a:endParaRPr>
          </a:p>
        </p:txBody>
      </p:sp>
      <p:sp>
        <p:nvSpPr>
          <p:cNvPr id="14" name="ZoneTexte 13"/>
          <p:cNvSpPr txBox="1"/>
          <p:nvPr/>
        </p:nvSpPr>
        <p:spPr>
          <a:xfrm>
            <a:off x="1041400" y="2794000"/>
            <a:ext cx="4953000" cy="369332"/>
          </a:xfrm>
          <a:prstGeom prst="rect">
            <a:avLst/>
          </a:prstGeom>
          <a:noFill/>
        </p:spPr>
        <p:txBody>
          <a:bodyPr vert="horz" wrap="square" lIns="0" tIns="0" rIns="0" bIns="0" rtlCol="0">
            <a:noAutofit/>
          </a:bodyPr>
          <a:lstStyle/>
          <a:p>
            <a:r>
              <a:rPr lang="fr-FR" sz="1150" smtClean="0">
                <a:solidFill>
                  <a:srgbClr val="6E6E6E"/>
                </a:solidFill>
                <a:latin typeface="Segoe UI" panose="020B0502040204020203" pitchFamily="34" charset="0"/>
              </a:rPr>
              <a:t>Se connecter en administrateur Jira, cliquer sur l'icône Engrenage (Administration) &gt; Gérer les applications (Manage apps).</a:t>
            </a:r>
            <a:endParaRPr lang="en-US" sz="1150">
              <a:solidFill>
                <a:srgbClr val="6E6E6E"/>
              </a:solidFill>
              <a:latin typeface="Segoe UI" panose="020B0502040204020203" pitchFamily="34" charset="0"/>
            </a:endParaRPr>
          </a:p>
        </p:txBody>
      </p:sp>
      <p:sp>
        <p:nvSpPr>
          <p:cNvPr id="15" name="Ellipse 14"/>
          <p:cNvSpPr/>
          <p:nvPr/>
        </p:nvSpPr>
        <p:spPr>
          <a:xfrm>
            <a:off x="508000" y="3733800"/>
            <a:ext cx="381000" cy="381000"/>
          </a:xfrm>
          <a:prstGeom prst="ellipse">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3</a:t>
            </a:r>
            <a:endParaRPr lang="en-US" sz="1300" b="1">
              <a:solidFill>
                <a:srgbClr val="FFFFFF"/>
              </a:solidFill>
              <a:latin typeface="Segoe UI" panose="020B0502040204020203" pitchFamily="34" charset="0"/>
            </a:endParaRPr>
          </a:p>
        </p:txBody>
      </p:sp>
      <p:sp>
        <p:nvSpPr>
          <p:cNvPr id="16" name="ZoneTexte 15"/>
          <p:cNvSpPr txBox="1"/>
          <p:nvPr/>
        </p:nvSpPr>
        <p:spPr>
          <a:xfrm>
            <a:off x="1041400" y="3759200"/>
            <a:ext cx="4953000" cy="369332"/>
          </a:xfrm>
          <a:prstGeom prst="rect">
            <a:avLst/>
          </a:prstGeom>
          <a:noFill/>
        </p:spPr>
        <p:txBody>
          <a:bodyPr vert="horz" wrap="square" lIns="0" tIns="0" rIns="0" bIns="0" rtlCol="0">
            <a:noAutofit/>
          </a:bodyPr>
          <a:lstStyle/>
          <a:p>
            <a:r>
              <a:rPr lang="en-US" sz="1400" b="1" smtClean="0">
                <a:solidFill>
                  <a:srgbClr val="212121"/>
                </a:solidFill>
                <a:latin typeface="Segoe UI" panose="020B0502040204020203" pitchFamily="34" charset="0"/>
              </a:rPr>
              <a:t>Importer le fichier .jar</a:t>
            </a:r>
            <a:endParaRPr lang="en-US" sz="1400" b="1">
              <a:solidFill>
                <a:srgbClr val="212121"/>
              </a:solidFill>
              <a:latin typeface="Segoe UI" panose="020B0502040204020203" pitchFamily="34" charset="0"/>
            </a:endParaRPr>
          </a:p>
        </p:txBody>
      </p:sp>
      <p:sp>
        <p:nvSpPr>
          <p:cNvPr id="17" name="ZoneTexte 16"/>
          <p:cNvSpPr txBox="1"/>
          <p:nvPr/>
        </p:nvSpPr>
        <p:spPr>
          <a:xfrm>
            <a:off x="1041400" y="4038600"/>
            <a:ext cx="4953000" cy="369332"/>
          </a:xfrm>
          <a:prstGeom prst="rect">
            <a:avLst/>
          </a:prstGeom>
          <a:noFill/>
        </p:spPr>
        <p:txBody>
          <a:bodyPr vert="horz" wrap="square" lIns="0" tIns="0" rIns="0" bIns="0" rtlCol="0">
            <a:noAutofit/>
          </a:bodyPr>
          <a:lstStyle/>
          <a:p>
            <a:r>
              <a:rPr lang="fr-FR" sz="1150" smtClean="0">
                <a:solidFill>
                  <a:srgbClr val="6E6E6E"/>
                </a:solidFill>
                <a:latin typeface="Segoe UI" panose="020B0502040204020203" pitchFamily="34" charset="0"/>
              </a:rPr>
              <a:t>Cliquer sur « Importer une application » (Upload app), sélectionner le fichier .jar depuis son poste puis valider.</a:t>
            </a:r>
            <a:endParaRPr lang="en-US" sz="1150">
              <a:solidFill>
                <a:srgbClr val="6E6E6E"/>
              </a:solidFill>
              <a:latin typeface="Segoe UI" panose="020B0502040204020203" pitchFamily="34" charset="0"/>
            </a:endParaRPr>
          </a:p>
        </p:txBody>
      </p:sp>
      <p:sp>
        <p:nvSpPr>
          <p:cNvPr id="18" name="Ellipse 17"/>
          <p:cNvSpPr/>
          <p:nvPr/>
        </p:nvSpPr>
        <p:spPr>
          <a:xfrm>
            <a:off x="508000" y="4978400"/>
            <a:ext cx="381000" cy="381000"/>
          </a:xfrm>
          <a:prstGeom prst="ellipse">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4</a:t>
            </a:r>
            <a:endParaRPr lang="en-US" sz="1300" b="1">
              <a:solidFill>
                <a:srgbClr val="FFFFFF"/>
              </a:solidFill>
              <a:latin typeface="Segoe UI" panose="020B0502040204020203" pitchFamily="34" charset="0"/>
            </a:endParaRPr>
          </a:p>
        </p:txBody>
      </p:sp>
      <p:sp>
        <p:nvSpPr>
          <p:cNvPr id="19" name="ZoneTexte 18"/>
          <p:cNvSpPr txBox="1"/>
          <p:nvPr/>
        </p:nvSpPr>
        <p:spPr>
          <a:xfrm>
            <a:off x="1041400" y="5003800"/>
            <a:ext cx="4953000" cy="369332"/>
          </a:xfrm>
          <a:prstGeom prst="rect">
            <a:avLst/>
          </a:prstGeom>
          <a:noFill/>
        </p:spPr>
        <p:txBody>
          <a:bodyPr vert="horz" wrap="square" lIns="0" tIns="0" rIns="0" bIns="0" rtlCol="0">
            <a:noAutofit/>
          </a:bodyPr>
          <a:lstStyle/>
          <a:p>
            <a:r>
              <a:rPr lang="en-US" sz="1400" b="1" smtClean="0">
                <a:solidFill>
                  <a:srgbClr val="212121"/>
                </a:solidFill>
                <a:latin typeface="Segoe UI" panose="020B0502040204020203" pitchFamily="34" charset="0"/>
              </a:rPr>
              <a:t>Vérifier l'activation</a:t>
            </a:r>
            <a:endParaRPr lang="en-US" sz="1400" b="1">
              <a:solidFill>
                <a:srgbClr val="212121"/>
              </a:solidFill>
              <a:latin typeface="Segoe UI" panose="020B0502040204020203" pitchFamily="34" charset="0"/>
            </a:endParaRPr>
          </a:p>
        </p:txBody>
      </p:sp>
      <p:sp>
        <p:nvSpPr>
          <p:cNvPr id="20" name="ZoneTexte 19"/>
          <p:cNvSpPr txBox="1"/>
          <p:nvPr/>
        </p:nvSpPr>
        <p:spPr>
          <a:xfrm>
            <a:off x="1041400" y="5283200"/>
            <a:ext cx="4953000" cy="369332"/>
          </a:xfrm>
          <a:prstGeom prst="rect">
            <a:avLst/>
          </a:prstGeom>
          <a:noFill/>
        </p:spPr>
        <p:txBody>
          <a:bodyPr vert="horz" wrap="square" lIns="0" tIns="0" rIns="0" bIns="0" rtlCol="0">
            <a:noAutofit/>
          </a:bodyPr>
          <a:lstStyle/>
          <a:p>
            <a:r>
              <a:rPr lang="fr-FR" sz="1150" smtClean="0">
                <a:solidFill>
                  <a:srgbClr val="6E6E6E"/>
                </a:solidFill>
                <a:latin typeface="Segoe UI" panose="020B0502040204020203" pitchFamily="34" charset="0"/>
              </a:rPr>
              <a:t>Le plugin « Jira Clarification Loop » apparaît activé à chaud avec ses 3 modules (web-panel, web-resource, rest).</a:t>
            </a:r>
            <a:endParaRPr lang="en-US" sz="1150">
              <a:solidFill>
                <a:srgbClr val="6E6E6E"/>
              </a:solidFill>
              <a:latin typeface="Segoe UI" panose="020B0502040204020203" pitchFamily="34" charset="0"/>
            </a:endParaRPr>
          </a:p>
        </p:txBody>
      </p:sp>
      <p:sp>
        <p:nvSpPr>
          <p:cNvPr id="21" name="Rectangle 20"/>
          <p:cNvSpPr/>
          <p:nvPr/>
        </p:nvSpPr>
        <p:spPr>
          <a:xfrm>
            <a:off x="6286500" y="1244600"/>
            <a:ext cx="5397500" cy="2362200"/>
          </a:xfrm>
          <a:prstGeom prst="rect">
            <a:avLst/>
          </a:prstGeom>
          <a:solidFill>
            <a:srgbClr val="FFF7D6"/>
          </a:solidFill>
          <a:ln w="19050" cap="flat" cmpd="sng" algn="ctr">
            <a:solidFill>
              <a:srgbClr val="FFAB00"/>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fr-FR" sz="1300" b="1" smtClean="0">
                <a:solidFill>
                  <a:srgbClr val="212121"/>
                </a:solidFill>
                <a:latin typeface="Segoe UI" panose="020B0502040204020203" pitchFamily="34" charset="0"/>
              </a:rPr>
              <a:t>[Insérer capture d'écran 1]</a:t>
            </a:r>
          </a:p>
          <a:p>
            <a:pPr algn="ctr"/>
            <a:r>
              <a:rPr lang="fr-FR" sz="1300" b="1" smtClean="0">
                <a:solidFill>
                  <a:srgbClr val="212121"/>
                </a:solidFill>
                <a:latin typeface="Segoe UI" panose="020B0502040204020203" pitchFamily="34" charset="0"/>
              </a:rPr>
              <a:t>Administration &gt; Gérer les applications</a:t>
            </a:r>
          </a:p>
          <a:p>
            <a:pPr algn="ctr"/>
            <a:r>
              <a:rPr lang="fr-FR" sz="1300" b="1" smtClean="0">
                <a:solidFill>
                  <a:srgbClr val="212121"/>
                </a:solidFill>
                <a:latin typeface="Segoe UI" panose="020B0502040204020203" pitchFamily="34" charset="0"/>
              </a:rPr>
              <a:t>Bouton « Importer une application » + sélection du fichier</a:t>
            </a:r>
          </a:p>
          <a:p>
            <a:pPr algn="ctr"/>
            <a:r>
              <a:rPr lang="fr-FR" sz="1300" b="1" smtClean="0">
                <a:solidFill>
                  <a:srgbClr val="212121"/>
                </a:solidFill>
                <a:latin typeface="Segoe UI" panose="020B0502040204020203" pitchFamily="34" charset="0"/>
              </a:rPr>
              <a:t>jira-clarification-loop-1.0.0-SNAPSHOT.jar</a:t>
            </a:r>
            <a:endParaRPr lang="en-US" sz="1300" b="1">
              <a:solidFill>
                <a:srgbClr val="212121"/>
              </a:solidFill>
              <a:latin typeface="Segoe UI" panose="020B0502040204020203" pitchFamily="34" charset="0"/>
            </a:endParaRPr>
          </a:p>
        </p:txBody>
      </p:sp>
      <p:sp>
        <p:nvSpPr>
          <p:cNvPr id="22" name="Rectangle 21"/>
          <p:cNvSpPr/>
          <p:nvPr/>
        </p:nvSpPr>
        <p:spPr>
          <a:xfrm>
            <a:off x="6286500" y="3835400"/>
            <a:ext cx="5397500" cy="2362200"/>
          </a:xfrm>
          <a:prstGeom prst="rect">
            <a:avLst/>
          </a:prstGeom>
          <a:solidFill>
            <a:srgbClr val="FFF7D6"/>
          </a:solidFill>
          <a:ln w="19050" cap="flat" cmpd="sng" algn="ctr">
            <a:solidFill>
              <a:srgbClr val="FFAB00"/>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fr-FR" sz="1300" b="1" smtClean="0">
                <a:solidFill>
                  <a:srgbClr val="212121"/>
                </a:solidFill>
                <a:latin typeface="Segoe UI" panose="020B0502040204020203" pitchFamily="34" charset="0"/>
              </a:rPr>
              <a:t>[Insérer capture d'écran 2]</a:t>
            </a:r>
          </a:p>
          <a:p>
            <a:pPr algn="ctr"/>
            <a:r>
              <a:rPr lang="fr-FR" sz="1300" b="1" smtClean="0">
                <a:solidFill>
                  <a:srgbClr val="212121"/>
                </a:solidFill>
                <a:latin typeface="Segoe UI" panose="020B0502040204020203" pitchFamily="34" charset="0"/>
              </a:rPr>
              <a:t>Confirmation d'installation dans l'UPM :</a:t>
            </a:r>
          </a:p>
          <a:p>
            <a:pPr algn="ctr"/>
            <a:r>
              <a:rPr lang="fr-FR" sz="1300" b="1" smtClean="0">
                <a:solidFill>
                  <a:srgbClr val="212121"/>
                </a:solidFill>
                <a:latin typeface="Segoe UI" panose="020B0502040204020203" pitchFamily="34" charset="0"/>
              </a:rPr>
              <a:t>« Jira Clarification Loop » activé (3 of 3 modules enabled)</a:t>
            </a:r>
            <a:endParaRPr lang="en-US" sz="1300" b="1">
              <a:solidFill>
                <a:srgbClr val="212121"/>
              </a:solidFill>
              <a:latin typeface="Segoe UI" panose="020B0502040204020203" pitchFamily="34" charset="0"/>
            </a:endParaRPr>
          </a:p>
        </p:txBody>
      </p:sp>
    </p:spTree>
    <p:extLst>
      <p:ext uri="{BB962C8B-B14F-4D97-AF65-F5344CB8AC3E}">
        <p14:creationId xmlns:p14="http://schemas.microsoft.com/office/powerpoint/2010/main" val="4859784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C8102E"/>
                </a:solidFill>
                <a:latin typeface="Segoe UI" panose="020B0502040204020203" pitchFamily="34" charset="0"/>
              </a:rPr>
              <a:t>05 · PÉRENNISER</a:t>
            </a:r>
            <a:endParaRPr lang="en-US" sz="1000" b="1">
              <a:solidFill>
                <a:srgbClr val="C8102E"/>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fr-FR" sz="2400" b="1" smtClean="0">
                <a:solidFill>
                  <a:srgbClr val="212121"/>
                </a:solidFill>
                <a:latin typeface="Segoe UI" panose="020B0502040204020203" pitchFamily="34" charset="0"/>
              </a:rPr>
              <a:t>Cas concret : le panneau « Demandes de précision »</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26</a:t>
            </a:r>
            <a:endParaRPr lang="en-US" sz="900">
              <a:solidFill>
                <a:srgbClr val="6E6E6E"/>
              </a:solidFill>
              <a:latin typeface="Segoe UI" panose="020B0502040204020203" pitchFamily="34" charset="0"/>
            </a:endParaRPr>
          </a:p>
        </p:txBody>
      </p:sp>
      <p:sp>
        <p:nvSpPr>
          <p:cNvPr id="9" name="ZoneTexte 8"/>
          <p:cNvSpPr txBox="1"/>
          <p:nvPr/>
        </p:nvSpPr>
        <p:spPr>
          <a:xfrm>
            <a:off x="508000" y="1219200"/>
            <a:ext cx="5461000" cy="369332"/>
          </a:xfrm>
          <a:prstGeom prst="rect">
            <a:avLst/>
          </a:prstGeom>
          <a:noFill/>
        </p:spPr>
        <p:txBody>
          <a:bodyPr vert="horz" wrap="square" lIns="0" tIns="0" rIns="0" bIns="0" rtlCol="0">
            <a:noAutofit/>
          </a:bodyPr>
          <a:lstStyle/>
          <a:p>
            <a:r>
              <a:rPr lang="fr-FR" sz="1500" b="1" smtClean="0">
                <a:solidFill>
                  <a:srgbClr val="C8102E"/>
                </a:solidFill>
                <a:latin typeface="Segoe UI" panose="020B0502040204020203" pitchFamily="34" charset="0"/>
              </a:rPr>
              <a:t>Intégration native sur la vue d'un ticket</a:t>
            </a:r>
            <a:endParaRPr lang="en-US" sz="1500" b="1">
              <a:solidFill>
                <a:srgbClr val="C8102E"/>
              </a:solidFill>
              <a:latin typeface="Segoe UI" panose="020B0502040204020203" pitchFamily="34" charset="0"/>
            </a:endParaRPr>
          </a:p>
        </p:txBody>
      </p:sp>
      <p:sp>
        <p:nvSpPr>
          <p:cNvPr id="10" name="ZoneTexte 9"/>
          <p:cNvSpPr txBox="1"/>
          <p:nvPr/>
        </p:nvSpPr>
        <p:spPr>
          <a:xfrm>
            <a:off x="508000" y="1600200"/>
            <a:ext cx="5461000" cy="369332"/>
          </a:xfrm>
          <a:prstGeom prst="rect">
            <a:avLst/>
          </a:prstGeom>
          <a:noFill/>
        </p:spPr>
        <p:txBody>
          <a:bodyPr vert="horz" wrap="square" lIns="0" tIns="0" rIns="0" bIns="0" rtlCol="0">
            <a:noAutofit/>
          </a:bodyPr>
          <a:lstStyle/>
          <a:p>
            <a:pPr marL="482600" indent="-203200">
              <a:spcAft>
                <a:spcPts val="7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Emplacement</a:t>
            </a:r>
            <a:r>
              <a:rPr lang="fr-FR" sz="1250" smtClean="0">
                <a:solidFill>
                  <a:srgbClr val="212121"/>
                </a:solidFill>
                <a:latin typeface="Segoe UI" panose="020B0502040204020203" pitchFamily="34" charset="0"/>
              </a:rPr>
              <a:t> : injecté dans la colonne latérale droite du ticket (atl.jira.view.issue.right.context)</a:t>
            </a:r>
          </a:p>
          <a:p>
            <a:pPr marL="482600" indent="-203200">
              <a:spcAft>
                <a:spcPts val="7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Disponibilité immédiate</a:t>
            </a:r>
            <a:r>
              <a:rPr lang="fr-FR" sz="1250" smtClean="0">
                <a:solidFill>
                  <a:srgbClr val="212121"/>
                </a:solidFill>
                <a:latin typeface="Segoe UI" panose="020B0502040204020203" pitchFamily="34" charset="0"/>
              </a:rPr>
              <a:t> : actif sur tous les projets Jira sans toucher aux workflows ni aux écrans</a:t>
            </a:r>
          </a:p>
          <a:p>
            <a:pPr marL="482600" indent="-203200">
              <a:spcAft>
                <a:spcPts val="700"/>
              </a:spcAft>
              <a:buClr>
                <a:srgbClr val="C8102E"/>
              </a:buClr>
              <a:buSzPct val="70000"/>
              <a:buFont typeface="Arial" panose="020B0604020202020204" pitchFamily="34" charset="0"/>
              <a:buChar char="■"/>
            </a:pPr>
            <a:r>
              <a:rPr lang="fr-FR" sz="1250" smtClean="0">
                <a:solidFill>
                  <a:srgbClr val="212121"/>
                </a:solidFill>
                <a:latin typeface="Segoe UI" panose="020B0502040204020203" pitchFamily="34" charset="0"/>
              </a:rPr>
              <a:t>Affichage adaptatif selon l'utilisateur connecté :</a:t>
            </a:r>
          </a:p>
          <a:p>
            <a:pPr marL="800100" lvl="1" indent="-342900">
              <a:spcAft>
                <a:spcPts val="700"/>
              </a:spcAft>
              <a:buClr>
                <a:srgbClr val="C8102E"/>
              </a:buClr>
              <a:buSzPct val="100000"/>
              <a:buFont typeface="Arial" panose="020B0604020202020204" pitchFamily="34" charset="0"/>
              <a:buChar char="–"/>
            </a:pPr>
            <a:r>
              <a:rPr lang="fr-FR" sz="1050" b="1" smtClean="0">
                <a:solidFill>
                  <a:srgbClr val="6E6E6E"/>
                </a:solidFill>
                <a:latin typeface="Segoe UI" panose="020B0502040204020203" pitchFamily="34" charset="0"/>
              </a:rPr>
              <a:t>Si l'utilisateur est l'assigné actuel du ticket</a:t>
            </a:r>
            <a:r>
              <a:rPr lang="fr-FR" sz="1050" smtClean="0">
                <a:solidFill>
                  <a:srgbClr val="6E6E6E"/>
                </a:solidFill>
                <a:latin typeface="Segoe UI" panose="020B0502040204020203" pitchFamily="34" charset="0"/>
              </a:rPr>
              <a:t> : le bouton « Demander une précision » est actif</a:t>
            </a:r>
          </a:p>
          <a:p>
            <a:pPr marL="800100" lvl="1" indent="-342900">
              <a:spcAft>
                <a:spcPts val="700"/>
              </a:spcAft>
              <a:buClr>
                <a:srgbClr val="C8102E"/>
              </a:buClr>
              <a:buSzPct val="100000"/>
              <a:buFont typeface="Arial" panose="020B0604020202020204" pitchFamily="34" charset="0"/>
              <a:buChar char="–"/>
            </a:pPr>
            <a:r>
              <a:rPr lang="fr-FR" sz="1050" b="1" smtClean="0">
                <a:solidFill>
                  <a:srgbClr val="6E6E6E"/>
                </a:solidFill>
                <a:latin typeface="Segoe UI" panose="020B0502040204020203" pitchFamily="34" charset="0"/>
              </a:rPr>
              <a:t>Si l'utilisateur n'est pas l'assigné</a:t>
            </a:r>
            <a:r>
              <a:rPr lang="fr-FR" sz="1050" smtClean="0">
                <a:solidFill>
                  <a:srgbClr val="6E6E6E"/>
                </a:solidFill>
                <a:latin typeface="Segoe UI" panose="020B0502040204020203" pitchFamily="34" charset="0"/>
              </a:rPr>
              <a:t> : le bouton est masqué et un bandeau indique qui peut agir</a:t>
            </a:r>
          </a:p>
          <a:p>
            <a:pPr marL="800100" lvl="1" indent="-342900">
              <a:spcAft>
                <a:spcPts val="700"/>
              </a:spcAft>
              <a:buClr>
                <a:srgbClr val="C8102E"/>
              </a:buClr>
              <a:buSzPct val="100000"/>
              <a:buFont typeface="Arial" panose="020B0604020202020204" pitchFamily="34" charset="0"/>
              <a:buChar char="–"/>
            </a:pPr>
            <a:r>
              <a:rPr lang="fr-FR" sz="1050" b="1" smtClean="0">
                <a:solidFill>
                  <a:srgbClr val="6E6E6E"/>
                </a:solidFill>
                <a:latin typeface="Segoe UI" panose="020B0502040204020203" pitchFamily="34" charset="0"/>
              </a:rPr>
              <a:t>Si le ticket est clôturé</a:t>
            </a:r>
            <a:r>
              <a:rPr lang="fr-FR" sz="1050" smtClean="0">
                <a:solidFill>
                  <a:srgbClr val="6E6E6E"/>
                </a:solidFill>
                <a:latin typeface="Segoe UI" panose="020B0502040204020203" pitchFamily="34" charset="0"/>
              </a:rPr>
              <a:t> : aucune nouvelle demande n'est autorisée</a:t>
            </a:r>
          </a:p>
          <a:p>
            <a:pPr marL="482600" indent="-203200">
              <a:spcAft>
                <a:spcPts val="700"/>
              </a:spcAft>
              <a:buClr>
                <a:srgbClr val="C8102E"/>
              </a:buClr>
              <a:buSzPct val="70000"/>
              <a:buFont typeface="Arial" panose="020B0604020202020204" pitchFamily="34" charset="0"/>
              <a:buChar char="■"/>
            </a:pPr>
            <a:r>
              <a:rPr lang="fr-FR" sz="1250" b="1" smtClean="0">
                <a:solidFill>
                  <a:srgbClr val="212121"/>
                </a:solidFill>
                <a:latin typeface="Segoe UI" panose="020B0502040204020203" pitchFamily="34" charset="0"/>
              </a:rPr>
              <a:t>Historique intégré</a:t>
            </a:r>
            <a:r>
              <a:rPr lang="fr-FR" sz="1250" smtClean="0">
                <a:solidFill>
                  <a:srgbClr val="212121"/>
                </a:solidFill>
                <a:latin typeface="Segoe UI" panose="020B0502040204020203" pitchFamily="34" charset="0"/>
              </a:rPr>
              <a:t> : toutes les demandes passées restent consultables directement dans le panneau</a:t>
            </a:r>
            <a:endParaRPr lang="en-US" sz="1250">
              <a:solidFill>
                <a:srgbClr val="212121"/>
              </a:solidFill>
              <a:latin typeface="Segoe UI" panose="020B0502040204020203" pitchFamily="34" charset="0"/>
            </a:endParaRPr>
          </a:p>
        </p:txBody>
      </p:sp>
      <p:sp>
        <p:nvSpPr>
          <p:cNvPr id="11" name="Rectangle 10"/>
          <p:cNvSpPr/>
          <p:nvPr/>
        </p:nvSpPr>
        <p:spPr>
          <a:xfrm>
            <a:off x="6286500" y="1244600"/>
            <a:ext cx="5397500" cy="2362200"/>
          </a:xfrm>
          <a:prstGeom prst="rect">
            <a:avLst/>
          </a:prstGeom>
          <a:solidFill>
            <a:srgbClr val="FFF7D6"/>
          </a:solidFill>
          <a:ln w="19050" cap="flat" cmpd="sng" algn="ctr">
            <a:solidFill>
              <a:srgbClr val="FFAB00"/>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fr-FR" sz="1300" b="1" smtClean="0">
                <a:solidFill>
                  <a:srgbClr val="212121"/>
                </a:solidFill>
                <a:latin typeface="Segoe UI" panose="020B0502040204020203" pitchFamily="34" charset="0"/>
              </a:rPr>
              <a:t>[Insérer capture d'écran 3]</a:t>
            </a:r>
          </a:p>
          <a:p>
            <a:pPr algn="ctr"/>
            <a:r>
              <a:rPr lang="fr-FR" sz="1300" b="1" smtClean="0">
                <a:solidFill>
                  <a:srgbClr val="212121"/>
                </a:solidFill>
                <a:latin typeface="Segoe UI" panose="020B0502040204020203" pitchFamily="34" charset="0"/>
              </a:rPr>
              <a:t>Vue d'un ticket Jira (colonne de droite) :</a:t>
            </a:r>
          </a:p>
          <a:p>
            <a:pPr algn="ctr"/>
            <a:r>
              <a:rPr lang="fr-FR" sz="1300" b="1" smtClean="0">
                <a:solidFill>
                  <a:srgbClr val="212121"/>
                </a:solidFill>
                <a:latin typeface="Segoe UI" panose="020B0502040204020203" pitchFamily="34" charset="0"/>
              </a:rPr>
              <a:t>Panneau « Demandes de précision » vu par l'assigné du ticket</a:t>
            </a:r>
          </a:p>
          <a:p>
            <a:pPr algn="ctr"/>
            <a:r>
              <a:rPr lang="fr-FR" sz="1300" b="1" smtClean="0">
                <a:solidFill>
                  <a:srgbClr val="212121"/>
                </a:solidFill>
                <a:latin typeface="Segoe UI" panose="020B0502040204020203" pitchFamily="34" charset="0"/>
              </a:rPr>
              <a:t>(bouton « Demander une précision » disponible)</a:t>
            </a:r>
            <a:endParaRPr lang="en-US" sz="1300" b="1">
              <a:solidFill>
                <a:srgbClr val="212121"/>
              </a:solidFill>
              <a:latin typeface="Segoe UI" panose="020B0502040204020203" pitchFamily="34" charset="0"/>
            </a:endParaRPr>
          </a:p>
        </p:txBody>
      </p:sp>
      <p:sp>
        <p:nvSpPr>
          <p:cNvPr id="12" name="Rectangle 11"/>
          <p:cNvSpPr/>
          <p:nvPr/>
        </p:nvSpPr>
        <p:spPr>
          <a:xfrm>
            <a:off x="6286500" y="3835400"/>
            <a:ext cx="5397500" cy="2362200"/>
          </a:xfrm>
          <a:prstGeom prst="rect">
            <a:avLst/>
          </a:prstGeom>
          <a:solidFill>
            <a:srgbClr val="FFF7D6"/>
          </a:solidFill>
          <a:ln w="19050" cap="flat" cmpd="sng" algn="ctr">
            <a:solidFill>
              <a:srgbClr val="FFAB00"/>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fr-FR" sz="1300" b="1" smtClean="0">
                <a:solidFill>
                  <a:srgbClr val="212121"/>
                </a:solidFill>
                <a:latin typeface="Segoe UI" panose="020B0502040204020203" pitchFamily="34" charset="0"/>
              </a:rPr>
              <a:t>[Insérer capture d'écran 4]</a:t>
            </a:r>
          </a:p>
          <a:p>
            <a:pPr algn="ctr"/>
            <a:r>
              <a:rPr lang="fr-FR" sz="1300" b="1" smtClean="0">
                <a:solidFill>
                  <a:srgbClr val="212121"/>
                </a:solidFill>
                <a:latin typeface="Segoe UI" panose="020B0502040204020203" pitchFamily="34" charset="0"/>
              </a:rPr>
              <a:t>Panneau « Demandes de précision » vu par un autre utilisateur :</a:t>
            </a:r>
          </a:p>
          <a:p>
            <a:pPr algn="ctr"/>
            <a:r>
              <a:rPr lang="fr-FR" sz="1300" b="1" smtClean="0">
                <a:solidFill>
                  <a:srgbClr val="212121"/>
                </a:solidFill>
                <a:latin typeface="Segoe UI" panose="020B0502040204020203" pitchFamily="34" charset="0"/>
              </a:rPr>
              <a:t>Mode lecture seule avec bandeau explicatif des droits</a:t>
            </a:r>
            <a:endParaRPr lang="en-US" sz="1300" b="1">
              <a:solidFill>
                <a:srgbClr val="212121"/>
              </a:solidFill>
              <a:latin typeface="Segoe UI" panose="020B0502040204020203" pitchFamily="34" charset="0"/>
            </a:endParaRPr>
          </a:p>
        </p:txBody>
      </p:sp>
      <p:pic>
        <p:nvPicPr>
          <p:cNvPr id="13" name="Imag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6510" y="1296808"/>
            <a:ext cx="5237480" cy="2283184"/>
          </a:xfrm>
          <a:prstGeom prst="rect">
            <a:avLst/>
          </a:prstGeom>
        </p:spPr>
      </p:pic>
      <p:pic>
        <p:nvPicPr>
          <p:cNvPr id="14" name="Imag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0960" y="3881157"/>
            <a:ext cx="5181600" cy="2235163"/>
          </a:xfrm>
          <a:prstGeom prst="rect">
            <a:avLst/>
          </a:prstGeom>
        </p:spPr>
      </p:pic>
    </p:spTree>
    <p:extLst>
      <p:ext uri="{BB962C8B-B14F-4D97-AF65-F5344CB8AC3E}">
        <p14:creationId xmlns:p14="http://schemas.microsoft.com/office/powerpoint/2010/main" val="334030786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C8102E"/>
                </a:solidFill>
                <a:latin typeface="Segoe UI" panose="020B0502040204020203" pitchFamily="34" charset="0"/>
              </a:rPr>
              <a:t>05 · PÉRENNISER</a:t>
            </a:r>
            <a:endParaRPr lang="en-US" sz="1000" b="1">
              <a:solidFill>
                <a:srgbClr val="C8102E"/>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fr-FR" sz="2400" b="1" smtClean="0">
                <a:solidFill>
                  <a:srgbClr val="212121"/>
                </a:solidFill>
                <a:latin typeface="Segoe UI" panose="020B0502040204020203" pitchFamily="34" charset="0"/>
              </a:rPr>
              <a:t>Cas concret : faire une demande de précision (1/2)</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27</a:t>
            </a:r>
            <a:endParaRPr lang="en-US" sz="900">
              <a:solidFill>
                <a:srgbClr val="6E6E6E"/>
              </a:solidFill>
              <a:latin typeface="Segoe UI" panose="020B0502040204020203" pitchFamily="34" charset="0"/>
            </a:endParaRPr>
          </a:p>
        </p:txBody>
      </p:sp>
      <p:sp>
        <p:nvSpPr>
          <p:cNvPr id="9" name="Ellipse 8"/>
          <p:cNvSpPr/>
          <p:nvPr/>
        </p:nvSpPr>
        <p:spPr>
          <a:xfrm>
            <a:off x="508000" y="1244600"/>
            <a:ext cx="381000" cy="381000"/>
          </a:xfrm>
          <a:prstGeom prst="ellipse">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1</a:t>
            </a:r>
            <a:endParaRPr lang="en-US" sz="1300" b="1">
              <a:solidFill>
                <a:srgbClr val="FFFFFF"/>
              </a:solidFill>
              <a:latin typeface="Segoe UI" panose="020B0502040204020203" pitchFamily="34" charset="0"/>
            </a:endParaRPr>
          </a:p>
        </p:txBody>
      </p:sp>
      <p:sp>
        <p:nvSpPr>
          <p:cNvPr id="10" name="ZoneTexte 9"/>
          <p:cNvSpPr txBox="1"/>
          <p:nvPr/>
        </p:nvSpPr>
        <p:spPr>
          <a:xfrm>
            <a:off x="1041400" y="1270000"/>
            <a:ext cx="4953000" cy="369332"/>
          </a:xfrm>
          <a:prstGeom prst="rect">
            <a:avLst/>
          </a:prstGeom>
          <a:noFill/>
        </p:spPr>
        <p:txBody>
          <a:bodyPr vert="horz" wrap="square" lIns="0" tIns="0" rIns="0" bIns="0" rtlCol="0">
            <a:noAutofit/>
          </a:bodyPr>
          <a:lstStyle/>
          <a:p>
            <a:r>
              <a:rPr lang="fr-FR" sz="1400" b="1" smtClean="0">
                <a:solidFill>
                  <a:srgbClr val="212121"/>
                </a:solidFill>
                <a:latin typeface="Segoe UI" panose="020B0502040204020203" pitchFamily="34" charset="0"/>
              </a:rPr>
              <a:t>Cliquer sur « Demander une précision »</a:t>
            </a:r>
            <a:endParaRPr lang="en-US" sz="1400" b="1">
              <a:solidFill>
                <a:srgbClr val="212121"/>
              </a:solidFill>
              <a:latin typeface="Segoe UI" panose="020B0502040204020203" pitchFamily="34" charset="0"/>
            </a:endParaRPr>
          </a:p>
        </p:txBody>
      </p:sp>
      <p:sp>
        <p:nvSpPr>
          <p:cNvPr id="11" name="ZoneTexte 10"/>
          <p:cNvSpPr txBox="1"/>
          <p:nvPr/>
        </p:nvSpPr>
        <p:spPr>
          <a:xfrm>
            <a:off x="1041400" y="1549400"/>
            <a:ext cx="4953000" cy="369332"/>
          </a:xfrm>
          <a:prstGeom prst="rect">
            <a:avLst/>
          </a:prstGeom>
          <a:noFill/>
        </p:spPr>
        <p:txBody>
          <a:bodyPr vert="horz" wrap="square" lIns="0" tIns="0" rIns="0" bIns="0" rtlCol="0">
            <a:noAutofit/>
          </a:bodyPr>
          <a:lstStyle/>
          <a:p>
            <a:r>
              <a:rPr lang="fr-FR" sz="1150" smtClean="0">
                <a:solidFill>
                  <a:srgbClr val="6E6E6E"/>
                </a:solidFill>
                <a:latin typeface="Segoe UI" panose="020B0502040204020203" pitchFamily="34" charset="0"/>
              </a:rPr>
              <a:t>L'assigné actuel ouvre la fenêtre modale AUI Dialog2 directement depuis le panneau du ticket.</a:t>
            </a:r>
            <a:endParaRPr lang="en-US" sz="1150">
              <a:solidFill>
                <a:srgbClr val="6E6E6E"/>
              </a:solidFill>
              <a:latin typeface="Segoe UI" panose="020B0502040204020203" pitchFamily="34" charset="0"/>
            </a:endParaRPr>
          </a:p>
        </p:txBody>
      </p:sp>
      <p:sp>
        <p:nvSpPr>
          <p:cNvPr id="12" name="Ellipse 11"/>
          <p:cNvSpPr/>
          <p:nvPr/>
        </p:nvSpPr>
        <p:spPr>
          <a:xfrm>
            <a:off x="508000" y="2489200"/>
            <a:ext cx="381000" cy="381000"/>
          </a:xfrm>
          <a:prstGeom prst="ellipse">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2</a:t>
            </a:r>
            <a:endParaRPr lang="en-US" sz="1300" b="1">
              <a:solidFill>
                <a:srgbClr val="FFFFFF"/>
              </a:solidFill>
              <a:latin typeface="Segoe UI" panose="020B0502040204020203" pitchFamily="34" charset="0"/>
            </a:endParaRPr>
          </a:p>
        </p:txBody>
      </p:sp>
      <p:sp>
        <p:nvSpPr>
          <p:cNvPr id="13" name="ZoneTexte 12"/>
          <p:cNvSpPr txBox="1"/>
          <p:nvPr/>
        </p:nvSpPr>
        <p:spPr>
          <a:xfrm>
            <a:off x="1041400" y="2514600"/>
            <a:ext cx="4953000" cy="369332"/>
          </a:xfrm>
          <a:prstGeom prst="rect">
            <a:avLst/>
          </a:prstGeom>
          <a:noFill/>
        </p:spPr>
        <p:txBody>
          <a:bodyPr vert="horz" wrap="square" lIns="0" tIns="0" rIns="0" bIns="0" rtlCol="0">
            <a:noAutofit/>
          </a:bodyPr>
          <a:lstStyle/>
          <a:p>
            <a:r>
              <a:rPr lang="en-US" sz="1400" b="1" smtClean="0">
                <a:solidFill>
                  <a:srgbClr val="212121"/>
                </a:solidFill>
                <a:latin typeface="Segoe UI" panose="020B0502040204020203" pitchFamily="34" charset="0"/>
              </a:rPr>
              <a:t>Rechercher le destinataire</a:t>
            </a:r>
            <a:endParaRPr lang="en-US" sz="1400" b="1">
              <a:solidFill>
                <a:srgbClr val="212121"/>
              </a:solidFill>
              <a:latin typeface="Segoe UI" panose="020B0502040204020203" pitchFamily="34" charset="0"/>
            </a:endParaRPr>
          </a:p>
        </p:txBody>
      </p:sp>
      <p:sp>
        <p:nvSpPr>
          <p:cNvPr id="14" name="ZoneTexte 13"/>
          <p:cNvSpPr txBox="1"/>
          <p:nvPr/>
        </p:nvSpPr>
        <p:spPr>
          <a:xfrm>
            <a:off x="1041400" y="2794000"/>
            <a:ext cx="4953000" cy="369332"/>
          </a:xfrm>
          <a:prstGeom prst="rect">
            <a:avLst/>
          </a:prstGeom>
          <a:noFill/>
        </p:spPr>
        <p:txBody>
          <a:bodyPr vert="horz" wrap="square" lIns="0" tIns="0" rIns="0" bIns="0" rtlCol="0">
            <a:noAutofit/>
          </a:bodyPr>
          <a:lstStyle/>
          <a:p>
            <a:r>
              <a:rPr lang="fr-FR" sz="1150" smtClean="0">
                <a:solidFill>
                  <a:srgbClr val="6E6E6E"/>
                </a:solidFill>
                <a:latin typeface="Segoe UI" panose="020B0502040204020203" pitchFamily="34" charset="0"/>
              </a:rPr>
              <a:t>Saisie libre du nom ou de l'identifiant dans « Destinataire » : autocomplétion globale de tous les utilisateurs Jira.</a:t>
            </a:r>
            <a:endParaRPr lang="en-US" sz="1150">
              <a:solidFill>
                <a:srgbClr val="6E6E6E"/>
              </a:solidFill>
              <a:latin typeface="Segoe UI" panose="020B0502040204020203" pitchFamily="34" charset="0"/>
            </a:endParaRPr>
          </a:p>
        </p:txBody>
      </p:sp>
      <p:sp>
        <p:nvSpPr>
          <p:cNvPr id="15" name="Ellipse 14"/>
          <p:cNvSpPr/>
          <p:nvPr/>
        </p:nvSpPr>
        <p:spPr>
          <a:xfrm>
            <a:off x="508000" y="3733800"/>
            <a:ext cx="381000" cy="381000"/>
          </a:xfrm>
          <a:prstGeom prst="ellipse">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3</a:t>
            </a:r>
            <a:endParaRPr lang="en-US" sz="1300" b="1">
              <a:solidFill>
                <a:srgbClr val="FFFFFF"/>
              </a:solidFill>
              <a:latin typeface="Segoe UI" panose="020B0502040204020203" pitchFamily="34" charset="0"/>
            </a:endParaRPr>
          </a:p>
        </p:txBody>
      </p:sp>
      <p:sp>
        <p:nvSpPr>
          <p:cNvPr id="16" name="ZoneTexte 15"/>
          <p:cNvSpPr txBox="1"/>
          <p:nvPr/>
        </p:nvSpPr>
        <p:spPr>
          <a:xfrm>
            <a:off x="1041400" y="3759200"/>
            <a:ext cx="4953000" cy="369332"/>
          </a:xfrm>
          <a:prstGeom prst="rect">
            <a:avLst/>
          </a:prstGeom>
          <a:noFill/>
        </p:spPr>
        <p:txBody>
          <a:bodyPr vert="horz" wrap="square" lIns="0" tIns="0" rIns="0" bIns="0" rtlCol="0">
            <a:noAutofit/>
          </a:bodyPr>
          <a:lstStyle/>
          <a:p>
            <a:r>
              <a:rPr lang="fr-FR" sz="1400" b="1" smtClean="0">
                <a:solidFill>
                  <a:srgbClr val="212121"/>
                </a:solidFill>
                <a:latin typeface="Segoe UI" panose="020B0502040204020203" pitchFamily="34" charset="0"/>
              </a:rPr>
              <a:t>Rédiger le commentaire &amp; joindre un fichier</a:t>
            </a:r>
            <a:endParaRPr lang="en-US" sz="1400" b="1">
              <a:solidFill>
                <a:srgbClr val="212121"/>
              </a:solidFill>
              <a:latin typeface="Segoe UI" panose="020B0502040204020203" pitchFamily="34" charset="0"/>
            </a:endParaRPr>
          </a:p>
        </p:txBody>
      </p:sp>
      <p:sp>
        <p:nvSpPr>
          <p:cNvPr id="17" name="ZoneTexte 16"/>
          <p:cNvSpPr txBox="1"/>
          <p:nvPr/>
        </p:nvSpPr>
        <p:spPr>
          <a:xfrm>
            <a:off x="1041400" y="4038600"/>
            <a:ext cx="4953000" cy="369332"/>
          </a:xfrm>
          <a:prstGeom prst="rect">
            <a:avLst/>
          </a:prstGeom>
          <a:noFill/>
        </p:spPr>
        <p:txBody>
          <a:bodyPr vert="horz" wrap="square" lIns="0" tIns="0" rIns="0" bIns="0" rtlCol="0">
            <a:noAutofit/>
          </a:bodyPr>
          <a:lstStyle/>
          <a:p>
            <a:r>
              <a:rPr lang="fr-FR" sz="1150" smtClean="0">
                <a:solidFill>
                  <a:srgbClr val="6E6E6E"/>
                </a:solidFill>
                <a:latin typeface="Segoe UI" panose="020B0502040204020203" pitchFamily="34" charset="0"/>
              </a:rPr>
              <a:t>Saisie du « Commentaire » détaillant le besoin et sélection optionnelle d'un document dans « Pièce jointe ».</a:t>
            </a:r>
            <a:endParaRPr lang="en-US" sz="1150">
              <a:solidFill>
                <a:srgbClr val="6E6E6E"/>
              </a:solidFill>
              <a:latin typeface="Segoe UI" panose="020B0502040204020203" pitchFamily="34" charset="0"/>
            </a:endParaRPr>
          </a:p>
        </p:txBody>
      </p:sp>
      <p:sp>
        <p:nvSpPr>
          <p:cNvPr id="18" name="Ellipse 17"/>
          <p:cNvSpPr/>
          <p:nvPr/>
        </p:nvSpPr>
        <p:spPr>
          <a:xfrm>
            <a:off x="508000" y="4978400"/>
            <a:ext cx="381000" cy="381000"/>
          </a:xfrm>
          <a:prstGeom prst="ellipse">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4</a:t>
            </a:r>
            <a:endParaRPr lang="en-US" sz="1300" b="1">
              <a:solidFill>
                <a:srgbClr val="FFFFFF"/>
              </a:solidFill>
              <a:latin typeface="Segoe UI" panose="020B0502040204020203" pitchFamily="34" charset="0"/>
            </a:endParaRPr>
          </a:p>
        </p:txBody>
      </p:sp>
      <p:sp>
        <p:nvSpPr>
          <p:cNvPr id="19" name="ZoneTexte 18"/>
          <p:cNvSpPr txBox="1"/>
          <p:nvPr/>
        </p:nvSpPr>
        <p:spPr>
          <a:xfrm>
            <a:off x="1041400" y="5003800"/>
            <a:ext cx="4953000" cy="369332"/>
          </a:xfrm>
          <a:prstGeom prst="rect">
            <a:avLst/>
          </a:prstGeom>
          <a:noFill/>
        </p:spPr>
        <p:txBody>
          <a:bodyPr vert="horz" wrap="square" lIns="0" tIns="0" rIns="0" bIns="0" rtlCol="0">
            <a:noAutofit/>
          </a:bodyPr>
          <a:lstStyle/>
          <a:p>
            <a:r>
              <a:rPr lang="fr-FR" sz="1400" b="1" smtClean="0">
                <a:solidFill>
                  <a:srgbClr val="212121"/>
                </a:solidFill>
                <a:latin typeface="Segoe UI" panose="020B0502040204020203" pitchFamily="34" charset="0"/>
              </a:rPr>
              <a:t>Validation en ligne &amp; assignation auto</a:t>
            </a:r>
            <a:endParaRPr lang="en-US" sz="1400" b="1">
              <a:solidFill>
                <a:srgbClr val="212121"/>
              </a:solidFill>
              <a:latin typeface="Segoe UI" panose="020B0502040204020203" pitchFamily="34" charset="0"/>
            </a:endParaRPr>
          </a:p>
        </p:txBody>
      </p:sp>
      <p:sp>
        <p:nvSpPr>
          <p:cNvPr id="20" name="ZoneTexte 19"/>
          <p:cNvSpPr txBox="1"/>
          <p:nvPr/>
        </p:nvSpPr>
        <p:spPr>
          <a:xfrm>
            <a:off x="1041400" y="5283200"/>
            <a:ext cx="4953000" cy="369332"/>
          </a:xfrm>
          <a:prstGeom prst="rect">
            <a:avLst/>
          </a:prstGeom>
          <a:noFill/>
        </p:spPr>
        <p:txBody>
          <a:bodyPr vert="horz" wrap="square" lIns="0" tIns="0" rIns="0" bIns="0" rtlCol="0">
            <a:noAutofit/>
          </a:bodyPr>
          <a:lstStyle/>
          <a:p>
            <a:r>
              <a:rPr lang="fr-FR" sz="1150" smtClean="0">
                <a:solidFill>
                  <a:srgbClr val="6E6E6E"/>
                </a:solidFill>
                <a:latin typeface="Segoe UI" panose="020B0502040204020203" pitchFamily="34" charset="0"/>
              </a:rPr>
              <a:t>Si un champ est invalide, l'erreur s'affiche en rouge sous le champ (sans alerte navigateur). Si tout est valide, le fichier est joint et le ticket est assigné au destinataire.</a:t>
            </a:r>
            <a:endParaRPr lang="en-US" sz="1150">
              <a:solidFill>
                <a:srgbClr val="6E6E6E"/>
              </a:solidFill>
              <a:latin typeface="Segoe UI" panose="020B0502040204020203" pitchFamily="34" charset="0"/>
            </a:endParaRPr>
          </a:p>
        </p:txBody>
      </p:sp>
      <p:sp>
        <p:nvSpPr>
          <p:cNvPr id="21" name="Rectangle 20"/>
          <p:cNvSpPr/>
          <p:nvPr/>
        </p:nvSpPr>
        <p:spPr>
          <a:xfrm>
            <a:off x="6286500" y="1244600"/>
            <a:ext cx="5397500" cy="2362200"/>
          </a:xfrm>
          <a:prstGeom prst="rect">
            <a:avLst/>
          </a:prstGeom>
          <a:solidFill>
            <a:srgbClr val="FFF7D6"/>
          </a:solidFill>
          <a:ln w="19050" cap="flat" cmpd="sng" algn="ctr">
            <a:solidFill>
              <a:srgbClr val="FFAB00"/>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fr-FR" sz="1300" b="1" dirty="0" smtClean="0">
                <a:solidFill>
                  <a:srgbClr val="212121"/>
                </a:solidFill>
                <a:latin typeface="Segoe UI" panose="020B0502040204020203" pitchFamily="34" charset="0"/>
              </a:rPr>
              <a:t>[Insérer capture d'écran 5]</a:t>
            </a:r>
          </a:p>
          <a:p>
            <a:pPr algn="ctr"/>
            <a:r>
              <a:rPr lang="fr-FR" sz="1300" b="1" dirty="0" smtClean="0">
                <a:solidFill>
                  <a:srgbClr val="212121"/>
                </a:solidFill>
                <a:latin typeface="Segoe UI" panose="020B0502040204020203" pitchFamily="34" charset="0"/>
              </a:rPr>
              <a:t>Modale « Demander une précision » ouverte :</a:t>
            </a:r>
          </a:p>
          <a:p>
            <a:pPr algn="ctr"/>
            <a:r>
              <a:rPr lang="fr-FR" sz="1300" b="1" dirty="0" smtClean="0">
                <a:solidFill>
                  <a:srgbClr val="212121"/>
                </a:solidFill>
                <a:latin typeface="Segoe UI" panose="020B0502040204020203" pitchFamily="34" charset="0"/>
              </a:rPr>
              <a:t>Recherche globale d'utilisateur (</a:t>
            </a:r>
            <a:r>
              <a:rPr lang="fr-FR" sz="1300" b="1" dirty="0" err="1" smtClean="0">
                <a:solidFill>
                  <a:srgbClr val="212121"/>
                </a:solidFill>
                <a:latin typeface="Segoe UI" panose="020B0502040204020203" pitchFamily="34" charset="0"/>
              </a:rPr>
              <a:t>autocomplétion</a:t>
            </a:r>
            <a:r>
              <a:rPr lang="fr-FR" sz="1300" b="1" dirty="0" smtClean="0">
                <a:solidFill>
                  <a:srgbClr val="212121"/>
                </a:solidFill>
                <a:latin typeface="Segoe UI" panose="020B0502040204020203" pitchFamily="34" charset="0"/>
              </a:rPr>
              <a:t>),</a:t>
            </a:r>
          </a:p>
          <a:p>
            <a:pPr algn="ctr"/>
            <a:r>
              <a:rPr lang="fr-FR" sz="1300" b="1" dirty="0" smtClean="0">
                <a:solidFill>
                  <a:srgbClr val="212121"/>
                </a:solidFill>
                <a:latin typeface="Segoe UI" panose="020B0502040204020203" pitchFamily="34" charset="0"/>
              </a:rPr>
              <a:t>champ « Commentaire » et champ « Pièce jointe »</a:t>
            </a:r>
            <a:endParaRPr lang="en-US" sz="1300" b="1" dirty="0">
              <a:solidFill>
                <a:srgbClr val="212121"/>
              </a:solidFill>
              <a:latin typeface="Segoe UI" panose="020B0502040204020203" pitchFamily="34" charset="0"/>
            </a:endParaRPr>
          </a:p>
        </p:txBody>
      </p:sp>
      <p:sp>
        <p:nvSpPr>
          <p:cNvPr id="22" name="Rectangle 21"/>
          <p:cNvSpPr/>
          <p:nvPr/>
        </p:nvSpPr>
        <p:spPr>
          <a:xfrm>
            <a:off x="6286500" y="3835400"/>
            <a:ext cx="5397500" cy="2362200"/>
          </a:xfrm>
          <a:prstGeom prst="rect">
            <a:avLst/>
          </a:prstGeom>
          <a:solidFill>
            <a:srgbClr val="FFF7D6"/>
          </a:solidFill>
          <a:ln w="19050" cap="flat" cmpd="sng" algn="ctr">
            <a:solidFill>
              <a:srgbClr val="FFAB00"/>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fr-FR" sz="1300" b="1" smtClean="0">
                <a:solidFill>
                  <a:srgbClr val="212121"/>
                </a:solidFill>
                <a:latin typeface="Segoe UI" panose="020B0502040204020203" pitchFamily="34" charset="0"/>
              </a:rPr>
              <a:t>[Insérer capture d'écran 6]</a:t>
            </a:r>
          </a:p>
          <a:p>
            <a:pPr algn="ctr"/>
            <a:r>
              <a:rPr lang="fr-FR" sz="1300" b="1" smtClean="0">
                <a:solidFill>
                  <a:srgbClr val="212121"/>
                </a:solidFill>
                <a:latin typeface="Segoe UI" panose="020B0502040204020203" pitchFamily="34" charset="0"/>
              </a:rPr>
              <a:t>Affichage d'une erreur de validation directement</a:t>
            </a:r>
          </a:p>
          <a:p>
            <a:pPr algn="ctr"/>
            <a:r>
              <a:rPr lang="fr-FR" sz="1300" b="1" smtClean="0">
                <a:solidFill>
                  <a:srgbClr val="212121"/>
                </a:solidFill>
                <a:latin typeface="Segoe UI" panose="020B0502040204020203" pitchFamily="34" charset="0"/>
              </a:rPr>
              <a:t>sur le formulaire (ex. destinataire ou commentaire manquant)</a:t>
            </a:r>
            <a:endParaRPr lang="en-US" sz="1300" b="1">
              <a:solidFill>
                <a:srgbClr val="212121"/>
              </a:solidFill>
              <a:latin typeface="Segoe UI" panose="020B0502040204020203" pitchFamily="34" charset="0"/>
            </a:endParaRPr>
          </a:p>
        </p:txBody>
      </p:sp>
      <p:pic>
        <p:nvPicPr>
          <p:cNvPr id="24" name="Imag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4450" y="1308118"/>
            <a:ext cx="5181600" cy="2235163"/>
          </a:xfrm>
          <a:prstGeom prst="rect">
            <a:avLst/>
          </a:prstGeom>
        </p:spPr>
      </p:pic>
      <p:pic>
        <p:nvPicPr>
          <p:cNvPr id="25" name="Image 2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8414" y="3866634"/>
            <a:ext cx="5233672" cy="2299732"/>
          </a:xfrm>
          <a:prstGeom prst="rect">
            <a:avLst/>
          </a:prstGeom>
        </p:spPr>
      </p:pic>
    </p:spTree>
    <p:extLst>
      <p:ext uri="{BB962C8B-B14F-4D97-AF65-F5344CB8AC3E}">
        <p14:creationId xmlns:p14="http://schemas.microsoft.com/office/powerpoint/2010/main" val="120735428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C8102E"/>
                </a:solidFill>
                <a:latin typeface="Segoe UI" panose="020B0502040204020203" pitchFamily="34" charset="0"/>
              </a:rPr>
              <a:t>05 · PÉRENNISER</a:t>
            </a:r>
            <a:endParaRPr lang="en-US" sz="1000" b="1">
              <a:solidFill>
                <a:srgbClr val="C8102E"/>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fr-FR" sz="2400" b="1" smtClean="0">
                <a:solidFill>
                  <a:srgbClr val="212121"/>
                </a:solidFill>
                <a:latin typeface="Segoe UI" panose="020B0502040204020203" pitchFamily="34" charset="0"/>
              </a:rPr>
              <a:t>Cas concret : répondre et retour automatique (2/2)</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28</a:t>
            </a:r>
            <a:endParaRPr lang="en-US" sz="900">
              <a:solidFill>
                <a:srgbClr val="6E6E6E"/>
              </a:solidFill>
              <a:latin typeface="Segoe UI" panose="020B0502040204020203" pitchFamily="34" charset="0"/>
            </a:endParaRPr>
          </a:p>
        </p:txBody>
      </p:sp>
      <p:sp>
        <p:nvSpPr>
          <p:cNvPr id="9" name="Ellipse 8"/>
          <p:cNvSpPr/>
          <p:nvPr/>
        </p:nvSpPr>
        <p:spPr>
          <a:xfrm>
            <a:off x="508000" y="1244600"/>
            <a:ext cx="381000" cy="381000"/>
          </a:xfrm>
          <a:prstGeom prst="ellipse">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1</a:t>
            </a:r>
            <a:endParaRPr lang="en-US" sz="1300" b="1">
              <a:solidFill>
                <a:srgbClr val="FFFFFF"/>
              </a:solidFill>
              <a:latin typeface="Segoe UI" panose="020B0502040204020203" pitchFamily="34" charset="0"/>
            </a:endParaRPr>
          </a:p>
        </p:txBody>
      </p:sp>
      <p:sp>
        <p:nvSpPr>
          <p:cNvPr id="10" name="ZoneTexte 9"/>
          <p:cNvSpPr txBox="1"/>
          <p:nvPr/>
        </p:nvSpPr>
        <p:spPr>
          <a:xfrm>
            <a:off x="1041400" y="1270000"/>
            <a:ext cx="4953000" cy="369332"/>
          </a:xfrm>
          <a:prstGeom prst="rect">
            <a:avLst/>
          </a:prstGeom>
          <a:noFill/>
        </p:spPr>
        <p:txBody>
          <a:bodyPr vert="horz" wrap="square" lIns="0" tIns="0" rIns="0" bIns="0" rtlCol="0">
            <a:noAutofit/>
          </a:bodyPr>
          <a:lstStyle/>
          <a:p>
            <a:r>
              <a:rPr lang="sv-SE" sz="1400" b="1" smtClean="0">
                <a:solidFill>
                  <a:srgbClr val="212121"/>
                </a:solidFill>
                <a:latin typeface="Segoe UI" panose="020B0502040204020203" pitchFamily="34" charset="0"/>
              </a:rPr>
              <a:t>Ticket en statut « EN ATTENTE »</a:t>
            </a:r>
            <a:endParaRPr lang="en-US" sz="1400" b="1">
              <a:solidFill>
                <a:srgbClr val="212121"/>
              </a:solidFill>
              <a:latin typeface="Segoe UI" panose="020B0502040204020203" pitchFamily="34" charset="0"/>
            </a:endParaRPr>
          </a:p>
        </p:txBody>
      </p:sp>
      <p:sp>
        <p:nvSpPr>
          <p:cNvPr id="11" name="ZoneTexte 10"/>
          <p:cNvSpPr txBox="1"/>
          <p:nvPr/>
        </p:nvSpPr>
        <p:spPr>
          <a:xfrm>
            <a:off x="1041400" y="1549400"/>
            <a:ext cx="4953000" cy="369332"/>
          </a:xfrm>
          <a:prstGeom prst="rect">
            <a:avLst/>
          </a:prstGeom>
          <a:noFill/>
        </p:spPr>
        <p:txBody>
          <a:bodyPr vert="horz" wrap="square" lIns="0" tIns="0" rIns="0" bIns="0" rtlCol="0">
            <a:noAutofit/>
          </a:bodyPr>
          <a:lstStyle/>
          <a:p>
            <a:r>
              <a:rPr lang="fr-FR" sz="1150" smtClean="0">
                <a:solidFill>
                  <a:srgbClr val="6E6E6E"/>
                </a:solidFill>
                <a:latin typeface="Segoe UI" panose="020B0502040204020203" pitchFamily="34" charset="0"/>
              </a:rPr>
              <a:t>Le ticket est désormais assigné au destinataire. Le panneau affiche la question, l'auteur, la date et le lien vers la pièce jointe.</a:t>
            </a:r>
            <a:endParaRPr lang="en-US" sz="1150">
              <a:solidFill>
                <a:srgbClr val="6E6E6E"/>
              </a:solidFill>
              <a:latin typeface="Segoe UI" panose="020B0502040204020203" pitchFamily="34" charset="0"/>
            </a:endParaRPr>
          </a:p>
        </p:txBody>
      </p:sp>
      <p:sp>
        <p:nvSpPr>
          <p:cNvPr id="12" name="Ellipse 11"/>
          <p:cNvSpPr/>
          <p:nvPr/>
        </p:nvSpPr>
        <p:spPr>
          <a:xfrm>
            <a:off x="508000" y="2489200"/>
            <a:ext cx="381000" cy="381000"/>
          </a:xfrm>
          <a:prstGeom prst="ellipse">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2</a:t>
            </a:r>
            <a:endParaRPr lang="en-US" sz="1300" b="1">
              <a:solidFill>
                <a:srgbClr val="FFFFFF"/>
              </a:solidFill>
              <a:latin typeface="Segoe UI" panose="020B0502040204020203" pitchFamily="34" charset="0"/>
            </a:endParaRPr>
          </a:p>
        </p:txBody>
      </p:sp>
      <p:sp>
        <p:nvSpPr>
          <p:cNvPr id="13" name="ZoneTexte 12"/>
          <p:cNvSpPr txBox="1"/>
          <p:nvPr/>
        </p:nvSpPr>
        <p:spPr>
          <a:xfrm>
            <a:off x="1041400" y="2514600"/>
            <a:ext cx="4953000" cy="369332"/>
          </a:xfrm>
          <a:prstGeom prst="rect">
            <a:avLst/>
          </a:prstGeom>
          <a:noFill/>
        </p:spPr>
        <p:txBody>
          <a:bodyPr vert="horz" wrap="square" lIns="0" tIns="0" rIns="0" bIns="0" rtlCol="0">
            <a:noAutofit/>
          </a:bodyPr>
          <a:lstStyle/>
          <a:p>
            <a:r>
              <a:rPr lang="fr-FR" sz="1400" b="1" smtClean="0">
                <a:solidFill>
                  <a:srgbClr val="212121"/>
                </a:solidFill>
                <a:latin typeface="Segoe UI" panose="020B0502040204020203" pitchFamily="34" charset="0"/>
              </a:rPr>
              <a:t>Actions réservées aux acteurs légitimes</a:t>
            </a:r>
            <a:endParaRPr lang="en-US" sz="1400" b="1">
              <a:solidFill>
                <a:srgbClr val="212121"/>
              </a:solidFill>
              <a:latin typeface="Segoe UI" panose="020B0502040204020203" pitchFamily="34" charset="0"/>
            </a:endParaRPr>
          </a:p>
        </p:txBody>
      </p:sp>
      <p:sp>
        <p:nvSpPr>
          <p:cNvPr id="14" name="ZoneTexte 13"/>
          <p:cNvSpPr txBox="1"/>
          <p:nvPr/>
        </p:nvSpPr>
        <p:spPr>
          <a:xfrm>
            <a:off x="1041400" y="2794000"/>
            <a:ext cx="4953000" cy="369332"/>
          </a:xfrm>
          <a:prstGeom prst="rect">
            <a:avLst/>
          </a:prstGeom>
          <a:noFill/>
        </p:spPr>
        <p:txBody>
          <a:bodyPr vert="horz" wrap="square" lIns="0" tIns="0" rIns="0" bIns="0" rtlCol="0">
            <a:noAutofit/>
          </a:bodyPr>
          <a:lstStyle/>
          <a:p>
            <a:r>
              <a:rPr lang="fr-FR" sz="1150" smtClean="0">
                <a:solidFill>
                  <a:srgbClr val="6E6E6E"/>
                </a:solidFill>
                <a:latin typeface="Segoe UI" panose="020B0502040204020203" pitchFamily="34" charset="0"/>
              </a:rPr>
              <a:t>Seul le destinataire voit le bouton « Répondre ». De son côté, seul l'auteur initial dispose du bouton « Annuler ».</a:t>
            </a:r>
            <a:endParaRPr lang="en-US" sz="1150">
              <a:solidFill>
                <a:srgbClr val="6E6E6E"/>
              </a:solidFill>
              <a:latin typeface="Segoe UI" panose="020B0502040204020203" pitchFamily="34" charset="0"/>
            </a:endParaRPr>
          </a:p>
        </p:txBody>
      </p:sp>
      <p:sp>
        <p:nvSpPr>
          <p:cNvPr id="15" name="Ellipse 14"/>
          <p:cNvSpPr/>
          <p:nvPr/>
        </p:nvSpPr>
        <p:spPr>
          <a:xfrm>
            <a:off x="508000" y="3733800"/>
            <a:ext cx="381000" cy="381000"/>
          </a:xfrm>
          <a:prstGeom prst="ellipse">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3</a:t>
            </a:r>
            <a:endParaRPr lang="en-US" sz="1300" b="1">
              <a:solidFill>
                <a:srgbClr val="FFFFFF"/>
              </a:solidFill>
              <a:latin typeface="Segoe UI" panose="020B0502040204020203" pitchFamily="34" charset="0"/>
            </a:endParaRPr>
          </a:p>
        </p:txBody>
      </p:sp>
      <p:sp>
        <p:nvSpPr>
          <p:cNvPr id="16" name="ZoneTexte 15"/>
          <p:cNvSpPr txBox="1"/>
          <p:nvPr/>
        </p:nvSpPr>
        <p:spPr>
          <a:xfrm>
            <a:off x="1041400" y="3759200"/>
            <a:ext cx="4953000" cy="369332"/>
          </a:xfrm>
          <a:prstGeom prst="rect">
            <a:avLst/>
          </a:prstGeom>
          <a:noFill/>
        </p:spPr>
        <p:txBody>
          <a:bodyPr vert="horz" wrap="square" lIns="0" tIns="0" rIns="0" bIns="0" rtlCol="0">
            <a:noAutofit/>
          </a:bodyPr>
          <a:lstStyle/>
          <a:p>
            <a:r>
              <a:rPr lang="fr-FR" sz="1400" b="1" smtClean="0">
                <a:solidFill>
                  <a:srgbClr val="212121"/>
                </a:solidFill>
                <a:latin typeface="Segoe UI" panose="020B0502040204020203" pitchFamily="34" charset="0"/>
              </a:rPr>
              <a:t>Saisir la réponse et joindre le justificatif</a:t>
            </a:r>
            <a:endParaRPr lang="en-US" sz="1400" b="1">
              <a:solidFill>
                <a:srgbClr val="212121"/>
              </a:solidFill>
              <a:latin typeface="Segoe UI" panose="020B0502040204020203" pitchFamily="34" charset="0"/>
            </a:endParaRPr>
          </a:p>
        </p:txBody>
      </p:sp>
      <p:sp>
        <p:nvSpPr>
          <p:cNvPr id="17" name="ZoneTexte 16"/>
          <p:cNvSpPr txBox="1"/>
          <p:nvPr/>
        </p:nvSpPr>
        <p:spPr>
          <a:xfrm>
            <a:off x="1041400" y="4038600"/>
            <a:ext cx="4953000" cy="369332"/>
          </a:xfrm>
          <a:prstGeom prst="rect">
            <a:avLst/>
          </a:prstGeom>
          <a:noFill/>
        </p:spPr>
        <p:txBody>
          <a:bodyPr vert="horz" wrap="square" lIns="0" tIns="0" rIns="0" bIns="0" rtlCol="0">
            <a:noAutofit/>
          </a:bodyPr>
          <a:lstStyle/>
          <a:p>
            <a:r>
              <a:rPr lang="fr-FR" sz="1150" smtClean="0">
                <a:solidFill>
                  <a:srgbClr val="6E6E6E"/>
                </a:solidFill>
                <a:latin typeface="Segoe UI" panose="020B0502040204020203" pitchFamily="34" charset="0"/>
              </a:rPr>
              <a:t>Le destinataire clique sur « Répondre », saisit son « Commentaire » de réponse et ajoute sa « Pièce jointe ».</a:t>
            </a:r>
            <a:endParaRPr lang="en-US" sz="1150">
              <a:solidFill>
                <a:srgbClr val="6E6E6E"/>
              </a:solidFill>
              <a:latin typeface="Segoe UI" panose="020B0502040204020203" pitchFamily="34" charset="0"/>
            </a:endParaRPr>
          </a:p>
        </p:txBody>
      </p:sp>
      <p:sp>
        <p:nvSpPr>
          <p:cNvPr id="18" name="Ellipse 17"/>
          <p:cNvSpPr/>
          <p:nvPr/>
        </p:nvSpPr>
        <p:spPr>
          <a:xfrm>
            <a:off x="508000" y="4978400"/>
            <a:ext cx="381000" cy="381000"/>
          </a:xfrm>
          <a:prstGeom prst="ellipse">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smtClean="0">
                <a:solidFill>
                  <a:srgbClr val="FFFFFF"/>
                </a:solidFill>
                <a:latin typeface="Segoe UI" panose="020B0502040204020203" pitchFamily="34" charset="0"/>
              </a:rPr>
              <a:t>4</a:t>
            </a:r>
            <a:endParaRPr lang="en-US" sz="1300" b="1">
              <a:solidFill>
                <a:srgbClr val="FFFFFF"/>
              </a:solidFill>
              <a:latin typeface="Segoe UI" panose="020B0502040204020203" pitchFamily="34" charset="0"/>
            </a:endParaRPr>
          </a:p>
        </p:txBody>
      </p:sp>
      <p:sp>
        <p:nvSpPr>
          <p:cNvPr id="19" name="ZoneTexte 18"/>
          <p:cNvSpPr txBox="1"/>
          <p:nvPr/>
        </p:nvSpPr>
        <p:spPr>
          <a:xfrm>
            <a:off x="1041400" y="5003800"/>
            <a:ext cx="4953000" cy="369332"/>
          </a:xfrm>
          <a:prstGeom prst="rect">
            <a:avLst/>
          </a:prstGeom>
          <a:noFill/>
        </p:spPr>
        <p:txBody>
          <a:bodyPr vert="horz" wrap="square" lIns="0" tIns="0" rIns="0" bIns="0" rtlCol="0">
            <a:noAutofit/>
          </a:bodyPr>
          <a:lstStyle/>
          <a:p>
            <a:r>
              <a:rPr lang="en-US" sz="1400" b="1" smtClean="0">
                <a:solidFill>
                  <a:srgbClr val="212121"/>
                </a:solidFill>
                <a:latin typeface="Segoe UI" panose="020B0502040204020203" pitchFamily="34" charset="0"/>
              </a:rPr>
              <a:t>Réassignation automatique à l'auteur</a:t>
            </a:r>
            <a:endParaRPr lang="en-US" sz="1400" b="1">
              <a:solidFill>
                <a:srgbClr val="212121"/>
              </a:solidFill>
              <a:latin typeface="Segoe UI" panose="020B0502040204020203" pitchFamily="34" charset="0"/>
            </a:endParaRPr>
          </a:p>
        </p:txBody>
      </p:sp>
      <p:sp>
        <p:nvSpPr>
          <p:cNvPr id="20" name="ZoneTexte 19"/>
          <p:cNvSpPr txBox="1"/>
          <p:nvPr/>
        </p:nvSpPr>
        <p:spPr>
          <a:xfrm>
            <a:off x="1041400" y="5283200"/>
            <a:ext cx="4953000" cy="369332"/>
          </a:xfrm>
          <a:prstGeom prst="rect">
            <a:avLst/>
          </a:prstGeom>
          <a:noFill/>
        </p:spPr>
        <p:txBody>
          <a:bodyPr vert="horz" wrap="square" lIns="0" tIns="0" rIns="0" bIns="0" rtlCol="0">
            <a:noAutofit/>
          </a:bodyPr>
          <a:lstStyle/>
          <a:p>
            <a:r>
              <a:rPr lang="fr-FR" sz="1150" smtClean="0">
                <a:solidFill>
                  <a:srgbClr val="6E6E6E"/>
                </a:solidFill>
                <a:latin typeface="Segoe UI" panose="020B0502040204020203" pitchFamily="34" charset="0"/>
              </a:rPr>
              <a:t>Dès l'envoi, le statut passe à « RÉPONDU », un commentaire est tracé sur le ticket et le ticket revient automatiquement à l'auteur initial.</a:t>
            </a:r>
            <a:endParaRPr lang="en-US" sz="1150">
              <a:solidFill>
                <a:srgbClr val="6E6E6E"/>
              </a:solidFill>
              <a:latin typeface="Segoe UI" panose="020B0502040204020203" pitchFamily="34" charset="0"/>
            </a:endParaRPr>
          </a:p>
        </p:txBody>
      </p:sp>
      <p:sp>
        <p:nvSpPr>
          <p:cNvPr id="21" name="Rectangle 20"/>
          <p:cNvSpPr/>
          <p:nvPr/>
        </p:nvSpPr>
        <p:spPr>
          <a:xfrm>
            <a:off x="6286500" y="1244600"/>
            <a:ext cx="5397500" cy="2362200"/>
          </a:xfrm>
          <a:prstGeom prst="rect">
            <a:avLst/>
          </a:prstGeom>
          <a:solidFill>
            <a:srgbClr val="FFF7D6"/>
          </a:solidFill>
          <a:ln w="19050" cap="flat" cmpd="sng" algn="ctr">
            <a:solidFill>
              <a:srgbClr val="FFAB00"/>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fr-FR" sz="1300" b="1" smtClean="0">
                <a:solidFill>
                  <a:srgbClr val="212121"/>
                </a:solidFill>
                <a:latin typeface="Segoe UI" panose="020B0502040204020203" pitchFamily="34" charset="0"/>
              </a:rPr>
              <a:t>[Insérer capture d'écran 7]</a:t>
            </a:r>
          </a:p>
          <a:p>
            <a:pPr algn="ctr"/>
            <a:r>
              <a:rPr lang="fr-FR" sz="1300" b="1" smtClean="0">
                <a:solidFill>
                  <a:srgbClr val="212121"/>
                </a:solidFill>
                <a:latin typeface="Segoe UI" panose="020B0502040204020203" pitchFamily="34" charset="0"/>
              </a:rPr>
              <a:t>Panneau en statut « EN ATTENTE » + modale « Répondre » :</a:t>
            </a:r>
          </a:p>
          <a:p>
            <a:pPr algn="ctr"/>
            <a:r>
              <a:rPr lang="fr-FR" sz="1300" b="1" smtClean="0">
                <a:solidFill>
                  <a:srgbClr val="212121"/>
                </a:solidFill>
                <a:latin typeface="Segoe UI" panose="020B0502040204020203" pitchFamily="34" charset="0"/>
              </a:rPr>
              <a:t>Saisie du commentaire de réponse et ajout de la pièce jointe</a:t>
            </a:r>
            <a:endParaRPr lang="en-US" sz="1300" b="1">
              <a:solidFill>
                <a:srgbClr val="212121"/>
              </a:solidFill>
              <a:latin typeface="Segoe UI" panose="020B0502040204020203" pitchFamily="34" charset="0"/>
            </a:endParaRPr>
          </a:p>
        </p:txBody>
      </p:sp>
      <p:sp>
        <p:nvSpPr>
          <p:cNvPr id="22" name="Rectangle 21"/>
          <p:cNvSpPr/>
          <p:nvPr/>
        </p:nvSpPr>
        <p:spPr>
          <a:xfrm>
            <a:off x="6286500" y="3835400"/>
            <a:ext cx="5397500" cy="2362200"/>
          </a:xfrm>
          <a:prstGeom prst="rect">
            <a:avLst/>
          </a:prstGeom>
          <a:solidFill>
            <a:srgbClr val="FFF7D6"/>
          </a:solidFill>
          <a:ln w="19050" cap="flat" cmpd="sng" algn="ctr">
            <a:solidFill>
              <a:srgbClr val="FFAB00"/>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fr-FR" sz="1300" b="1" smtClean="0">
                <a:solidFill>
                  <a:srgbClr val="212121"/>
                </a:solidFill>
                <a:latin typeface="Segoe UI" panose="020B0502040204020203" pitchFamily="34" charset="0"/>
              </a:rPr>
              <a:t>[Insérer capture d'écran 8]</a:t>
            </a:r>
          </a:p>
          <a:p>
            <a:pPr algn="ctr"/>
            <a:r>
              <a:rPr lang="fr-FR" sz="1300" b="1" smtClean="0">
                <a:solidFill>
                  <a:srgbClr val="212121"/>
                </a:solidFill>
                <a:latin typeface="Segoe UI" panose="020B0502040204020203" pitchFamily="34" charset="0"/>
              </a:rPr>
              <a:t>Résultat après réponse :</a:t>
            </a:r>
          </a:p>
          <a:p>
            <a:pPr algn="ctr"/>
            <a:r>
              <a:rPr lang="fr-FR" sz="1300" b="1" smtClean="0">
                <a:solidFill>
                  <a:srgbClr val="212121"/>
                </a:solidFill>
                <a:latin typeface="Segoe UI" panose="020B0502040204020203" pitchFamily="34" charset="0"/>
              </a:rPr>
              <a:t>Échange en statut « RÉPONDU », commentaire horodaté</a:t>
            </a:r>
          </a:p>
          <a:p>
            <a:pPr algn="ctr"/>
            <a:r>
              <a:rPr lang="fr-FR" sz="1300" b="1" smtClean="0">
                <a:solidFill>
                  <a:srgbClr val="212121"/>
                </a:solidFill>
                <a:latin typeface="Segoe UI" panose="020B0502040204020203" pitchFamily="34" charset="0"/>
              </a:rPr>
              <a:t>et ticket automatiquement réassigné à l'auteur initial</a:t>
            </a:r>
            <a:endParaRPr lang="en-US" sz="1300" b="1">
              <a:solidFill>
                <a:srgbClr val="212121"/>
              </a:solidFill>
              <a:latin typeface="Segoe UI" panose="020B0502040204020203" pitchFamily="34" charset="0"/>
            </a:endParaRPr>
          </a:p>
        </p:txBody>
      </p:sp>
      <p:pic>
        <p:nvPicPr>
          <p:cNvPr id="24" name="Imag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8888" y="1270000"/>
            <a:ext cx="5233672" cy="2299732"/>
          </a:xfrm>
          <a:prstGeom prst="rect">
            <a:avLst/>
          </a:prstGeom>
        </p:spPr>
      </p:pic>
      <p:pic>
        <p:nvPicPr>
          <p:cNvPr id="25" name="Image 2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8888" y="3901723"/>
            <a:ext cx="5233672" cy="2204437"/>
          </a:xfrm>
          <a:prstGeom prst="rect">
            <a:avLst/>
          </a:prstGeom>
        </p:spPr>
      </p:pic>
    </p:spTree>
    <p:extLst>
      <p:ext uri="{BB962C8B-B14F-4D97-AF65-F5344CB8AC3E}">
        <p14:creationId xmlns:p14="http://schemas.microsoft.com/office/powerpoint/2010/main" val="342233924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C8102E"/>
                </a:solidFill>
                <a:latin typeface="Segoe UI" panose="020B0502040204020203" pitchFamily="34" charset="0"/>
              </a:rPr>
              <a:t>05 · PÉRENNISER</a:t>
            </a:r>
            <a:endParaRPr lang="en-US" sz="1000" b="1">
              <a:solidFill>
                <a:srgbClr val="C8102E"/>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fr-FR" sz="2400" b="1" smtClean="0">
                <a:solidFill>
                  <a:srgbClr val="212121"/>
                </a:solidFill>
                <a:latin typeface="Segoe UI" panose="020B0502040204020203" pitchFamily="34" charset="0"/>
              </a:rPr>
              <a:t>Cas concret : difficultés rencontrées et solutions</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29</a:t>
            </a:r>
            <a:endParaRPr lang="en-US" sz="900">
              <a:solidFill>
                <a:srgbClr val="6E6E6E"/>
              </a:solidFill>
              <a:latin typeface="Segoe UI" panose="020B0502040204020203" pitchFamily="34" charset="0"/>
            </a:endParaRPr>
          </a:p>
        </p:txBody>
      </p:sp>
      <p:graphicFrame>
        <p:nvGraphicFramePr>
          <p:cNvPr id="9" name="Tableau 8"/>
          <p:cNvGraphicFramePr>
            <a:graphicFrameLocks noGrp="1"/>
          </p:cNvGraphicFramePr>
          <p:nvPr>
            <p:extLst>
              <p:ext uri="{D42A27DB-BD31-4B8C-83A1-F6EECF244321}">
                <p14:modId xmlns:p14="http://schemas.microsoft.com/office/powerpoint/2010/main" val="3324988758"/>
              </p:ext>
            </p:extLst>
          </p:nvPr>
        </p:nvGraphicFramePr>
        <p:xfrm>
          <a:off x="508000" y="1219200"/>
          <a:ext cx="11176000" cy="296926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1162814317"/>
                    </a:ext>
                  </a:extLst>
                </a:gridCol>
                <a:gridCol w="3937000">
                  <a:extLst>
                    <a:ext uri="{9D8B030D-6E8A-4147-A177-3AD203B41FA5}">
                      <a16:colId xmlns:a16="http://schemas.microsoft.com/office/drawing/2014/main" val="1717120471"/>
                    </a:ext>
                  </a:extLst>
                </a:gridCol>
                <a:gridCol w="4318000">
                  <a:extLst>
                    <a:ext uri="{9D8B030D-6E8A-4147-A177-3AD203B41FA5}">
                      <a16:colId xmlns:a16="http://schemas.microsoft.com/office/drawing/2014/main" val="2030659894"/>
                    </a:ext>
                  </a:extLst>
                </a:gridCol>
              </a:tblGrid>
              <a:tr h="0">
                <a:tc>
                  <a:txBody>
                    <a:bodyPr/>
                    <a:lstStyle/>
                    <a:p>
                      <a:r>
                        <a:rPr lang="en-US" sz="1050" b="1" smtClean="0">
                          <a:solidFill>
                            <a:srgbClr val="FFFFFF"/>
                          </a:solidFill>
                          <a:latin typeface="Segoe UI" panose="020B0502040204020203" pitchFamily="34" charset="0"/>
                        </a:rPr>
                        <a:t>Problème rencontré</a:t>
                      </a:r>
                      <a:endParaRPr lang="en-US" sz="1050" b="1">
                        <a:solidFill>
                          <a:srgbClr val="FFFFFF"/>
                        </a:solidFill>
                        <a:latin typeface="Segoe UI" panose="020B0502040204020203" pitchFamily="34" charset="0"/>
                      </a:endParaRPr>
                    </a:p>
                  </a:txBody>
                  <a:tcPr marL="101600" marR="101600" marT="63500" marB="63500" anchor="ctr">
                    <a:solidFill>
                      <a:srgbClr val="1C1C1C"/>
                    </a:solidFill>
                  </a:tcPr>
                </a:tc>
                <a:tc>
                  <a:txBody>
                    <a:bodyPr/>
                    <a:lstStyle/>
                    <a:p>
                      <a:r>
                        <a:rPr lang="en-US" sz="1050" b="1" smtClean="0">
                          <a:solidFill>
                            <a:srgbClr val="FFFFFF"/>
                          </a:solidFill>
                          <a:latin typeface="Segoe UI" panose="020B0502040204020203" pitchFamily="34" charset="0"/>
                        </a:rPr>
                        <a:t>Cause technique</a:t>
                      </a:r>
                      <a:endParaRPr lang="en-US" sz="1050" b="1">
                        <a:solidFill>
                          <a:srgbClr val="FFFFFF"/>
                        </a:solidFill>
                        <a:latin typeface="Segoe UI" panose="020B0502040204020203" pitchFamily="34" charset="0"/>
                      </a:endParaRPr>
                    </a:p>
                  </a:txBody>
                  <a:tcPr marL="101600" marR="101600" marT="63500" marB="63500" anchor="ctr">
                    <a:solidFill>
                      <a:srgbClr val="1C1C1C"/>
                    </a:solidFill>
                  </a:tcPr>
                </a:tc>
                <a:tc>
                  <a:txBody>
                    <a:bodyPr/>
                    <a:lstStyle/>
                    <a:p>
                      <a:r>
                        <a:rPr lang="en-US" sz="1050" b="1" smtClean="0">
                          <a:solidFill>
                            <a:srgbClr val="FFFFFF"/>
                          </a:solidFill>
                          <a:latin typeface="Segoe UI" panose="020B0502040204020203" pitchFamily="34" charset="0"/>
                        </a:rPr>
                        <a:t>Solution mise en œuvre</a:t>
                      </a:r>
                      <a:endParaRPr lang="en-US" sz="1050" b="1">
                        <a:solidFill>
                          <a:srgbClr val="FFFFFF"/>
                        </a:solidFill>
                        <a:latin typeface="Segoe UI" panose="020B0502040204020203" pitchFamily="34" charset="0"/>
                      </a:endParaRPr>
                    </a:p>
                  </a:txBody>
                  <a:tcPr marL="101600" marR="101600" marT="63500" marB="63500" anchor="ctr">
                    <a:solidFill>
                      <a:srgbClr val="1C1C1C"/>
                    </a:solidFill>
                  </a:tcPr>
                </a:tc>
                <a:extLst>
                  <a:ext uri="{0D108BD9-81ED-4DB2-BD59-A6C34878D82A}">
                    <a16:rowId xmlns:a16="http://schemas.microsoft.com/office/drawing/2014/main" val="731998952"/>
                  </a:ext>
                </a:extLst>
              </a:tr>
              <a:tr h="0">
                <a:tc>
                  <a:txBody>
                    <a:bodyPr/>
                    <a:lstStyle/>
                    <a:p>
                      <a:r>
                        <a:rPr lang="fr-FR" sz="1050" b="1" smtClean="0">
                          <a:solidFill>
                            <a:srgbClr val="212121"/>
                          </a:solidFill>
                          <a:latin typeface="Segoe UI" panose="020B0502040204020203" pitchFamily="34" charset="0"/>
                        </a:rPr>
                        <a:t>Erreur Maven au lancement des commandes atlas-*</a:t>
                      </a:r>
                      <a:endParaRPr lang="en-US" sz="1050" b="1">
                        <a:solidFill>
                          <a:srgbClr val="212121"/>
                        </a:solidFill>
                        <a:latin typeface="Segoe UI" panose="020B0502040204020203" pitchFamily="34" charset="0"/>
                      </a:endParaRPr>
                    </a:p>
                  </a:txBody>
                  <a:tcPr marL="101600" marR="101600" marT="63500" marB="63500" anchor="ctr">
                    <a:solidFill>
                      <a:srgbClr val="F5F5F5"/>
                    </a:solidFill>
                  </a:tcPr>
                </a:tc>
                <a:tc>
                  <a:txBody>
                    <a:bodyPr/>
                    <a:lstStyle/>
                    <a:p>
                      <a:r>
                        <a:rPr lang="fr-FR" sz="1050" b="0" smtClean="0">
                          <a:solidFill>
                            <a:srgbClr val="212121"/>
                          </a:solidFill>
                          <a:latin typeface="Segoe UI" panose="020B0502040204020203" pitchFamily="34" charset="0"/>
                        </a:rPr>
                        <a:t>Espace dans « C:\Program Files » mal géré par les scripts .bat du SDK</a:t>
                      </a:r>
                      <a:endParaRPr lang="en-US" sz="1050" b="0">
                        <a:solidFill>
                          <a:srgbClr val="212121"/>
                        </a:solidFill>
                        <a:latin typeface="Segoe UI" panose="020B0502040204020203" pitchFamily="34" charset="0"/>
                      </a:endParaRPr>
                    </a:p>
                  </a:txBody>
                  <a:tcPr marL="101600" marR="101600" marT="63500" marB="63500" anchor="ctr">
                    <a:solidFill>
                      <a:srgbClr val="F5F5F5"/>
                    </a:solidFill>
                  </a:tcPr>
                </a:tc>
                <a:tc>
                  <a:txBody>
                    <a:bodyPr/>
                    <a:lstStyle/>
                    <a:p>
                      <a:r>
                        <a:rPr lang="fr-FR" sz="1050" b="0" smtClean="0">
                          <a:solidFill>
                            <a:srgbClr val="212121"/>
                          </a:solidFill>
                          <a:latin typeface="Segoe UI" panose="020B0502040204020203" pitchFamily="34" charset="0"/>
                        </a:rPr>
                        <a:t>Utiliser un chemin sans espace ou le chemin court Windows 8.3 (C:\PROGRA~1\...)</a:t>
                      </a:r>
                      <a:endParaRPr lang="en-US" sz="1050" b="0">
                        <a:solidFill>
                          <a:srgbClr val="212121"/>
                        </a:solidFill>
                        <a:latin typeface="Segoe UI" panose="020B0502040204020203" pitchFamily="34" charset="0"/>
                      </a:endParaRPr>
                    </a:p>
                  </a:txBody>
                  <a:tcPr marL="101600" marR="101600" marT="63500" marB="63500" anchor="ctr">
                    <a:solidFill>
                      <a:srgbClr val="F5F5F5"/>
                    </a:solidFill>
                  </a:tcPr>
                </a:tc>
                <a:extLst>
                  <a:ext uri="{0D108BD9-81ED-4DB2-BD59-A6C34878D82A}">
                    <a16:rowId xmlns:a16="http://schemas.microsoft.com/office/drawing/2014/main" val="2040365074"/>
                  </a:ext>
                </a:extLst>
              </a:tr>
              <a:tr h="0">
                <a:tc>
                  <a:txBody>
                    <a:bodyPr/>
                    <a:lstStyle/>
                    <a:p>
                      <a:r>
                        <a:rPr lang="fr-FR" sz="1050" b="1" smtClean="0">
                          <a:solidFill>
                            <a:srgbClr val="212121"/>
                          </a:solidFill>
                          <a:latin typeface="Segoe UI" panose="020B0502040204020203" pitchFamily="34" charset="0"/>
                        </a:rPr>
                        <a:t>Échec de compilation sur InitializingBean / Spring</a:t>
                      </a:r>
                      <a:endParaRPr lang="en-US" sz="1050" b="1">
                        <a:solidFill>
                          <a:srgbClr val="212121"/>
                        </a:solidFill>
                        <a:latin typeface="Segoe UI" panose="020B0502040204020203" pitchFamily="34" charset="0"/>
                      </a:endParaRPr>
                    </a:p>
                  </a:txBody>
                  <a:tcPr marL="101600" marR="101600" marT="63500" marB="63500" anchor="ctr">
                    <a:solidFill>
                      <a:srgbClr val="FFFFFF"/>
                    </a:solidFill>
                  </a:tcPr>
                </a:tc>
                <a:tc>
                  <a:txBody>
                    <a:bodyPr/>
                    <a:lstStyle/>
                    <a:p>
                      <a:r>
                        <a:rPr lang="fr-FR" sz="1050" b="0" smtClean="0">
                          <a:solidFill>
                            <a:srgbClr val="212121"/>
                          </a:solidFill>
                          <a:latin typeface="Segoe UI" panose="020B0502040204020203" pitchFamily="34" charset="0"/>
                        </a:rPr>
                        <a:t>Dépendances Spring absentes du classpath par défaut</a:t>
                      </a:r>
                      <a:endParaRPr lang="en-US" sz="1050" b="0">
                        <a:solidFill>
                          <a:srgbClr val="212121"/>
                        </a:solidFill>
                        <a:latin typeface="Segoe UI" panose="020B0502040204020203" pitchFamily="34" charset="0"/>
                      </a:endParaRPr>
                    </a:p>
                  </a:txBody>
                  <a:tcPr marL="101600" marR="101600" marT="63500" marB="63500" anchor="ctr">
                    <a:solidFill>
                      <a:srgbClr val="FFFFFF"/>
                    </a:solidFill>
                  </a:tcPr>
                </a:tc>
                <a:tc>
                  <a:txBody>
                    <a:bodyPr/>
                    <a:lstStyle/>
                    <a:p>
                      <a:r>
                        <a:rPr lang="fr-FR" sz="1050" b="0" smtClean="0">
                          <a:solidFill>
                            <a:srgbClr val="212121"/>
                          </a:solidFill>
                          <a:latin typeface="Segoe UI" panose="020B0502040204020203" pitchFamily="34" charset="0"/>
                        </a:rPr>
                        <a:t>Ajouter spring-beans et spring-context en &lt;scope&gt;provided&lt;/scope&gt; dans pom.xml</a:t>
                      </a:r>
                      <a:endParaRPr lang="en-US" sz="1050" b="0">
                        <a:solidFill>
                          <a:srgbClr val="212121"/>
                        </a:solidFill>
                        <a:latin typeface="Segoe UI" panose="020B0502040204020203" pitchFamily="34" charset="0"/>
                      </a:endParaRPr>
                    </a:p>
                  </a:txBody>
                  <a:tcPr marL="101600" marR="101600" marT="63500" marB="63500" anchor="ctr">
                    <a:solidFill>
                      <a:srgbClr val="FFFFFF"/>
                    </a:solidFill>
                  </a:tcPr>
                </a:tc>
                <a:extLst>
                  <a:ext uri="{0D108BD9-81ED-4DB2-BD59-A6C34878D82A}">
                    <a16:rowId xmlns:a16="http://schemas.microsoft.com/office/drawing/2014/main" val="937056335"/>
                  </a:ext>
                </a:extLst>
              </a:tr>
              <a:tr h="0">
                <a:tc>
                  <a:txBody>
                    <a:bodyPr/>
                    <a:lstStyle/>
                    <a:p>
                      <a:r>
                        <a:rPr lang="en-US" sz="1050" b="1" smtClean="0">
                          <a:solidFill>
                            <a:srgbClr val="212121"/>
                          </a:solidFill>
                          <a:latin typeface="Segoe UI" panose="020B0502040204020203" pitchFamily="34" charset="0"/>
                        </a:rPr>
                        <a:t>Refus d'activation dans Jira 10 (This app failed to enable)</a:t>
                      </a:r>
                      <a:endParaRPr lang="en-US" sz="1050" b="1">
                        <a:solidFill>
                          <a:srgbClr val="212121"/>
                        </a:solidFill>
                        <a:latin typeface="Segoe UI" panose="020B0502040204020203" pitchFamily="34" charset="0"/>
                      </a:endParaRPr>
                    </a:p>
                  </a:txBody>
                  <a:tcPr marL="101600" marR="101600" marT="63500" marB="63500" anchor="ctr">
                    <a:solidFill>
                      <a:srgbClr val="F5F5F5"/>
                    </a:solidFill>
                  </a:tcPr>
                </a:tc>
                <a:tc>
                  <a:txBody>
                    <a:bodyPr/>
                    <a:lstStyle/>
                    <a:p>
                      <a:r>
                        <a:rPr lang="fr-FR" sz="1050" b="0" smtClean="0">
                          <a:solidFill>
                            <a:srgbClr val="212121"/>
                          </a:solidFill>
                          <a:latin typeface="Segoe UI" panose="020B0502040204020203" pitchFamily="34" charset="0"/>
                        </a:rPr>
                        <a:t>Nouvelle barrière OSGi DMZ de Jira 10 bloquant le package interne com.google.gson</a:t>
                      </a:r>
                      <a:endParaRPr lang="en-US" sz="1050" b="0">
                        <a:solidFill>
                          <a:srgbClr val="212121"/>
                        </a:solidFill>
                        <a:latin typeface="Segoe UI" panose="020B0502040204020203" pitchFamily="34" charset="0"/>
                      </a:endParaRPr>
                    </a:p>
                  </a:txBody>
                  <a:tcPr marL="101600" marR="101600" marT="63500" marB="63500" anchor="ctr">
                    <a:solidFill>
                      <a:srgbClr val="F5F5F5"/>
                    </a:solidFill>
                  </a:tcPr>
                </a:tc>
                <a:tc>
                  <a:txBody>
                    <a:bodyPr/>
                    <a:lstStyle/>
                    <a:p>
                      <a:r>
                        <a:rPr lang="fr-FR" sz="1050" b="0" smtClean="0">
                          <a:solidFill>
                            <a:srgbClr val="212121"/>
                          </a:solidFill>
                          <a:latin typeface="Segoe UI" panose="020B0502040204020203" pitchFamily="34" charset="0"/>
                        </a:rPr>
                        <a:t>Embarquer Gson en inline (&lt;Embed-Dependency&gt;) et exclure son import (!com.google.gson.*)</a:t>
                      </a:r>
                      <a:endParaRPr lang="en-US" sz="1050" b="0">
                        <a:solidFill>
                          <a:srgbClr val="212121"/>
                        </a:solidFill>
                        <a:latin typeface="Segoe UI" panose="020B0502040204020203" pitchFamily="34" charset="0"/>
                      </a:endParaRPr>
                    </a:p>
                  </a:txBody>
                  <a:tcPr marL="101600" marR="101600" marT="63500" marB="63500" anchor="ctr">
                    <a:solidFill>
                      <a:srgbClr val="F5F5F5"/>
                    </a:solidFill>
                  </a:tcPr>
                </a:tc>
                <a:extLst>
                  <a:ext uri="{0D108BD9-81ED-4DB2-BD59-A6C34878D82A}">
                    <a16:rowId xmlns:a16="http://schemas.microsoft.com/office/drawing/2014/main" val="3429020633"/>
                  </a:ext>
                </a:extLst>
              </a:tr>
              <a:tr h="0">
                <a:tc>
                  <a:txBody>
                    <a:bodyPr/>
                    <a:lstStyle/>
                    <a:p>
                      <a:r>
                        <a:rPr lang="fr-FR" sz="1050" b="1" smtClean="0">
                          <a:solidFill>
                            <a:srgbClr val="212121"/>
                          </a:solidFill>
                          <a:latin typeface="Segoe UI" panose="020B0502040204020203" pitchFamily="34" charset="0"/>
                        </a:rPr>
                        <a:t>Modale AUI restant sur une ancienne version HTML</a:t>
                      </a:r>
                      <a:endParaRPr lang="en-US" sz="1050" b="1">
                        <a:solidFill>
                          <a:srgbClr val="212121"/>
                        </a:solidFill>
                        <a:latin typeface="Segoe UI" panose="020B0502040204020203" pitchFamily="34" charset="0"/>
                      </a:endParaRPr>
                    </a:p>
                  </a:txBody>
                  <a:tcPr marL="101600" marR="101600" marT="63500" marB="63500" anchor="ctr">
                    <a:solidFill>
                      <a:srgbClr val="FFFFFF"/>
                    </a:solidFill>
                  </a:tcPr>
                </a:tc>
                <a:tc>
                  <a:txBody>
                    <a:bodyPr/>
                    <a:lstStyle/>
                    <a:p>
                      <a:r>
                        <a:rPr lang="fr-FR" sz="1050" b="0" smtClean="0">
                          <a:solidFill>
                            <a:srgbClr val="212121"/>
                          </a:solidFill>
                          <a:latin typeface="Segoe UI" panose="020B0502040204020203" pitchFamily="34" charset="0"/>
                        </a:rPr>
                        <a:t>AUI Dialog2 déplace la modale dans &lt;body&gt; et la conserve lors des rafraîchissements AJAX</a:t>
                      </a:r>
                      <a:endParaRPr lang="en-US" sz="1050" b="0">
                        <a:solidFill>
                          <a:srgbClr val="212121"/>
                        </a:solidFill>
                        <a:latin typeface="Segoe UI" panose="020B0502040204020203" pitchFamily="34" charset="0"/>
                      </a:endParaRPr>
                    </a:p>
                  </a:txBody>
                  <a:tcPr marL="101600" marR="101600" marT="63500" marB="63500" anchor="ctr">
                    <a:solidFill>
                      <a:srgbClr val="FFFFFF"/>
                    </a:solidFill>
                  </a:tcPr>
                </a:tc>
                <a:tc>
                  <a:txBody>
                    <a:bodyPr/>
                    <a:lstStyle/>
                    <a:p>
                      <a:r>
                        <a:rPr lang="fr-FR" sz="1050" b="0" smtClean="0">
                          <a:solidFill>
                            <a:srgbClr val="212121"/>
                          </a:solidFill>
                          <a:latin typeface="Segoe UI" panose="020B0502040204020203" pitchFamily="34" charset="0"/>
                        </a:rPr>
                        <a:t>Générer les modales dans Velocity + nettoyer l'ancienne copie dans &lt;body&gt; à l'initialisation</a:t>
                      </a:r>
                      <a:endParaRPr lang="en-US" sz="1050" b="0">
                        <a:solidFill>
                          <a:srgbClr val="212121"/>
                        </a:solidFill>
                        <a:latin typeface="Segoe UI" panose="020B0502040204020203" pitchFamily="34" charset="0"/>
                      </a:endParaRPr>
                    </a:p>
                  </a:txBody>
                  <a:tcPr marL="101600" marR="101600" marT="63500" marB="63500" anchor="ctr">
                    <a:solidFill>
                      <a:srgbClr val="FFFFFF"/>
                    </a:solidFill>
                  </a:tcPr>
                </a:tc>
                <a:extLst>
                  <a:ext uri="{0D108BD9-81ED-4DB2-BD59-A6C34878D82A}">
                    <a16:rowId xmlns:a16="http://schemas.microsoft.com/office/drawing/2014/main" val="1093182009"/>
                  </a:ext>
                </a:extLst>
              </a:tr>
              <a:tr h="0">
                <a:tc>
                  <a:txBody>
                    <a:bodyPr/>
                    <a:lstStyle/>
                    <a:p>
                      <a:r>
                        <a:rPr lang="fr-FR" sz="1050" b="1" smtClean="0">
                          <a:solidFill>
                            <a:srgbClr val="212121"/>
                          </a:solidFill>
                          <a:latin typeface="Segoe UI" panose="020B0502040204020203" pitchFamily="34" charset="0"/>
                        </a:rPr>
                        <a:t>Pièce jointe envoyée malgré un formulaire invalide</a:t>
                      </a:r>
                      <a:endParaRPr lang="en-US" sz="1050" b="1">
                        <a:solidFill>
                          <a:srgbClr val="212121"/>
                        </a:solidFill>
                        <a:latin typeface="Segoe UI" panose="020B0502040204020203" pitchFamily="34" charset="0"/>
                      </a:endParaRPr>
                    </a:p>
                  </a:txBody>
                  <a:tcPr marL="101600" marR="101600" marT="63500" marB="63500" anchor="ctr">
                    <a:solidFill>
                      <a:srgbClr val="F5F5F5"/>
                    </a:solidFill>
                  </a:tcPr>
                </a:tc>
                <a:tc>
                  <a:txBody>
                    <a:bodyPr/>
                    <a:lstStyle/>
                    <a:p>
                      <a:r>
                        <a:rPr lang="fr-FR" sz="1050" b="0" smtClean="0">
                          <a:solidFill>
                            <a:srgbClr val="212121"/>
                          </a:solidFill>
                          <a:latin typeface="Segoe UI" panose="020B0502040204020203" pitchFamily="34" charset="0"/>
                        </a:rPr>
                        <a:t>L'appel à l'API /attachments partait avant la validation métier du destinataire</a:t>
                      </a:r>
                      <a:endParaRPr lang="en-US" sz="1050" b="0">
                        <a:solidFill>
                          <a:srgbClr val="212121"/>
                        </a:solidFill>
                        <a:latin typeface="Segoe UI" panose="020B0502040204020203" pitchFamily="34" charset="0"/>
                      </a:endParaRPr>
                    </a:p>
                  </a:txBody>
                  <a:tcPr marL="101600" marR="101600" marT="63500" marB="63500" anchor="ctr">
                    <a:solidFill>
                      <a:srgbClr val="F5F5F5"/>
                    </a:solidFill>
                  </a:tcPr>
                </a:tc>
                <a:tc>
                  <a:txBody>
                    <a:bodyPr/>
                    <a:lstStyle/>
                    <a:p>
                      <a:r>
                        <a:rPr lang="fr-FR" sz="1050" b="0" smtClean="0">
                          <a:solidFill>
                            <a:srgbClr val="212121"/>
                          </a:solidFill>
                          <a:latin typeface="Segoe UI" panose="020B0502040204020203" pitchFamily="34" charset="0"/>
                        </a:rPr>
                        <a:t>Pré-valider via POST .../request avec validateOnly: true avant d'envoyer le fichier</a:t>
                      </a:r>
                      <a:endParaRPr lang="en-US" sz="1050" b="0">
                        <a:solidFill>
                          <a:srgbClr val="212121"/>
                        </a:solidFill>
                        <a:latin typeface="Segoe UI" panose="020B0502040204020203" pitchFamily="34" charset="0"/>
                      </a:endParaRPr>
                    </a:p>
                  </a:txBody>
                  <a:tcPr marL="101600" marR="101600" marT="63500" marB="63500" anchor="ctr">
                    <a:solidFill>
                      <a:srgbClr val="F5F5F5"/>
                    </a:solidFill>
                  </a:tcPr>
                </a:tc>
                <a:extLst>
                  <a:ext uri="{0D108BD9-81ED-4DB2-BD59-A6C34878D82A}">
                    <a16:rowId xmlns:a16="http://schemas.microsoft.com/office/drawing/2014/main" val="719700197"/>
                  </a:ext>
                </a:extLst>
              </a:tr>
              <a:tr h="0">
                <a:tc>
                  <a:txBody>
                    <a:bodyPr/>
                    <a:lstStyle/>
                    <a:p>
                      <a:r>
                        <a:rPr lang="fr-FR" sz="1050" b="1" smtClean="0">
                          <a:solidFill>
                            <a:srgbClr val="212121"/>
                          </a:solidFill>
                          <a:latin typeface="Segoe UI" panose="020B0502040204020203" pitchFamily="34" charset="0"/>
                        </a:rPr>
                        <a:t>Dossier target/ très volumineux (&gt; 500 Mo)</a:t>
                      </a:r>
                      <a:endParaRPr lang="en-US" sz="1050" b="1">
                        <a:solidFill>
                          <a:srgbClr val="212121"/>
                        </a:solidFill>
                        <a:latin typeface="Segoe UI" panose="020B0502040204020203" pitchFamily="34" charset="0"/>
                      </a:endParaRPr>
                    </a:p>
                  </a:txBody>
                  <a:tcPr marL="101600" marR="101600" marT="63500" marB="63500" anchor="ctr">
                    <a:solidFill>
                      <a:srgbClr val="FFFFFF"/>
                    </a:solidFill>
                  </a:tcPr>
                </a:tc>
                <a:tc>
                  <a:txBody>
                    <a:bodyPr/>
                    <a:lstStyle/>
                    <a:p>
                      <a:r>
                        <a:rPr lang="fr-FR" sz="1050" b="0" smtClean="0">
                          <a:solidFill>
                            <a:srgbClr val="212121"/>
                          </a:solidFill>
                          <a:latin typeface="Segoe UI" panose="020B0502040204020203" pitchFamily="34" charset="0"/>
                        </a:rPr>
                        <a:t>Contient l'instance Jira locale complète téléchargée par atlas-run</a:t>
                      </a:r>
                      <a:endParaRPr lang="en-US" sz="1050" b="0">
                        <a:solidFill>
                          <a:srgbClr val="212121"/>
                        </a:solidFill>
                        <a:latin typeface="Segoe UI" panose="020B0502040204020203" pitchFamily="34" charset="0"/>
                      </a:endParaRPr>
                    </a:p>
                  </a:txBody>
                  <a:tcPr marL="101600" marR="101600" marT="63500" marB="63500" anchor="ctr">
                    <a:solidFill>
                      <a:srgbClr val="FFFFFF"/>
                    </a:solidFill>
                  </a:tcPr>
                </a:tc>
                <a:tc>
                  <a:txBody>
                    <a:bodyPr/>
                    <a:lstStyle/>
                    <a:p>
                      <a:r>
                        <a:rPr lang="fr-FR" sz="1050" b="0" smtClean="0">
                          <a:solidFill>
                            <a:srgbClr val="212121"/>
                          </a:solidFill>
                          <a:latin typeface="Segoe UI" panose="020B0502040204020203" pitchFamily="34" charset="0"/>
                        </a:rPr>
                        <a:t>Exclure systématiquement le dossier target/ dans le fichier .gitignore</a:t>
                      </a:r>
                      <a:endParaRPr lang="en-US" sz="1050" b="0">
                        <a:solidFill>
                          <a:srgbClr val="212121"/>
                        </a:solidFill>
                        <a:latin typeface="Segoe UI" panose="020B0502040204020203" pitchFamily="34" charset="0"/>
                      </a:endParaRPr>
                    </a:p>
                  </a:txBody>
                  <a:tcPr marL="101600" marR="101600" marT="63500" marB="63500" anchor="ctr">
                    <a:solidFill>
                      <a:srgbClr val="FFFFFF"/>
                    </a:solidFill>
                  </a:tcPr>
                </a:tc>
                <a:extLst>
                  <a:ext uri="{0D108BD9-81ED-4DB2-BD59-A6C34878D82A}">
                    <a16:rowId xmlns:a16="http://schemas.microsoft.com/office/drawing/2014/main" val="3503509127"/>
                  </a:ext>
                </a:extLst>
              </a:tr>
            </a:tbl>
          </a:graphicData>
        </a:graphic>
      </p:graphicFrame>
    </p:spTree>
    <p:extLst>
      <p:ext uri="{BB962C8B-B14F-4D97-AF65-F5344CB8AC3E}">
        <p14:creationId xmlns:p14="http://schemas.microsoft.com/office/powerpoint/2010/main" val="174501829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1600" cy="6858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ZoneTexte 2"/>
          <p:cNvSpPr txBox="1"/>
          <p:nvPr/>
        </p:nvSpPr>
        <p:spPr>
          <a:xfrm>
            <a:off x="508000" y="203200"/>
            <a:ext cx="7620000" cy="369332"/>
          </a:xfrm>
          <a:prstGeom prst="rect">
            <a:avLst/>
          </a:prstGeom>
          <a:noFill/>
        </p:spPr>
        <p:txBody>
          <a:bodyPr vert="horz" wrap="square" lIns="0" tIns="0" rIns="0" bIns="0" rtlCol="0">
            <a:noAutofit/>
          </a:bodyPr>
          <a:lstStyle/>
          <a:p>
            <a:r>
              <a:rPr lang="en-US" sz="1000" b="1" smtClean="0">
                <a:solidFill>
                  <a:srgbClr val="C8102E"/>
                </a:solidFill>
                <a:latin typeface="Segoe UI" panose="020B0502040204020203" pitchFamily="34" charset="0"/>
              </a:rPr>
              <a:t>05 · PÉRENNISER</a:t>
            </a:r>
            <a:endParaRPr lang="en-US" sz="1000" b="1">
              <a:solidFill>
                <a:srgbClr val="C8102E"/>
              </a:solidFill>
              <a:latin typeface="Segoe UI" panose="020B0502040204020203" pitchFamily="34" charset="0"/>
            </a:endParaRPr>
          </a:p>
        </p:txBody>
      </p:sp>
      <p:sp>
        <p:nvSpPr>
          <p:cNvPr id="4" name="ZoneTexte 3"/>
          <p:cNvSpPr txBox="1"/>
          <p:nvPr/>
        </p:nvSpPr>
        <p:spPr>
          <a:xfrm>
            <a:off x="508000" y="406400"/>
            <a:ext cx="11176000" cy="369332"/>
          </a:xfrm>
          <a:prstGeom prst="rect">
            <a:avLst/>
          </a:prstGeom>
          <a:noFill/>
        </p:spPr>
        <p:txBody>
          <a:bodyPr vert="horz" wrap="square" lIns="0" tIns="0" rIns="0" bIns="0" rtlCol="0">
            <a:noAutofit/>
          </a:bodyPr>
          <a:lstStyle/>
          <a:p>
            <a:r>
              <a:rPr lang="fr-FR" sz="2400" b="1" smtClean="0">
                <a:solidFill>
                  <a:srgbClr val="212121"/>
                </a:solidFill>
                <a:latin typeface="Segoe UI" panose="020B0502040204020203" pitchFamily="34" charset="0"/>
              </a:rPr>
              <a:t>En résumé : les étapes clés</a:t>
            </a:r>
            <a:endParaRPr lang="en-US" sz="2400" b="1">
              <a:solidFill>
                <a:srgbClr val="212121"/>
              </a:solidFill>
              <a:latin typeface="Segoe UI" panose="020B0502040204020203" pitchFamily="34" charset="0"/>
            </a:endParaRPr>
          </a:p>
        </p:txBody>
      </p:sp>
      <p:sp>
        <p:nvSpPr>
          <p:cNvPr id="5" name="Rectangle 4"/>
          <p:cNvSpPr/>
          <p:nvPr/>
        </p:nvSpPr>
        <p:spPr>
          <a:xfrm>
            <a:off x="508000" y="914400"/>
            <a:ext cx="635000" cy="381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6" name="Rectangle 5"/>
          <p:cNvSpPr/>
          <p:nvPr/>
        </p:nvSpPr>
        <p:spPr>
          <a:xfrm>
            <a:off x="508000" y="6400800"/>
            <a:ext cx="11176000" cy="12700"/>
          </a:xfrm>
          <a:prstGeom prst="rect">
            <a:avLst/>
          </a:prstGeom>
          <a:solidFill>
            <a:srgbClr val="E0E0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7" name="ZoneTexte 6"/>
          <p:cNvSpPr txBox="1"/>
          <p:nvPr/>
        </p:nvSpPr>
        <p:spPr>
          <a:xfrm>
            <a:off x="508000" y="6502400"/>
            <a:ext cx="6350000" cy="369332"/>
          </a:xfrm>
          <a:prstGeom prst="rect">
            <a:avLst/>
          </a:prstGeom>
          <a:noFill/>
        </p:spPr>
        <p:txBody>
          <a:bodyPr vert="horz" wrap="square" lIns="0" tIns="0" rIns="0" bIns="0" rtlCol="0">
            <a:noAutofit/>
          </a:bodyPr>
          <a:lstStyle/>
          <a:p>
            <a:r>
              <a:rPr lang="en-US" sz="900" smtClean="0">
                <a:solidFill>
                  <a:srgbClr val="6E6E6E"/>
                </a:solidFill>
                <a:latin typeface="Segoe UI" panose="020B0502040204020203" pitchFamily="34" charset="0"/>
              </a:rPr>
              <a:t>Développer un plugin Jira Data Center</a:t>
            </a:r>
            <a:endParaRPr lang="en-US" sz="900">
              <a:solidFill>
                <a:srgbClr val="6E6E6E"/>
              </a:solidFill>
              <a:latin typeface="Segoe UI" panose="020B0502040204020203" pitchFamily="34" charset="0"/>
            </a:endParaRPr>
          </a:p>
        </p:txBody>
      </p:sp>
      <p:sp>
        <p:nvSpPr>
          <p:cNvPr id="8" name="ZoneTexte 7"/>
          <p:cNvSpPr txBox="1"/>
          <p:nvPr/>
        </p:nvSpPr>
        <p:spPr>
          <a:xfrm>
            <a:off x="10922000" y="6502400"/>
            <a:ext cx="762000" cy="369332"/>
          </a:xfrm>
          <a:prstGeom prst="rect">
            <a:avLst/>
          </a:prstGeom>
          <a:noFill/>
        </p:spPr>
        <p:txBody>
          <a:bodyPr vert="horz" wrap="square" lIns="0" tIns="0" rIns="0" bIns="0" rtlCol="0">
            <a:noAutofit/>
          </a:bodyPr>
          <a:lstStyle/>
          <a:p>
            <a:pPr algn="r"/>
            <a:r>
              <a:rPr lang="en-US" sz="900" smtClean="0">
                <a:solidFill>
                  <a:srgbClr val="6E6E6E"/>
                </a:solidFill>
                <a:latin typeface="Segoe UI" panose="020B0502040204020203" pitchFamily="34" charset="0"/>
              </a:rPr>
              <a:t>30</a:t>
            </a:r>
            <a:endParaRPr lang="en-US" sz="900">
              <a:solidFill>
                <a:srgbClr val="6E6E6E"/>
              </a:solidFill>
              <a:latin typeface="Segoe UI" panose="020B0502040204020203" pitchFamily="34" charset="0"/>
            </a:endParaRPr>
          </a:p>
        </p:txBody>
      </p:sp>
      <p:cxnSp>
        <p:nvCxnSpPr>
          <p:cNvPr id="9" name="Connecteur droit 8"/>
          <p:cNvCxnSpPr/>
          <p:nvPr/>
        </p:nvCxnSpPr>
        <p:spPr>
          <a:xfrm>
            <a:off x="1270000" y="1651000"/>
            <a:ext cx="9652000" cy="0"/>
          </a:xfrm>
          <a:prstGeom prst="line">
            <a:avLst/>
          </a:prstGeom>
          <a:ln w="50800">
            <a:solidFill>
              <a:srgbClr val="E0E0E0"/>
            </a:solidFill>
          </a:ln>
        </p:spPr>
        <p:style>
          <a:lnRef idx="1">
            <a:schemeClr val="accent1"/>
          </a:lnRef>
          <a:fillRef idx="0">
            <a:schemeClr val="accent1"/>
          </a:fillRef>
          <a:effectRef idx="0">
            <a:schemeClr val="accent1"/>
          </a:effectRef>
          <a:fontRef idx="minor">
            <a:schemeClr val="tx1"/>
          </a:fontRef>
        </p:style>
      </p:cxnSp>
      <p:sp>
        <p:nvSpPr>
          <p:cNvPr id="10" name="Ellipse 9"/>
          <p:cNvSpPr/>
          <p:nvPr/>
        </p:nvSpPr>
        <p:spPr>
          <a:xfrm>
            <a:off x="1016000" y="1397000"/>
            <a:ext cx="508000" cy="508000"/>
          </a:xfrm>
          <a:prstGeom prst="ellipse">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500" b="1" smtClean="0">
                <a:solidFill>
                  <a:srgbClr val="FFFFFF"/>
                </a:solidFill>
                <a:latin typeface="Segoe UI" panose="020B0502040204020203" pitchFamily="34" charset="0"/>
              </a:rPr>
              <a:t>1</a:t>
            </a:r>
            <a:endParaRPr lang="en-US" sz="1500" b="1">
              <a:solidFill>
                <a:srgbClr val="FFFFFF"/>
              </a:solidFill>
              <a:latin typeface="Segoe UI" panose="020B0502040204020203" pitchFamily="34" charset="0"/>
            </a:endParaRPr>
          </a:p>
        </p:txBody>
      </p:sp>
      <p:sp>
        <p:nvSpPr>
          <p:cNvPr id="11" name="ZoneTexte 10"/>
          <p:cNvSpPr txBox="1"/>
          <p:nvPr/>
        </p:nvSpPr>
        <p:spPr>
          <a:xfrm>
            <a:off x="190500" y="2057400"/>
            <a:ext cx="2159000" cy="369332"/>
          </a:xfrm>
          <a:prstGeom prst="rect">
            <a:avLst/>
          </a:prstGeom>
          <a:noFill/>
        </p:spPr>
        <p:txBody>
          <a:bodyPr vert="horz" wrap="square" lIns="0" tIns="0" rIns="0" bIns="0" rtlCol="0">
            <a:noAutofit/>
          </a:bodyPr>
          <a:lstStyle/>
          <a:p>
            <a:pPr algn="ctr"/>
            <a:r>
              <a:rPr lang="en-US" sz="1400" b="1" smtClean="0">
                <a:solidFill>
                  <a:srgbClr val="212121"/>
                </a:solidFill>
                <a:latin typeface="Segoe UI" panose="020B0502040204020203" pitchFamily="34" charset="0"/>
              </a:rPr>
              <a:t>Besoin</a:t>
            </a:r>
            <a:endParaRPr lang="en-US" sz="1400" b="1">
              <a:solidFill>
                <a:srgbClr val="212121"/>
              </a:solidFill>
              <a:latin typeface="Segoe UI" panose="020B0502040204020203" pitchFamily="34" charset="0"/>
            </a:endParaRPr>
          </a:p>
        </p:txBody>
      </p:sp>
      <p:sp>
        <p:nvSpPr>
          <p:cNvPr id="12" name="ZoneTexte 11"/>
          <p:cNvSpPr txBox="1"/>
          <p:nvPr/>
        </p:nvSpPr>
        <p:spPr>
          <a:xfrm>
            <a:off x="190500" y="2362200"/>
            <a:ext cx="2159000" cy="369332"/>
          </a:xfrm>
          <a:prstGeom prst="rect">
            <a:avLst/>
          </a:prstGeom>
          <a:noFill/>
        </p:spPr>
        <p:txBody>
          <a:bodyPr vert="horz" wrap="square" lIns="0" tIns="0" rIns="0" bIns="0" rtlCol="0">
            <a:noAutofit/>
          </a:bodyPr>
          <a:lstStyle/>
          <a:p>
            <a:pPr algn="ctr"/>
            <a:r>
              <a:rPr lang="fr-FR" sz="1150" smtClean="0">
                <a:solidFill>
                  <a:srgbClr val="6E6E6E"/>
                </a:solidFill>
                <a:latin typeface="Segoe UI" panose="020B0502040204020203" pitchFamily="34" charset="0"/>
              </a:rPr>
              <a:t>Définir le besoin et choisir les modules adaptés</a:t>
            </a:r>
            <a:endParaRPr lang="en-US" sz="1150">
              <a:solidFill>
                <a:srgbClr val="6E6E6E"/>
              </a:solidFill>
              <a:latin typeface="Segoe UI" panose="020B0502040204020203" pitchFamily="34" charset="0"/>
            </a:endParaRPr>
          </a:p>
        </p:txBody>
      </p:sp>
      <p:sp>
        <p:nvSpPr>
          <p:cNvPr id="13" name="Ellipse 12"/>
          <p:cNvSpPr/>
          <p:nvPr/>
        </p:nvSpPr>
        <p:spPr>
          <a:xfrm>
            <a:off x="3429000" y="1397000"/>
            <a:ext cx="508000" cy="508000"/>
          </a:xfrm>
          <a:prstGeom prst="ellipse">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500" b="1" smtClean="0">
                <a:solidFill>
                  <a:srgbClr val="FFFFFF"/>
                </a:solidFill>
                <a:latin typeface="Segoe UI" panose="020B0502040204020203" pitchFamily="34" charset="0"/>
              </a:rPr>
              <a:t>2</a:t>
            </a:r>
            <a:endParaRPr lang="en-US" sz="1500" b="1">
              <a:solidFill>
                <a:srgbClr val="FFFFFF"/>
              </a:solidFill>
              <a:latin typeface="Segoe UI" panose="020B0502040204020203" pitchFamily="34" charset="0"/>
            </a:endParaRPr>
          </a:p>
        </p:txBody>
      </p:sp>
      <p:sp>
        <p:nvSpPr>
          <p:cNvPr id="14" name="ZoneTexte 13"/>
          <p:cNvSpPr txBox="1"/>
          <p:nvPr/>
        </p:nvSpPr>
        <p:spPr>
          <a:xfrm>
            <a:off x="2603500" y="2057400"/>
            <a:ext cx="2159000" cy="369332"/>
          </a:xfrm>
          <a:prstGeom prst="rect">
            <a:avLst/>
          </a:prstGeom>
          <a:noFill/>
        </p:spPr>
        <p:txBody>
          <a:bodyPr vert="horz" wrap="square" lIns="0" tIns="0" rIns="0" bIns="0" rtlCol="0">
            <a:noAutofit/>
          </a:bodyPr>
          <a:lstStyle/>
          <a:p>
            <a:pPr algn="ctr"/>
            <a:r>
              <a:rPr lang="en-US" sz="1400" b="1" smtClean="0">
                <a:solidFill>
                  <a:srgbClr val="212121"/>
                </a:solidFill>
                <a:latin typeface="Segoe UI" panose="020B0502040204020203" pitchFamily="34" charset="0"/>
              </a:rPr>
              <a:t>Environnement</a:t>
            </a:r>
            <a:endParaRPr lang="en-US" sz="1400" b="1">
              <a:solidFill>
                <a:srgbClr val="212121"/>
              </a:solidFill>
              <a:latin typeface="Segoe UI" panose="020B0502040204020203" pitchFamily="34" charset="0"/>
            </a:endParaRPr>
          </a:p>
        </p:txBody>
      </p:sp>
      <p:sp>
        <p:nvSpPr>
          <p:cNvPr id="15" name="ZoneTexte 14"/>
          <p:cNvSpPr txBox="1"/>
          <p:nvPr/>
        </p:nvSpPr>
        <p:spPr>
          <a:xfrm>
            <a:off x="2603500" y="2362200"/>
            <a:ext cx="2159000" cy="369332"/>
          </a:xfrm>
          <a:prstGeom prst="rect">
            <a:avLst/>
          </a:prstGeom>
          <a:noFill/>
        </p:spPr>
        <p:txBody>
          <a:bodyPr vert="horz" wrap="square" lIns="0" tIns="0" rIns="0" bIns="0" rtlCol="0">
            <a:noAutofit/>
          </a:bodyPr>
          <a:lstStyle/>
          <a:p>
            <a:pPr algn="ctr"/>
            <a:r>
              <a:rPr lang="en-US" sz="1150" smtClean="0">
                <a:solidFill>
                  <a:srgbClr val="6E6E6E"/>
                </a:solidFill>
                <a:latin typeface="Segoe UI" panose="020B0502040204020203" pitchFamily="34" charset="0"/>
              </a:rPr>
              <a:t>JDK, SDK Atlassian, IDE et Git</a:t>
            </a:r>
            <a:endParaRPr lang="en-US" sz="1150">
              <a:solidFill>
                <a:srgbClr val="6E6E6E"/>
              </a:solidFill>
              <a:latin typeface="Segoe UI" panose="020B0502040204020203" pitchFamily="34" charset="0"/>
            </a:endParaRPr>
          </a:p>
        </p:txBody>
      </p:sp>
      <p:sp>
        <p:nvSpPr>
          <p:cNvPr id="16" name="Ellipse 15"/>
          <p:cNvSpPr/>
          <p:nvPr/>
        </p:nvSpPr>
        <p:spPr>
          <a:xfrm>
            <a:off x="5842000" y="1397000"/>
            <a:ext cx="508000" cy="508000"/>
          </a:xfrm>
          <a:prstGeom prst="ellipse">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500" b="1" smtClean="0">
                <a:solidFill>
                  <a:srgbClr val="FFFFFF"/>
                </a:solidFill>
                <a:latin typeface="Segoe UI" panose="020B0502040204020203" pitchFamily="34" charset="0"/>
              </a:rPr>
              <a:t>3</a:t>
            </a:r>
            <a:endParaRPr lang="en-US" sz="1500" b="1">
              <a:solidFill>
                <a:srgbClr val="FFFFFF"/>
              </a:solidFill>
              <a:latin typeface="Segoe UI" panose="020B0502040204020203" pitchFamily="34" charset="0"/>
            </a:endParaRPr>
          </a:p>
        </p:txBody>
      </p:sp>
      <p:sp>
        <p:nvSpPr>
          <p:cNvPr id="17" name="ZoneTexte 16"/>
          <p:cNvSpPr txBox="1"/>
          <p:nvPr/>
        </p:nvSpPr>
        <p:spPr>
          <a:xfrm>
            <a:off x="5016500" y="2057400"/>
            <a:ext cx="2159000" cy="369332"/>
          </a:xfrm>
          <a:prstGeom prst="rect">
            <a:avLst/>
          </a:prstGeom>
          <a:noFill/>
        </p:spPr>
        <p:txBody>
          <a:bodyPr vert="horz" wrap="square" lIns="0" tIns="0" rIns="0" bIns="0" rtlCol="0">
            <a:noAutofit/>
          </a:bodyPr>
          <a:lstStyle/>
          <a:p>
            <a:pPr algn="ctr"/>
            <a:r>
              <a:rPr lang="en-US" sz="1400" b="1" smtClean="0">
                <a:solidFill>
                  <a:srgbClr val="212121"/>
                </a:solidFill>
                <a:latin typeface="Segoe UI" panose="020B0502040204020203" pitchFamily="34" charset="0"/>
              </a:rPr>
              <a:t>Développement</a:t>
            </a:r>
            <a:endParaRPr lang="en-US" sz="1400" b="1">
              <a:solidFill>
                <a:srgbClr val="212121"/>
              </a:solidFill>
              <a:latin typeface="Segoe UI" panose="020B0502040204020203" pitchFamily="34" charset="0"/>
            </a:endParaRPr>
          </a:p>
        </p:txBody>
      </p:sp>
      <p:sp>
        <p:nvSpPr>
          <p:cNvPr id="18" name="ZoneTexte 17"/>
          <p:cNvSpPr txBox="1"/>
          <p:nvPr/>
        </p:nvSpPr>
        <p:spPr>
          <a:xfrm>
            <a:off x="5016500" y="2362200"/>
            <a:ext cx="2159000" cy="369332"/>
          </a:xfrm>
          <a:prstGeom prst="rect">
            <a:avLst/>
          </a:prstGeom>
          <a:noFill/>
        </p:spPr>
        <p:txBody>
          <a:bodyPr vert="horz" wrap="square" lIns="0" tIns="0" rIns="0" bIns="0" rtlCol="0">
            <a:noAutofit/>
          </a:bodyPr>
          <a:lstStyle/>
          <a:p>
            <a:pPr algn="ctr"/>
            <a:r>
              <a:rPr lang="fr-FR" sz="1150" smtClean="0">
                <a:solidFill>
                  <a:srgbClr val="6E6E6E"/>
                </a:solidFill>
                <a:latin typeface="Segoe UI" panose="020B0502040204020203" pitchFamily="34" charset="0"/>
              </a:rPr>
              <a:t>Descripteur XML, code Java et front-end</a:t>
            </a:r>
            <a:endParaRPr lang="en-US" sz="1150">
              <a:solidFill>
                <a:srgbClr val="6E6E6E"/>
              </a:solidFill>
              <a:latin typeface="Segoe UI" panose="020B0502040204020203" pitchFamily="34" charset="0"/>
            </a:endParaRPr>
          </a:p>
        </p:txBody>
      </p:sp>
      <p:sp>
        <p:nvSpPr>
          <p:cNvPr id="19" name="Ellipse 18"/>
          <p:cNvSpPr/>
          <p:nvPr/>
        </p:nvSpPr>
        <p:spPr>
          <a:xfrm>
            <a:off x="8255000" y="1397000"/>
            <a:ext cx="508000" cy="508000"/>
          </a:xfrm>
          <a:prstGeom prst="ellipse">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500" b="1" smtClean="0">
                <a:solidFill>
                  <a:srgbClr val="FFFFFF"/>
                </a:solidFill>
                <a:latin typeface="Segoe UI" panose="020B0502040204020203" pitchFamily="34" charset="0"/>
              </a:rPr>
              <a:t>4</a:t>
            </a:r>
            <a:endParaRPr lang="en-US" sz="1500" b="1">
              <a:solidFill>
                <a:srgbClr val="FFFFFF"/>
              </a:solidFill>
              <a:latin typeface="Segoe UI" panose="020B0502040204020203" pitchFamily="34" charset="0"/>
            </a:endParaRPr>
          </a:p>
        </p:txBody>
      </p:sp>
      <p:sp>
        <p:nvSpPr>
          <p:cNvPr id="20" name="ZoneTexte 19"/>
          <p:cNvSpPr txBox="1"/>
          <p:nvPr/>
        </p:nvSpPr>
        <p:spPr>
          <a:xfrm>
            <a:off x="7429500" y="2057400"/>
            <a:ext cx="2159000" cy="369332"/>
          </a:xfrm>
          <a:prstGeom prst="rect">
            <a:avLst/>
          </a:prstGeom>
          <a:noFill/>
        </p:spPr>
        <p:txBody>
          <a:bodyPr vert="horz" wrap="square" lIns="0" tIns="0" rIns="0" bIns="0" rtlCol="0">
            <a:noAutofit/>
          </a:bodyPr>
          <a:lstStyle/>
          <a:p>
            <a:pPr algn="ctr"/>
            <a:r>
              <a:rPr lang="en-US" sz="1400" b="1" smtClean="0">
                <a:solidFill>
                  <a:srgbClr val="212121"/>
                </a:solidFill>
                <a:latin typeface="Segoe UI" panose="020B0502040204020203" pitchFamily="34" charset="0"/>
              </a:rPr>
              <a:t>Tests</a:t>
            </a:r>
            <a:endParaRPr lang="en-US" sz="1400" b="1">
              <a:solidFill>
                <a:srgbClr val="212121"/>
              </a:solidFill>
              <a:latin typeface="Segoe UI" panose="020B0502040204020203" pitchFamily="34" charset="0"/>
            </a:endParaRPr>
          </a:p>
        </p:txBody>
      </p:sp>
      <p:sp>
        <p:nvSpPr>
          <p:cNvPr id="21" name="ZoneTexte 20"/>
          <p:cNvSpPr txBox="1"/>
          <p:nvPr/>
        </p:nvSpPr>
        <p:spPr>
          <a:xfrm>
            <a:off x="7429500" y="2362200"/>
            <a:ext cx="2159000" cy="369332"/>
          </a:xfrm>
          <a:prstGeom prst="rect">
            <a:avLst/>
          </a:prstGeom>
          <a:noFill/>
        </p:spPr>
        <p:txBody>
          <a:bodyPr vert="horz" wrap="square" lIns="0" tIns="0" rIns="0" bIns="0" rtlCol="0">
            <a:noAutofit/>
          </a:bodyPr>
          <a:lstStyle/>
          <a:p>
            <a:pPr algn="ctr"/>
            <a:r>
              <a:rPr lang="fr-FR" sz="1150" smtClean="0">
                <a:solidFill>
                  <a:srgbClr val="6E6E6E"/>
                </a:solidFill>
                <a:latin typeface="Segoe UI" panose="020B0502040204020203" pitchFamily="34" charset="0"/>
              </a:rPr>
              <a:t>Jira local (atlas-run), tests unitaires et d'intégration</a:t>
            </a:r>
            <a:endParaRPr lang="en-US" sz="1150">
              <a:solidFill>
                <a:srgbClr val="6E6E6E"/>
              </a:solidFill>
              <a:latin typeface="Segoe UI" panose="020B0502040204020203" pitchFamily="34" charset="0"/>
            </a:endParaRPr>
          </a:p>
        </p:txBody>
      </p:sp>
      <p:sp>
        <p:nvSpPr>
          <p:cNvPr id="22" name="Ellipse 21"/>
          <p:cNvSpPr/>
          <p:nvPr/>
        </p:nvSpPr>
        <p:spPr>
          <a:xfrm>
            <a:off x="10668000" y="1397000"/>
            <a:ext cx="508000" cy="508000"/>
          </a:xfrm>
          <a:prstGeom prst="ellipse">
            <a:avLst/>
          </a:prstGeom>
          <a:solidFill>
            <a:srgbClr val="1C1C1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500" b="1" smtClean="0">
                <a:solidFill>
                  <a:srgbClr val="FFFFFF"/>
                </a:solidFill>
                <a:latin typeface="Segoe UI" panose="020B0502040204020203" pitchFamily="34" charset="0"/>
              </a:rPr>
              <a:t>5</a:t>
            </a:r>
            <a:endParaRPr lang="en-US" sz="1500" b="1">
              <a:solidFill>
                <a:srgbClr val="FFFFFF"/>
              </a:solidFill>
              <a:latin typeface="Segoe UI" panose="020B0502040204020203" pitchFamily="34" charset="0"/>
            </a:endParaRPr>
          </a:p>
        </p:txBody>
      </p:sp>
      <p:sp>
        <p:nvSpPr>
          <p:cNvPr id="23" name="ZoneTexte 22"/>
          <p:cNvSpPr txBox="1"/>
          <p:nvPr/>
        </p:nvSpPr>
        <p:spPr>
          <a:xfrm>
            <a:off x="9842500" y="2057400"/>
            <a:ext cx="2159000" cy="369332"/>
          </a:xfrm>
          <a:prstGeom prst="rect">
            <a:avLst/>
          </a:prstGeom>
          <a:noFill/>
        </p:spPr>
        <p:txBody>
          <a:bodyPr vert="horz" wrap="square" lIns="0" tIns="0" rIns="0" bIns="0" rtlCol="0">
            <a:noAutofit/>
          </a:bodyPr>
          <a:lstStyle/>
          <a:p>
            <a:pPr algn="ctr"/>
            <a:r>
              <a:rPr lang="en-US" sz="1400" b="1" smtClean="0">
                <a:solidFill>
                  <a:srgbClr val="212121"/>
                </a:solidFill>
                <a:latin typeface="Segoe UI" panose="020B0502040204020203" pitchFamily="34" charset="0"/>
              </a:rPr>
              <a:t>Livraison</a:t>
            </a:r>
            <a:endParaRPr lang="en-US" sz="1400" b="1">
              <a:solidFill>
                <a:srgbClr val="212121"/>
              </a:solidFill>
              <a:latin typeface="Segoe UI" panose="020B0502040204020203" pitchFamily="34" charset="0"/>
            </a:endParaRPr>
          </a:p>
        </p:txBody>
      </p:sp>
      <p:sp>
        <p:nvSpPr>
          <p:cNvPr id="24" name="ZoneTexte 23"/>
          <p:cNvSpPr txBox="1"/>
          <p:nvPr/>
        </p:nvSpPr>
        <p:spPr>
          <a:xfrm>
            <a:off x="9842500" y="2362200"/>
            <a:ext cx="2159000" cy="369332"/>
          </a:xfrm>
          <a:prstGeom prst="rect">
            <a:avLst/>
          </a:prstGeom>
          <a:noFill/>
        </p:spPr>
        <p:txBody>
          <a:bodyPr vert="horz" wrap="square" lIns="0" tIns="0" rIns="0" bIns="0" rtlCol="0">
            <a:noAutofit/>
          </a:bodyPr>
          <a:lstStyle/>
          <a:p>
            <a:pPr algn="ctr"/>
            <a:r>
              <a:rPr lang="fr-FR" sz="1150" smtClean="0">
                <a:solidFill>
                  <a:srgbClr val="6E6E6E"/>
                </a:solidFill>
                <a:latin typeface="Segoe UI" panose="020B0502040204020203" pitchFamily="34" charset="0"/>
              </a:rPr>
              <a:t>Package .jar, recette puis production</a:t>
            </a:r>
            <a:endParaRPr lang="en-US" sz="1150">
              <a:solidFill>
                <a:srgbClr val="6E6E6E"/>
              </a:solidFill>
              <a:latin typeface="Segoe UI" panose="020B0502040204020203" pitchFamily="34" charset="0"/>
            </a:endParaRPr>
          </a:p>
        </p:txBody>
      </p:sp>
      <p:sp>
        <p:nvSpPr>
          <p:cNvPr id="25" name="Rectangle 24"/>
          <p:cNvSpPr/>
          <p:nvPr/>
        </p:nvSpPr>
        <p:spPr>
          <a:xfrm>
            <a:off x="508000" y="3683000"/>
            <a:ext cx="11176000" cy="1905000"/>
          </a:xfrm>
          <a:prstGeom prst="rect">
            <a:avLst/>
          </a:prstGeom>
          <a:solidFill>
            <a:srgbClr val="F5F5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6" name="Rectangle 25"/>
          <p:cNvSpPr/>
          <p:nvPr/>
        </p:nvSpPr>
        <p:spPr>
          <a:xfrm>
            <a:off x="508000" y="3683000"/>
            <a:ext cx="63500" cy="1905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27" name="ZoneTexte 26"/>
          <p:cNvSpPr txBox="1"/>
          <p:nvPr/>
        </p:nvSpPr>
        <p:spPr>
          <a:xfrm>
            <a:off x="787400" y="3860800"/>
            <a:ext cx="7620000" cy="369332"/>
          </a:xfrm>
          <a:prstGeom prst="rect">
            <a:avLst/>
          </a:prstGeom>
          <a:noFill/>
        </p:spPr>
        <p:txBody>
          <a:bodyPr vert="horz" wrap="square" lIns="0" tIns="0" rIns="0" bIns="0" rtlCol="0">
            <a:noAutofit/>
          </a:bodyPr>
          <a:lstStyle/>
          <a:p>
            <a:r>
              <a:rPr lang="fr-FR" sz="1600" b="1" smtClean="0">
                <a:solidFill>
                  <a:srgbClr val="C8102E"/>
                </a:solidFill>
                <a:latin typeface="Segoe UI" panose="020B0502040204020203" pitchFamily="34" charset="0"/>
              </a:rPr>
              <a:t>Pour démarrer un projet de plugin</a:t>
            </a:r>
            <a:endParaRPr lang="en-US" sz="1600" b="1">
              <a:solidFill>
                <a:srgbClr val="C8102E"/>
              </a:solidFill>
              <a:latin typeface="Segoe UI" panose="020B0502040204020203" pitchFamily="34" charset="0"/>
            </a:endParaRPr>
          </a:p>
        </p:txBody>
      </p:sp>
      <p:sp>
        <p:nvSpPr>
          <p:cNvPr id="28" name="ZoneTexte 27"/>
          <p:cNvSpPr txBox="1"/>
          <p:nvPr/>
        </p:nvSpPr>
        <p:spPr>
          <a:xfrm>
            <a:off x="787400" y="4318000"/>
            <a:ext cx="5080000" cy="369332"/>
          </a:xfrm>
          <a:prstGeom prst="rect">
            <a:avLst/>
          </a:prstGeom>
          <a:noFill/>
        </p:spPr>
        <p:txBody>
          <a:bodyPr vert="horz" wrap="square" lIns="0" tIns="0" rIns="0" bIns="0" rtlCol="0">
            <a:noAutofit/>
          </a:bodyPr>
          <a:lstStyle/>
          <a:p>
            <a:pPr marL="482600" indent="-203200">
              <a:spcAft>
                <a:spcPts val="800"/>
              </a:spcAft>
              <a:buClr>
                <a:srgbClr val="C8102E"/>
              </a:buClr>
              <a:buSzPct val="70000"/>
              <a:buFont typeface="Arial" panose="020B0604020202020204" pitchFamily="34" charset="0"/>
              <a:buChar char="■"/>
            </a:pPr>
            <a:r>
              <a:rPr lang="fr-FR" sz="1350" smtClean="0">
                <a:solidFill>
                  <a:srgbClr val="212121"/>
                </a:solidFill>
                <a:latin typeface="Segoe UI" panose="020B0502040204020203" pitchFamily="34" charset="0"/>
              </a:rPr>
              <a:t>Un poste de développement avec JDK et SDK Atlassian</a:t>
            </a:r>
          </a:p>
          <a:p>
            <a:pPr marL="482600" indent="-203200">
              <a:spcAft>
                <a:spcPts val="800"/>
              </a:spcAft>
              <a:buClr>
                <a:srgbClr val="C8102E"/>
              </a:buClr>
              <a:buSzPct val="70000"/>
              <a:buFont typeface="Arial" panose="020B0604020202020204" pitchFamily="34" charset="0"/>
              <a:buChar char="■"/>
            </a:pPr>
            <a:r>
              <a:rPr lang="fr-FR" sz="1350" smtClean="0">
                <a:solidFill>
                  <a:srgbClr val="212121"/>
                </a:solidFill>
                <a:latin typeface="Segoe UI" panose="020B0502040204020203" pitchFamily="34" charset="0"/>
              </a:rPr>
              <a:t>Une instance Jira Data Center de recette</a:t>
            </a:r>
            <a:endParaRPr lang="en-US" sz="1350">
              <a:solidFill>
                <a:srgbClr val="212121"/>
              </a:solidFill>
              <a:latin typeface="Segoe UI" panose="020B0502040204020203" pitchFamily="34" charset="0"/>
            </a:endParaRPr>
          </a:p>
        </p:txBody>
      </p:sp>
      <p:sp>
        <p:nvSpPr>
          <p:cNvPr id="29" name="ZoneTexte 28"/>
          <p:cNvSpPr txBox="1"/>
          <p:nvPr/>
        </p:nvSpPr>
        <p:spPr>
          <a:xfrm>
            <a:off x="6223000" y="4318000"/>
            <a:ext cx="5207000" cy="369332"/>
          </a:xfrm>
          <a:prstGeom prst="rect">
            <a:avLst/>
          </a:prstGeom>
          <a:noFill/>
        </p:spPr>
        <p:txBody>
          <a:bodyPr vert="horz" wrap="square" lIns="0" tIns="0" rIns="0" bIns="0" rtlCol="0">
            <a:noAutofit/>
          </a:bodyPr>
          <a:lstStyle/>
          <a:p>
            <a:pPr marL="482600" indent="-203200">
              <a:spcAft>
                <a:spcPts val="800"/>
              </a:spcAft>
              <a:buClr>
                <a:srgbClr val="C8102E"/>
              </a:buClr>
              <a:buSzPct val="70000"/>
              <a:buFont typeface="Arial" panose="020B0604020202020204" pitchFamily="34" charset="0"/>
              <a:buChar char="■"/>
            </a:pPr>
            <a:r>
              <a:rPr lang="fr-FR" sz="1350" smtClean="0">
                <a:solidFill>
                  <a:srgbClr val="212121"/>
                </a:solidFill>
                <a:latin typeface="Segoe UI" panose="020B0502040204020203" pitchFamily="34" charset="0"/>
              </a:rPr>
              <a:t>Un dépôt Git et, idéalement, une intégration continue</a:t>
            </a:r>
          </a:p>
          <a:p>
            <a:pPr marL="482600" indent="-203200">
              <a:spcAft>
                <a:spcPts val="800"/>
              </a:spcAft>
              <a:buClr>
                <a:srgbClr val="C8102E"/>
              </a:buClr>
              <a:buSzPct val="70000"/>
              <a:buFont typeface="Arial" panose="020B0604020202020204" pitchFamily="34" charset="0"/>
              <a:buChar char="■"/>
            </a:pPr>
            <a:r>
              <a:rPr lang="fr-FR" sz="1350" smtClean="0">
                <a:solidFill>
                  <a:srgbClr val="212121"/>
                </a:solidFill>
                <a:latin typeface="Segoe UI" panose="020B0502040204020203" pitchFamily="34" charset="0"/>
              </a:rPr>
              <a:t>Des compétences Java, Spring et JavaScript</a:t>
            </a:r>
            <a:endParaRPr lang="en-US" sz="1350">
              <a:solidFill>
                <a:srgbClr val="212121"/>
              </a:solidFill>
              <a:latin typeface="Segoe UI" panose="020B0502040204020203" pitchFamily="34" charset="0"/>
            </a:endParaRPr>
          </a:p>
        </p:txBody>
      </p:sp>
    </p:spTree>
    <p:extLst>
      <p:ext uri="{BB962C8B-B14F-4D97-AF65-F5344CB8AC3E}">
        <p14:creationId xmlns:p14="http://schemas.microsoft.com/office/powerpoint/2010/main" val="232385506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Ellipse 1"/>
          <p:cNvSpPr/>
          <p:nvPr/>
        </p:nvSpPr>
        <p:spPr>
          <a:xfrm>
            <a:off x="7620000" y="-1397000"/>
            <a:ext cx="5842000" cy="5842000"/>
          </a:xfrm>
          <a:prstGeom prst="ellipse">
            <a:avLst/>
          </a:prstGeom>
          <a:solidFill>
            <a:srgbClr val="870A1E">
              <a:alpha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3" name="Ellipse 2"/>
          <p:cNvSpPr/>
          <p:nvPr/>
        </p:nvSpPr>
        <p:spPr>
          <a:xfrm>
            <a:off x="9906000" y="3810000"/>
            <a:ext cx="4064000" cy="4064000"/>
          </a:xfrm>
          <a:prstGeom prst="ellipse">
            <a:avLst/>
          </a:prstGeom>
          <a:solidFill>
            <a:srgbClr val="C8102E">
              <a:alpha val="7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4" name="Rectangle 3"/>
          <p:cNvSpPr/>
          <p:nvPr/>
        </p:nvSpPr>
        <p:spPr>
          <a:xfrm>
            <a:off x="762000" y="1651000"/>
            <a:ext cx="76200" cy="1524000"/>
          </a:xfrm>
          <a:prstGeom prst="rect">
            <a:avLst/>
          </a:prstGeom>
          <a:solidFill>
            <a:srgbClr val="C81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6200" tIns="25400" rIns="76200" bIns="25400" rtlCol="0" anchor="ctr"/>
          <a:lstStyle/>
          <a:p>
            <a:pPr algn="ctr"/>
            <a:endParaRPr lang="en-US"/>
          </a:p>
        </p:txBody>
      </p:sp>
      <p:sp>
        <p:nvSpPr>
          <p:cNvPr id="5" name="ZoneTexte 4"/>
          <p:cNvSpPr txBox="1"/>
          <p:nvPr/>
        </p:nvSpPr>
        <p:spPr>
          <a:xfrm>
            <a:off x="1143000" y="1574800"/>
            <a:ext cx="7620000" cy="369332"/>
          </a:xfrm>
          <a:prstGeom prst="rect">
            <a:avLst/>
          </a:prstGeom>
          <a:noFill/>
        </p:spPr>
        <p:txBody>
          <a:bodyPr vert="horz" wrap="square" lIns="0" tIns="0" rIns="0" bIns="0" rtlCol="0">
            <a:noAutofit/>
          </a:bodyPr>
          <a:lstStyle/>
          <a:p>
            <a:r>
              <a:rPr lang="en-US" sz="4800" b="1" smtClean="0">
                <a:solidFill>
                  <a:srgbClr val="FFFFFF"/>
                </a:solidFill>
                <a:latin typeface="Segoe UI" panose="020B0502040204020203" pitchFamily="34" charset="0"/>
              </a:rPr>
              <a:t>Merci</a:t>
            </a:r>
            <a:endParaRPr lang="en-US" sz="4800" b="1">
              <a:solidFill>
                <a:srgbClr val="FFFFFF"/>
              </a:solidFill>
              <a:latin typeface="Segoe UI" panose="020B0502040204020203" pitchFamily="34" charset="0"/>
            </a:endParaRPr>
          </a:p>
        </p:txBody>
      </p:sp>
      <p:sp>
        <p:nvSpPr>
          <p:cNvPr id="6" name="ZoneTexte 5"/>
          <p:cNvSpPr txBox="1"/>
          <p:nvPr/>
        </p:nvSpPr>
        <p:spPr>
          <a:xfrm>
            <a:off x="1143000" y="2489200"/>
            <a:ext cx="7620000" cy="381000"/>
          </a:xfrm>
          <a:prstGeom prst="rect">
            <a:avLst/>
          </a:prstGeom>
          <a:noFill/>
        </p:spPr>
        <p:txBody>
          <a:bodyPr vert="horz" wrap="square" lIns="0" tIns="0" rIns="0" bIns="0" rtlCol="0">
            <a:noAutofit/>
          </a:bodyPr>
          <a:lstStyle/>
          <a:p>
            <a:r>
              <a:rPr lang="en-US" sz="2000" smtClean="0">
                <a:solidFill>
                  <a:srgbClr val="CDCDCD"/>
                </a:solidFill>
                <a:latin typeface="Segoe UI" panose="020B0502040204020203" pitchFamily="34" charset="0"/>
              </a:rPr>
              <a:t>Questions &amp; échanges</a:t>
            </a:r>
            <a:endParaRPr lang="en-US" sz="2000">
              <a:solidFill>
                <a:srgbClr val="CDCDCD"/>
              </a:solidFill>
              <a:latin typeface="Segoe UI" panose="020B0502040204020203" pitchFamily="34" charset="0"/>
            </a:endParaRPr>
          </a:p>
        </p:txBody>
      </p:sp>
      <p:sp>
        <p:nvSpPr>
          <p:cNvPr id="7" name="ZoneTexte 6"/>
          <p:cNvSpPr txBox="1"/>
          <p:nvPr/>
        </p:nvSpPr>
        <p:spPr>
          <a:xfrm>
            <a:off x="1143000" y="4064000"/>
            <a:ext cx="7620000" cy="369332"/>
          </a:xfrm>
          <a:prstGeom prst="rect">
            <a:avLst/>
          </a:prstGeom>
          <a:noFill/>
        </p:spPr>
        <p:txBody>
          <a:bodyPr vert="horz" wrap="square" lIns="0" tIns="0" rIns="0" bIns="0" rtlCol="0">
            <a:noAutofit/>
          </a:bodyPr>
          <a:lstStyle/>
          <a:p>
            <a:r>
              <a:rPr lang="en-US" sz="1100" b="1" smtClean="0">
                <a:solidFill>
                  <a:srgbClr val="EB465A"/>
                </a:solidFill>
                <a:latin typeface="Segoe UI" panose="020B0502040204020203" pitchFamily="34" charset="0"/>
              </a:rPr>
              <a:t>RESSOURCES</a:t>
            </a:r>
            <a:endParaRPr lang="en-US" sz="1100" b="1">
              <a:solidFill>
                <a:srgbClr val="EB465A"/>
              </a:solidFill>
              <a:latin typeface="Segoe UI" panose="020B0502040204020203" pitchFamily="34" charset="0"/>
            </a:endParaRPr>
          </a:p>
        </p:txBody>
      </p:sp>
      <p:sp>
        <p:nvSpPr>
          <p:cNvPr id="8" name="ZoneTexte 7"/>
          <p:cNvSpPr txBox="1"/>
          <p:nvPr/>
        </p:nvSpPr>
        <p:spPr>
          <a:xfrm>
            <a:off x="1143000" y="4343400"/>
            <a:ext cx="8128000" cy="369332"/>
          </a:xfrm>
          <a:prstGeom prst="rect">
            <a:avLst/>
          </a:prstGeom>
          <a:noFill/>
        </p:spPr>
        <p:txBody>
          <a:bodyPr vert="horz" wrap="square" lIns="0" tIns="0" rIns="0" bIns="0" rtlCol="0">
            <a:noAutofit/>
          </a:bodyPr>
          <a:lstStyle/>
          <a:p>
            <a:r>
              <a:rPr lang="en-US" sz="1250" smtClean="0">
                <a:solidFill>
                  <a:srgbClr val="BEBEBE"/>
                </a:solidFill>
                <a:latin typeface="Segoe UI" panose="020B0502040204020203" pitchFamily="34" charset="0"/>
              </a:rPr>
              <a:t>Documentation développeur Jira Data Center : developer.atlassian.com/server/jira/platform</a:t>
            </a:r>
          </a:p>
          <a:p>
            <a:r>
              <a:rPr lang="en-US" sz="1250" smtClean="0">
                <a:solidFill>
                  <a:srgbClr val="BEBEBE"/>
                </a:solidFill>
                <a:latin typeface="Segoe UI" panose="020B0502040204020203" pitchFamily="34" charset="0"/>
              </a:rPr>
              <a:t>Communauté développeurs Atlassian : community.developer.atlassian.com</a:t>
            </a:r>
          </a:p>
          <a:p>
            <a:r>
              <a:rPr lang="en-US" sz="1250" smtClean="0">
                <a:solidFill>
                  <a:srgbClr val="BEBEBE"/>
                </a:solidFill>
                <a:latin typeface="Segoe UI" panose="020B0502040204020203" pitchFamily="34" charset="0"/>
              </a:rPr>
              <a:t>Bibliothèque d'interface AUI : aui.atlassian.com</a:t>
            </a:r>
            <a:endParaRPr lang="en-US" sz="1250">
              <a:solidFill>
                <a:srgbClr val="BEBEBE"/>
              </a:solidFill>
              <a:latin typeface="Segoe UI" panose="020B0502040204020203" pitchFamily="34" charset="0"/>
            </a:endParaRPr>
          </a:p>
        </p:txBody>
      </p:sp>
    </p:spTree>
    <p:extLst>
      <p:ext uri="{BB962C8B-B14F-4D97-AF65-F5344CB8AC3E}">
        <p14:creationId xmlns:p14="http://schemas.microsoft.com/office/powerpoint/2010/main" val="15338453"/>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4899</Words>
  <Application>Microsoft Office PowerPoint</Application>
  <PresentationFormat>Grand écran</PresentationFormat>
  <Paragraphs>711</Paragraphs>
  <Slides>31</Slides>
  <Notes>12</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31</vt:i4>
      </vt:variant>
    </vt:vector>
  </HeadingPairs>
  <TitlesOfParts>
    <vt:vector size="37" baseType="lpstr">
      <vt:lpstr>Arial</vt:lpstr>
      <vt:lpstr>Calibri</vt:lpstr>
      <vt:lpstr>Calibri Light</vt:lpstr>
      <vt:lpstr>Consolas</vt:lpstr>
      <vt:lpstr>Segoe UI</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DELL</dc:creator>
  <cp:lastModifiedBy>DELL</cp:lastModifiedBy>
  <cp:revision>3</cp:revision>
  <dcterms:created xsi:type="dcterms:W3CDTF">2026-10-27T14:40:54Z</dcterms:created>
  <dcterms:modified xsi:type="dcterms:W3CDTF">2026-10-27T15:14:18Z</dcterms:modified>
</cp:coreProperties>
</file>